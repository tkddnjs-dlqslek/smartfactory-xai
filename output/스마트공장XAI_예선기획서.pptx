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1371600"/>
            <a:ext cx="25400" cy="41148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Noto Sans KR"/>
              </a:rPr>
              <a:t>2026 스마트 공장 운영 시스템 MVP 개발 해커톤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FEFEF"/>
                </a:solidFill>
                <a:latin typeface="Noto Sans KR"/>
              </a:rPr>
              <a:t>사출성형기 이상탐지 &amp;
XAI 공정 운영 지원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375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2121"/>
                </a:solidFill>
                <a:latin typeface="Noto Sans KR"/>
              </a:rPr>
              <a:t>반지도학습 Autoencoder + SHAP 기반
탐지 · 진단 · 처방 · 추적 4단계 운영 자동화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315968"/>
            <a:ext cx="1124712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498848"/>
            <a:ext cx="347472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4544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2121"/>
                </a:solidFill>
                <a:latin typeface="Noto Sans KR"/>
              </a:rPr>
              <a:t>불량 10건 중 7건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486460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AI 조기 감지 (Recall 기준)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4498848"/>
            <a:ext cx="347472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4544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2121"/>
                </a:solidFill>
                <a:latin typeface="Noto Sans KR"/>
              </a:rPr>
              <a:t>수 시간 → 수 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486460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원인 센서 분석 단축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4498848"/>
            <a:ext cx="347472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4544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2121"/>
                </a:solidFill>
                <a:latin typeface="Noto Sans KR"/>
              </a:rPr>
              <a:t>24개 센서 동시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486460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실시간 공정 모니터링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76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팀명: SmartFactory XAI팀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6509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제출일: 2026년 5월 13일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5349240"/>
            <a:ext cx="2194560" cy="6400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5349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EFEF"/>
                </a:solidFill>
                <a:latin typeface="Noto Sans KR"/>
              </a:rPr>
              <a:t>예선 기획서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38100" cy="4114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2121"/>
                </a:solidFill>
                <a:latin typeface="Noto Sans KR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EFEF"/>
                </a:solidFill>
                <a:latin typeface="Noto Sans KR"/>
              </a:rPr>
              <a:t>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Problem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438912" cy="438912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EFEF"/>
                </a:solidFill>
                <a:latin typeface="Noto Sans K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05156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EFEF"/>
                </a:solidFill>
                <a:latin typeface="Noto Sans KR"/>
              </a:rPr>
              <a:t>불량 발생 인지 지연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3560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Noto Sans KR"/>
              </a:rPr>
              <a:t>작업자가 육안으로만 불량 확인 → 이미 수백 개 불량 후 인지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68880"/>
            <a:ext cx="438912" cy="438912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6888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EFEF"/>
                </a:solidFill>
                <a:latin typeface="Noto Sans K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EFEF"/>
                </a:solidFill>
                <a:latin typeface="Noto Sans KR"/>
              </a:rPr>
              <a:t>원인 불명확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5292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Noto Sans KR"/>
              </a:rPr>
              <a:t>어떤 센서(공정 변수)가 불량 원인인지 분석 불가 → 재발 방지 어려움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886200"/>
            <a:ext cx="438912" cy="438912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88620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EFEF"/>
                </a:solidFill>
                <a:latin typeface="Noto Sans K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8620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EFEF"/>
                </a:solidFill>
                <a:latin typeface="Noto Sans KR"/>
              </a:rPr>
              <a:t>사후 대응 반복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702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Noto Sans KR"/>
              </a:rPr>
              <a:t>불량 발생 → 라인 정지 → 수동 검사 → 재가동 사이클 반복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1005840"/>
            <a:ext cx="4572000" cy="46634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10972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88"/>
                </a:solidFill>
                <a:latin typeface="Noto Sans KR"/>
              </a:rPr>
              <a:t>제조업 현장 불량 현황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1417320"/>
            <a:ext cx="420624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1572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전체 생산 불량률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5544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D42121"/>
                </a:solidFill>
                <a:latin typeface="Noto Sans KR"/>
              </a:rPr>
              <a:t>1 ~ 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186537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Noto Sans KR"/>
              </a:rPr>
              <a:t>사출성형 공정 평균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3957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불량 원인 추적 소요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3774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D42121"/>
                </a:solidFill>
                <a:latin typeface="Noto Sans KR"/>
              </a:rPr>
              <a:t>수 시간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68833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Noto Sans KR"/>
              </a:rPr>
              <a:t>담당자 수동 분석 기준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218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연간 불량 손실 비용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2004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D42121"/>
                </a:solidFill>
                <a:latin typeface="Noto Sans KR"/>
              </a:rPr>
              <a:t>수억 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51129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Noto Sans KR"/>
              </a:rPr>
              <a:t>중소 제조사 추정치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4041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작업자 의존도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0233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D42121"/>
                </a:solidFill>
                <a:latin typeface="Noto Sans KR"/>
              </a:rPr>
              <a:t>90% 이상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433425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Noto Sans KR"/>
              </a:rPr>
              <a:t>정성적 판단 비율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846320"/>
            <a:ext cx="11338560" cy="47548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8920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Noto Sans KR"/>
              </a:rPr>
              <a:t>시장 규모 (출처: KEIT 기술수요조사 2025 · 국내 사출성형 사업장 9,800개 기준)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489204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42121"/>
                </a:solidFill>
                <a:latin typeface="Noto Sans KR"/>
              </a:rPr>
              <a:t>TAM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16168" y="4892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2조 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16168" y="51206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4A4A"/>
                </a:solidFill>
                <a:latin typeface="Noto Sans KR"/>
              </a:rPr>
              <a:t>국내 스마트 제조 솔루션 전체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489204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42121"/>
                </a:solidFill>
                <a:latin typeface="Noto Sans KR"/>
              </a:rPr>
              <a:t>SAM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7848" y="4892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3,000억 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7848" y="51206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4A4A"/>
                </a:solidFill>
                <a:latin typeface="Noto Sans KR"/>
              </a:rPr>
              <a:t>사출·금속 공정 특화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89204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42121"/>
                </a:solidFill>
                <a:latin typeface="Noto Sans KR"/>
              </a:rPr>
              <a:t>SOM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9528" y="4892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42억 원 (Y3)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39528" y="51206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4A4A"/>
                </a:solidFill>
                <a:latin typeface="Noto Sans KR"/>
              </a:rPr>
              <a:t>350개사 × 월 100만원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5394960"/>
            <a:ext cx="1133856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4681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EFEF"/>
                </a:solidFill>
                <a:latin typeface="Noto Sans KR"/>
              </a:rPr>
              <a:t>"불량이 발생했다"는 사실을 아는 것만으로는 충분하지 않습니다.  "언제·어떤 공정 변수가 원인인지" 즉각 파악하고 처방해야 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38100" cy="4114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2121"/>
                </a:solidFill>
                <a:latin typeface="Noto Sans KR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EFEF"/>
                </a:solidFill>
                <a:latin typeface="Noto Sans KR"/>
              </a:rPr>
              <a:t>제안 솔루션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Solution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05840"/>
            <a:ext cx="2560320" cy="2560320"/>
          </a:xfrm>
          <a:prstGeom prst="rect">
            <a:avLst/>
          </a:prstGeom>
          <a:solidFill>
            <a:srgbClr val="1A1A1A"/>
          </a:solidFill>
          <a:ln w="1905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42121"/>
                </a:solidFill>
                <a:latin typeface="Noto Sans KR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167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EFEF"/>
                </a:solidFill>
                <a:latin typeface="Noto Sans KR"/>
              </a:rPr>
              <a:t>탐 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Noto Sans KR"/>
              </a:rPr>
              <a:t>[ Detect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48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EFEF"/>
                </a:solidFill>
                <a:latin typeface="Noto Sans KR"/>
              </a:rPr>
              <a:t>Autoencoder
복원 오차 기반
이상 스코어링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031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2121"/>
                </a:solidFill>
                <a:latin typeface="Noto Sans KR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005840"/>
            <a:ext cx="2560320" cy="25603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0789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42121"/>
                </a:solidFill>
                <a:latin typeface="Noto Sans KR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3167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EFEF"/>
                </a:solidFill>
                <a:latin typeface="Noto Sans KR"/>
              </a:rPr>
              <a:t>진 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Noto Sans KR"/>
              </a:rPr>
              <a:t>[ Diagnose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148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EFEF"/>
                </a:solidFill>
                <a:latin typeface="Noto Sans KR"/>
              </a:rPr>
              <a:t>SHAP XAI
불량 원인 센서
자동 순위 도출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1031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2121"/>
                </a:solidFill>
                <a:latin typeface="Noto Sans KR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005840"/>
            <a:ext cx="2560320" cy="25603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0789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42121"/>
                </a:solidFill>
                <a:latin typeface="Noto Sans KR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3167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EFEF"/>
                </a:solidFill>
                <a:latin typeface="Noto Sans KR"/>
              </a:rPr>
              <a:t>처 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Noto Sans KR"/>
              </a:rPr>
              <a:t>[ Prescribe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148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EFEF"/>
                </a:solidFill>
                <a:latin typeface="Noto Sans KR"/>
              </a:rPr>
              <a:t>원인 센서별
점검·조정 액션
자동 권고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1031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2121"/>
                </a:solidFill>
                <a:latin typeface="Noto Sans KR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005840"/>
            <a:ext cx="2560320" cy="25603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0789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42121"/>
                </a:solidFill>
                <a:latin typeface="Noto Sans KR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13167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EFEF"/>
                </a:solidFill>
                <a:latin typeface="Noto Sans KR"/>
              </a:rPr>
              <a:t>추 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Noto Sans KR"/>
              </a:rPr>
              <a:t>[ Track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148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EFEF"/>
                </a:solidFill>
                <a:latin typeface="Noto Sans KR"/>
              </a:rPr>
              <a:t>설비·공정별
건강 점수 &amp;
생산 이력 분석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840480"/>
            <a:ext cx="265176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3904487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PyTorch Autoencoder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" y="417880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24→16→8→16→24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840480"/>
            <a:ext cx="265176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904487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SHAP KernelExplainer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417880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50 kmeans 배경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840480"/>
            <a:ext cx="265176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3904487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Streamlit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417880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5탭 웹 인터페이스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2560" y="3840480"/>
            <a:ext cx="265176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62288" y="3904487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KAMP 사출성형기 데이터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417880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공개 데이터 24 센서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663440"/>
            <a:ext cx="11338560" cy="18288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7365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2121"/>
                </a:solidFill>
                <a:latin typeface="Noto Sans KR"/>
              </a:rPr>
              <a:t>핵심 차별점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0109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FEFEF"/>
                </a:solidFill>
                <a:latin typeface="Noto Sans KR"/>
              </a:rPr>
              <a:t>✦  반지도학습 — 정상 데이터만으로 학습 (불량 라벨 불필요, 데이터 수집 비용 제거)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26694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FEFEF"/>
                </a:solidFill>
                <a:latin typeface="Noto Sans KR"/>
              </a:rPr>
              <a:t>✦  SHAP XAI — "왜 불량인가?" 센서 단위 설명 → 담당자가 즉시 원인 이해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52297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FEFEF"/>
                </a:solidFill>
                <a:latin typeface="Noto Sans KR"/>
              </a:rPr>
              <a:t>✦  탐지→진단→처방 자동화 — 기존 MES·ERP 단순 임계값 알람과 달리 원인까지 제시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8064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Noto Sans KR"/>
              </a:rPr>
              <a:t>vs 경쟁 대안:  수동 점검(불량 후 인지·분석 불가)  |  범용 MES 알람(센서 원인 설명 없음)  |  외부 컨설팅(수백만원/회·비정기)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38100" cy="4114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2121"/>
                </a:solidFill>
                <a:latin typeface="Noto Sans KR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EFEF"/>
                </a:solidFill>
                <a:latin typeface="Noto Sans KR"/>
              </a:rPr>
              <a:t>주요 기능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658368" cy="2743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탭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43584"/>
            <a:ext cx="2240280" cy="48920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316736"/>
            <a:ext cx="20391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EFEF"/>
                </a:solidFill>
                <a:latin typeface="Noto Sans KR"/>
              </a:rPr>
              <a:t>데이터 개요 &amp; 모델 성능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" y="1847088"/>
            <a:ext cx="2039112" cy="127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965960"/>
            <a:ext cx="2039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• ROC-AUC / PR-AUC / F1 실시간 모니터링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468880"/>
            <a:ext cx="2039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• 복원 오차 분포 인터랙티브 차트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971800"/>
            <a:ext cx="2039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• 학습 곡선 (Train/Val Loss) 추이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15768" y="987552"/>
            <a:ext cx="658368" cy="2743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15768" y="987552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탭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15768" y="1243584"/>
            <a:ext cx="2240280" cy="48920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25496" y="1316736"/>
            <a:ext cx="20391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EFEF"/>
                </a:solidFill>
                <a:latin typeface="Noto Sans KR"/>
              </a:rPr>
              <a:t>실시간 공정 시뮬레이터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25496" y="1847088"/>
            <a:ext cx="2039112" cy="127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25496" y="1965960"/>
            <a:ext cx="2039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• 24개 센서 슬라이더 → 즉시 이상 판정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5496" y="2468880"/>
            <a:ext cx="2039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• On-demand SHAP 계산 → 원인 센서 Top-5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5496" y="2971800"/>
            <a:ext cx="2039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• 이상 시 처방 자동 출력 (점검 액션)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0056" y="987552"/>
            <a:ext cx="658368" cy="2743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0056" y="987552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탭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0056" y="1243584"/>
            <a:ext cx="2240280" cy="48920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9784" y="1316736"/>
            <a:ext cx="20391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EFEF"/>
                </a:solidFill>
                <a:latin typeface="Noto Sans KR"/>
              </a:rPr>
              <a:t>대규모 스코어링 분석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9784" y="1847088"/>
            <a:ext cx="2039112" cy="127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9784" y="1965960"/>
            <a:ext cx="2039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• 비라벨 35,239건 이상 스코어 시각화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9784" y="2468880"/>
            <a:ext cx="2039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• 임계값 슬라이더 → 이상 비율 실시간 변경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9784" y="2971800"/>
            <a:ext cx="2039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• 이상 구간 Zoom-In 인터랙티브 탐색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24344" y="987552"/>
            <a:ext cx="658368" cy="2743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24344" y="987552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탭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24344" y="1243584"/>
            <a:ext cx="2240280" cy="48920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34072" y="1316736"/>
            <a:ext cx="20391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EFEF"/>
                </a:solidFill>
                <a:latin typeface="Noto Sans KR"/>
              </a:rPr>
              <a:t>XAI 원인 분석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34072" y="1847088"/>
            <a:ext cx="2039112" cy="127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34072" y="1965960"/>
            <a:ext cx="2039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• SHAP Waterfall — 개별 이상 샘플 설명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4072" y="2468880"/>
            <a:ext cx="2039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• SHAP Summary Bar — 전체 특성 중요도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34072" y="2971800"/>
            <a:ext cx="2039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• 센서별 원인 기여도 순위표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28632" y="987552"/>
            <a:ext cx="658368" cy="2743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28632" y="987552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탭 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28632" y="1243584"/>
            <a:ext cx="2240280" cy="48920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60" y="1316736"/>
            <a:ext cx="20391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EFEF"/>
                </a:solidFill>
                <a:latin typeface="Noto Sans KR"/>
              </a:rPr>
              <a:t>설비별 운영 현황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38360" y="1847088"/>
            <a:ext cx="2039112" cy="127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1965960"/>
            <a:ext cx="2039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• 금형(설비)별 건강 점수 (0~100)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2468880"/>
            <a:ext cx="2039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• 최근 N샷 이상 추이 게이지 &amp; 히스토리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2971800"/>
            <a:ext cx="2039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• 생산 이력 테이블 (필터·정렬 지원)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38100" cy="4114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2121"/>
                </a:solidFill>
                <a:latin typeface="Noto Sans KR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EFEF"/>
                </a:solidFill>
                <a:latin typeface="Noto Sans KR"/>
              </a:rPr>
              <a:t>데이터 및 기술 활용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Data &amp;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05840"/>
            <a:ext cx="5303520" cy="50292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EFEF"/>
                </a:solidFill>
                <a:latin typeface="Noto Sans KR"/>
              </a:rPr>
              <a:t>데이터셋 — KAMP 사출성형기 AI 데이터셋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99032"/>
            <a:ext cx="493776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3619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2121"/>
                </a:solidFill>
                <a:latin typeface="Noto Sans KR"/>
              </a:rPr>
              <a:t>supervised_label_cn7.csv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10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6,736행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8105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정상 6,697 / 불량 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9514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2121"/>
                </a:solidFill>
                <a:latin typeface="Noto Sans KR"/>
              </a:rPr>
              <a:t>moldset_labeled_cn7.csv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694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1,211행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5694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정상 1,194 / 불량 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5409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2121"/>
                </a:solidFill>
                <a:latin typeface="Noto Sans KR"/>
              </a:rPr>
              <a:t>moldset_labeled_rg3.csv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3284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1,182행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3284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정상 1,157 / 불량 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81304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2121"/>
                </a:solidFill>
                <a:latin typeface="Noto Sans KR"/>
              </a:rPr>
              <a:t>moldset_unlabeled_cn7.csv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873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35,239행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0873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비라벨 스코어링용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720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2121"/>
                </a:solidFill>
                <a:latin typeface="Noto Sans KR"/>
              </a:rPr>
              <a:t>labeled_data.csv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8463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7,996행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8463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Scaler 학습용 원본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440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Noto Sans KR"/>
              </a:rPr>
              <a:t>* 중소기업기술정보진흥원(KAMP) 공개 데이터 — 상업적 이용 가능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005840"/>
            <a:ext cx="5623560" cy="50292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0789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EFEF"/>
                </a:solidFill>
                <a:latin typeface="Noto Sans KR"/>
              </a:rPr>
              <a:t>기술 스택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399032"/>
            <a:ext cx="530352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1536192"/>
            <a:ext cx="822960" cy="2743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5361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모델링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5472" y="15361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PyTorch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472" y="181051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Autoencoder (24→16→8→16→24), BatchNorm, Adam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221992"/>
            <a:ext cx="822960" cy="2743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2219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전처리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5472" y="2221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sklearn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249631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StandardScaler — raw 원본 기반 fit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907792"/>
            <a:ext cx="822960" cy="2743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29077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XAI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5472" y="2907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SHAP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5472" y="318211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KernelExplainer, kmeans(50) 배경 샘플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593592"/>
            <a:ext cx="822960" cy="2743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5935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대시보드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5472" y="35935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Streamlit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5472" y="386791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Plotly 인터랙티브 차트, 5탭 구성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4279392"/>
            <a:ext cx="822960" cy="2743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279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데이터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05472" y="4279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pandas / numpy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5472" y="455371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parquet 저장, 배치 inference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4965192"/>
            <a:ext cx="822960" cy="2743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49651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반지도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5472" y="49651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학습 전략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05472" y="523951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정상 데이터만 학습 → 복원 오차 임계값 판정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38100" cy="4114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2121"/>
                </a:solidFill>
                <a:latin typeface="Noto Sans KR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EFEF"/>
                </a:solidFill>
                <a:latin typeface="Noto Sans KR"/>
              </a:rPr>
              <a:t>사용자 시나리오 / 유즈케이스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User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05840"/>
            <a:ext cx="3200400" cy="50292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2121"/>
                </a:solidFill>
                <a:latin typeface="Noto Sans KR"/>
              </a:rPr>
              <a:t>사용자 페르소나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283464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2834640" cy="1188720"/>
          </a:xfrm>
          <a:prstGeom prst="rect">
            <a:avLst/>
          </a:prstGeom>
          <a:solidFill>
            <a:srgbClr val="111111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EFEF"/>
                </a:solidFill>
                <a:latin typeface="Noto Sans KR"/>
              </a:rPr>
              <a:t>생산 관리자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현장 불량 즉시 확인
원인 파악 후 지시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926080"/>
            <a:ext cx="2834640" cy="1188720"/>
          </a:xfrm>
          <a:prstGeom prst="rect">
            <a:avLst/>
          </a:prstGeom>
          <a:solidFill>
            <a:srgbClr val="111111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EFEF"/>
                </a:solidFill>
                <a:latin typeface="Noto Sans KR"/>
              </a:rPr>
              <a:t>설비 엔지니어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설비 이상 징후 조기 탐지
예방 정비 계획 수립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343400"/>
            <a:ext cx="2834640" cy="1188720"/>
          </a:xfrm>
          <a:prstGeom prst="rect">
            <a:avLst/>
          </a:prstGeom>
          <a:solidFill>
            <a:srgbClr val="111111"/>
          </a:solidFill>
          <a:ln w="63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EFEF"/>
                </a:solidFill>
                <a:latin typeface="Noto Sans KR"/>
              </a:rPr>
              <a:t>품질 담당자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548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불량 이력 분석
재발 방지 대책 수립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100584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EFEF"/>
                </a:solidFill>
                <a:latin typeface="Noto Sans KR"/>
              </a:rPr>
              <a:t>5분 데모 시나리오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7639" y="1325880"/>
            <a:ext cx="777240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7639" y="1463040"/>
            <a:ext cx="1371600" cy="2743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00:00 – 00:30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146304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대시보드 접속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17373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탭 1 — ROC-AUC 0.9254 확인, 복원 오차 분포로 정상/불량 분리 명확성 시연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39" y="2423160"/>
            <a:ext cx="1371600" cy="2743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39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00:30 – 01:30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42316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이상 감지 시뮬레이션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26974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탭 2 — Filling_Time 슬라이더 조작 → 이상 판정 즉시 반응 확인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3383280"/>
            <a:ext cx="1371600" cy="2743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39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01:30 – 02:30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38328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XAI 원인 진단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3657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탭 2 SHAP 계산 → Filling_Time 1위 확인, 탭 4 Summary Bar로 전체 원인 분포 설명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39" y="4343400"/>
            <a:ext cx="1371600" cy="2743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39" y="4343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02:30 – 03:30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34340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처방 액션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46177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처방 카드 — "사출 속도 프로파일 점검 · 원재료 점도 확인" 즉시 표시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77639" y="5303520"/>
            <a:ext cx="1371600" cy="2743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77639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03:30 – 05:00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530352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대규모 분석 &amp; 설비 현황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55778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탭 3 — 35K 스코어링 결과, 탭 5 — 설비 건강 점수 &amp; 생산 이력 추적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38100" cy="4114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2121"/>
                </a:solidFill>
                <a:latin typeface="Noto Sans KR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EFEF"/>
                </a:solidFill>
                <a:latin typeface="Noto Sans KR"/>
              </a:rPr>
              <a:t>MVP 구현 범위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MVP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5577840" cy="5074920"/>
          </a:xfrm>
          <a:prstGeom prst="rect">
            <a:avLst/>
          </a:prstGeom>
          <a:solidFill>
            <a:srgbClr val="1A1A1A"/>
          </a:solidFill>
          <a:ln w="1905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2121"/>
                </a:solidFill>
                <a:latin typeface="Noto Sans KR"/>
              </a:rPr>
              <a:t>[완료]  구현 완료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525780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모델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   · Autoencoder V2 — ROC-AUC 0.9254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   · F1-Score 0.7324 / Recall 0.6667 / Precision 0.8125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   · 임계값 0.3198 (99th percentile + F1 최적 평균)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791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데이터 파이프라인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535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   · StandardScaler fit (labeled_data.csv 원본)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278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   · supervised_label_cn7.csv 단일 파일 학습 (V2)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021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   · moldset_unlabeled_cn7.csv 35,239건 스코어링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4962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XAI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1239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   · SHAP KernelExplainer 사전 계산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9826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   · Top 센서: Filling_Time, Injection_Time, Max_Switch_Over_Pressure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67258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   · Waterfall / Summary Bar 시각화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02005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대시보드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2943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   · Streamlit 5탭 — 탐지/진단/처방/추적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56869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   · Plotly 인터랙티브 차트 전환 완료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84301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   · 흑백+빨강 운영 시스템 디자인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987552"/>
            <a:ext cx="5486400" cy="5074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10515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EFEF"/>
                </a:solidFill>
                <a:latin typeface="Noto Sans KR"/>
              </a:rPr>
              <a:t>[예정]  본선 추가 구현 계획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3952" y="1371600"/>
            <a:ext cx="516636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실시간 연동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18653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· OPC-UA / MQTT 프로토콜 연결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21214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Noto Sans KR"/>
              </a:rPr>
              <a:t>· 설비 PLC 데이터 스트림 수신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26334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알람 시스템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29443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· 이상 탐지 즉시 Slack/Email 알림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32004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Noto Sans KR"/>
              </a:rPr>
              <a:t>· 임계값 초과 시 담당자 Push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371246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멀티 설비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0233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· 설비 ID별 독립 모델 관리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42793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Noto Sans KR"/>
              </a:rPr>
              <a:t>· 설비 유형별 임계값 차별화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479145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예측 정비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51023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· 이상 스코어 추이 기반 고장 예측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535838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Noto Sans KR"/>
              </a:rPr>
              <a:t>· 설비 가동 중단 사전 방지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6199632"/>
            <a:ext cx="11365992" cy="5029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199632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EFEF"/>
                </a:solidFill>
                <a:latin typeface="Noto Sans KR"/>
              </a:rPr>
              <a:t>  ROC-AUC: 0.9254   |   PR-AUC: 0.7080   |   F1: 0.7324   |   Recall: 0.6667   |   Precision: 0.8125   |   임계값: 0.3198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38100" cy="4114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2121"/>
                </a:solidFill>
                <a:latin typeface="Noto Sans KR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EFEF"/>
                </a:solidFill>
                <a:latin typeface="Noto Sans KR"/>
              </a:rPr>
              <a:t>기대 효과 및 향후 확장성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Impact &amp; Scalability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2788920" cy="1371600"/>
          </a:xfrm>
          <a:prstGeom prst="rect">
            <a:avLst/>
          </a:prstGeom>
          <a:solidFill>
            <a:srgbClr val="1A1A1A"/>
          </a:solidFill>
          <a:ln w="1524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060704"/>
            <a:ext cx="2587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Noto Sans KR"/>
              </a:rPr>
              <a:t>불량 탐지  ROC-AUC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298448"/>
            <a:ext cx="2587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D42121"/>
                </a:solidFill>
                <a:latin typeface="Noto Sans KR"/>
              </a:rPr>
              <a:t>0.9254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029968"/>
            <a:ext cx="2587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Noto Sans KR"/>
              </a:rPr>
              <a:t>목표 0.80 대비 +15.7%p 초과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987552"/>
            <a:ext cx="2788920" cy="1371600"/>
          </a:xfrm>
          <a:prstGeom prst="rect">
            <a:avLst/>
          </a:prstGeom>
          <a:solidFill>
            <a:srgbClr val="1A1A1A"/>
          </a:solidFill>
          <a:ln w="1524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1060704"/>
            <a:ext cx="2587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Noto Sans KR"/>
              </a:rPr>
              <a:t>유의 센서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1298448"/>
            <a:ext cx="2587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D42121"/>
                </a:solidFill>
                <a:latin typeface="Noto Sans KR"/>
              </a:rPr>
              <a:t>14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2029968"/>
            <a:ext cx="2587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Noto Sans KR"/>
              </a:rPr>
              <a:t>Mann-Whitney U  (alpha=0.05)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17336" y="987552"/>
            <a:ext cx="2788920" cy="1371600"/>
          </a:xfrm>
          <a:prstGeom prst="rect">
            <a:avLst/>
          </a:prstGeom>
          <a:solidFill>
            <a:srgbClr val="1A1A1A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1060704"/>
            <a:ext cx="2587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Noto Sans KR"/>
              </a:rPr>
              <a:t>Large 효과 크기 센서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1298448"/>
            <a:ext cx="2587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D42121"/>
                </a:solidFill>
                <a:latin typeface="Noto Sans KR"/>
              </a:rPr>
              <a:t>5개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2029968"/>
            <a:ext cx="2587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Noto Sans KR"/>
              </a:rPr>
              <a:t>Cohen's d &gt;= 0.8 센서 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0264" y="987552"/>
            <a:ext cx="2788920" cy="1371600"/>
          </a:xfrm>
          <a:prstGeom prst="rect">
            <a:avLst/>
          </a:prstGeom>
          <a:solidFill>
            <a:srgbClr val="1A1A1A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9992" y="1060704"/>
            <a:ext cx="2587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Noto Sans KR"/>
              </a:rPr>
              <a:t>분석 자동화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1298448"/>
            <a:ext cx="2587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D42121"/>
                </a:solidFill>
                <a:latin typeface="Noto Sans KR"/>
              </a:rPr>
              <a:t>수시간 -&gt; 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2029968"/>
            <a:ext cx="2587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Noto Sans KR"/>
              </a:rPr>
              <a:t>SHAP 즉시 원인 도출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578608"/>
            <a:ext cx="5394960" cy="3547872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가설 검증 — 유의 센서 Top 7  (Cohen's d 기준)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944368"/>
            <a:ext cx="502920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03580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EFEF"/>
                </a:solidFill>
                <a:latin typeface="Noto Sans KR"/>
              </a:rPr>
              <a:t>* Average Screw RPM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090672"/>
            <a:ext cx="2194559" cy="1828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84063" y="30358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1.567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46557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EFEF"/>
                </a:solidFill>
                <a:latin typeface="Noto Sans KR"/>
              </a:rPr>
              <a:t>* Max Switch Over Pressure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3520440"/>
            <a:ext cx="1571465" cy="1828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0969" y="34655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1.122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89534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EFEF"/>
                </a:solidFill>
                <a:latin typeface="Noto Sans KR"/>
              </a:rPr>
              <a:t>* Filling 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950208"/>
            <a:ext cx="1247450" cy="1828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36954" y="38953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0.890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32511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EFEF"/>
                </a:solidFill>
                <a:latin typeface="Noto Sans KR"/>
              </a:rPr>
              <a:t>* Injection 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4379976"/>
            <a:ext cx="1215230" cy="1828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04734" y="43251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0.868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754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EFEF"/>
                </a:solidFill>
                <a:latin typeface="Noto Sans KR"/>
              </a:rPr>
              <a:t>* Max Injection Speed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4809744"/>
            <a:ext cx="1160317" cy="1828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49821" y="47548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0.828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18464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Noto Sans KR"/>
              </a:rPr>
              <a:t>  Max Back Pressure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40" y="5239512"/>
            <a:ext cx="966441" cy="182880"/>
          </a:xfrm>
          <a:prstGeom prst="rect">
            <a:avLst/>
          </a:prstGeom>
          <a:solidFill>
            <a:srgbClr val="4A4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55945" y="51846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0.690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6144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EFEF"/>
                </a:solidFill>
                <a:latin typeface="Noto Sans KR"/>
              </a:rPr>
              <a:t>* Cycle 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5669280"/>
            <a:ext cx="956775" cy="1828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6279" y="56144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0.683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9984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Noto Sans KR"/>
              </a:rPr>
              <a:t>* p &lt; 0.05 유의  |  Large effect: Cohen's d &gt;= 0.8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578608"/>
            <a:ext cx="5605272" cy="3547872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2651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SHAP 원인 분석  &amp;  향후 확장 로드맵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27648" y="2944368"/>
            <a:ext cx="521208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27648" y="30358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Noto Sans KR"/>
              </a:rPr>
              <a:t>SHAP Top 원인 센서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27648" y="32735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EFEF"/>
                </a:solidFill>
                <a:latin typeface="Noto Sans KR"/>
              </a:rPr>
              <a:t>Filling Time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3319272"/>
            <a:ext cx="1828799" cy="1828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41279" y="327355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21.02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7648" y="3657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EFEF"/>
                </a:solidFill>
                <a:latin typeface="Noto Sans KR"/>
              </a:rPr>
              <a:t>Injection Time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66760" y="3703320"/>
            <a:ext cx="618585" cy="182880"/>
          </a:xfrm>
          <a:prstGeom prst="rect">
            <a:avLst/>
          </a:prstGeom>
          <a:solidFill>
            <a:srgbClr val="4A4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31065" y="36576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7.11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7648" y="40416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EFEF"/>
                </a:solidFill>
                <a:latin typeface="Noto Sans KR"/>
              </a:rPr>
              <a:t>Max Switch Over Pressure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66760" y="4087368"/>
            <a:ext cx="253168" cy="182880"/>
          </a:xfrm>
          <a:prstGeom prst="rect">
            <a:avLst/>
          </a:prstGeom>
          <a:solidFill>
            <a:srgbClr val="4A4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65648" y="40416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2.91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27648" y="45537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Noto Sans KR"/>
              </a:rPr>
              <a:t>향후 확장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27648" y="4791456"/>
            <a:ext cx="685800" cy="256032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27648" y="479145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EFEFEF"/>
                </a:solidFill>
                <a:latin typeface="Noto Sans KR"/>
              </a:rPr>
              <a:t>단기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86600" y="4791456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OPC-UA 실시간 연동  /  알람 자동화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27648" y="5212080"/>
            <a:ext cx="685800" cy="256032"/>
          </a:xfrm>
          <a:prstGeom prst="rect">
            <a:avLst/>
          </a:prstGeom>
          <a:solidFill>
            <a:srgbClr val="4A4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27648" y="521208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EFEFEF"/>
                </a:solidFill>
                <a:latin typeface="Noto Sans KR"/>
              </a:rPr>
              <a:t>중기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86600" y="5212080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멀티 설비 관리  /  예측 정비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27648" y="5632704"/>
            <a:ext cx="685800" cy="256032"/>
          </a:xfrm>
          <a:prstGeom prst="rect">
            <a:avLst/>
          </a:prstGeom>
          <a:solidFill>
            <a:srgbClr val="4A4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27648" y="5632704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EFEFEF"/>
                </a:solidFill>
                <a:latin typeface="Noto Sans KR"/>
              </a:rPr>
              <a:t>장기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86600" y="5632704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Digital Twin  /  공정 최적화 추천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6309360"/>
            <a:ext cx="11365992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Noto Sans KR"/>
              </a:rPr>
              <a:t>ROC-AUC 0.9254 (95% CI [0.879, 0.966]) — 불량 10건 중 9건 이상 구별  |  수작업 수시간 원인 분석 -&gt; AI 즉시 진단으로 단축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38100" cy="4114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2121"/>
                </a:solidFill>
                <a:latin typeface="Noto Sans KR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EFEF"/>
                </a:solidFill>
                <a:latin typeface="Noto Sans KR"/>
              </a:rPr>
              <a:t>비즈니스 모델 &amp; 시장 진출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Business Model &amp; GTM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5577840" cy="51663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EFEF"/>
                </a:solidFill>
                <a:latin typeface="Noto Sans KR"/>
              </a:rPr>
              <a:t>SaaS 구독 수익 모델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98448"/>
            <a:ext cx="521208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63040"/>
            <a:ext cx="5212080" cy="960120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36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스타터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105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설비 1~3대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51790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EFEFEF"/>
                </a:solidFill>
                <a:latin typeface="Noto Sans KR"/>
              </a:rPr>
              <a:t>월 80만원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2024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A4A4A"/>
                </a:solidFill>
                <a:latin typeface="Noto Sans KR"/>
              </a:rPr>
              <a:t>소규모 제조사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606040"/>
            <a:ext cx="5212080" cy="960120"/>
          </a:xfrm>
          <a:prstGeom prst="rect">
            <a:avLst/>
          </a:prstGeom>
          <a:solidFill>
            <a:srgbClr val="151515"/>
          </a:solidFill>
          <a:ln w="1270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79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2121"/>
                </a:solidFill>
                <a:latin typeface="Noto Sans KR"/>
              </a:rPr>
              <a:t>스탠다드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6974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0808"/>
                </a:solidFill>
                <a:latin typeface="Noto Sans KR"/>
              </a:rPr>
              <a:t>추천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2697480"/>
            <a:ext cx="777240" cy="219456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26974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추천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9535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설비 4~10대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66090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EFEFEF"/>
                </a:solidFill>
                <a:latin typeface="Noto Sans KR"/>
              </a:rPr>
              <a:t>월 200만원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06324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A4A4A"/>
                </a:solidFill>
                <a:latin typeface="Noto Sans KR"/>
              </a:rPr>
              <a:t>중견 사출성형 공장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749040"/>
            <a:ext cx="5212080" cy="960120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822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엔터프라이즈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965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설비 10대 이상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80390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EFEFEF"/>
                </a:solidFill>
                <a:latin typeface="Noto Sans KR"/>
              </a:rPr>
              <a:t>월 400만원+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20624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A4A4A"/>
                </a:solidFill>
                <a:latin typeface="Noto Sans KR"/>
              </a:rPr>
              <a:t>대형·복수 라인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6634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KR"/>
              </a:rPr>
              <a:t>가격 근거: 스탠다드 월 200만 × 12 = 연 2,400만원  vs  절감액 ~1억/년 → 고객 ROI 4.2배 (동종 SaaS 대비 제조 특화)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8646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Noto Sans KR"/>
              </a:rPr>
              <a:t>3년 재무 모델 (단위: 만원)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074920"/>
            <a:ext cx="1261872" cy="265176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102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FEFEF"/>
                </a:solidFill>
                <a:latin typeface="Noto Sans KR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1874520" y="5074920"/>
            <a:ext cx="1261872" cy="265176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5102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EFEF"/>
                </a:solidFill>
                <a:latin typeface="Noto Sans KR"/>
              </a:rPr>
              <a:t>Y1 (목표)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5074920"/>
            <a:ext cx="1261872" cy="265176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5102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EFEF"/>
                </a:solidFill>
                <a:latin typeface="Noto Sans KR"/>
              </a:rPr>
              <a:t>Y2 (목표)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5074920"/>
            <a:ext cx="1353312" cy="265176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510235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EFEF"/>
                </a:solidFill>
                <a:latin typeface="Noto Sans KR"/>
              </a:rPr>
              <a:t>Y3 (목표)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5349240"/>
            <a:ext cx="1261872" cy="265176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37667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FEFEF"/>
                </a:solidFill>
                <a:latin typeface="Noto Sans KR"/>
              </a:rPr>
              <a:t>고객 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74520" y="5349240"/>
            <a:ext cx="126187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0240" y="537667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Noto Sans KR"/>
              </a:rPr>
              <a:t>10개사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5349240"/>
            <a:ext cx="126187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0" y="537667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Noto Sans KR"/>
              </a:rPr>
              <a:t>50개사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34840" y="5349240"/>
            <a:ext cx="135331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0" y="537667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Noto Sans KR"/>
              </a:rPr>
              <a:t>200개사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5623560"/>
            <a:ext cx="1261872" cy="265176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65099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FEFEF"/>
                </a:solidFill>
                <a:latin typeface="Noto Sans KR"/>
              </a:rPr>
              <a:t>ARR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5623560"/>
            <a:ext cx="126187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20240" y="565099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Noto Sans KR"/>
              </a:rPr>
              <a:t>2,400만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54680" y="5623560"/>
            <a:ext cx="126187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0" y="565099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Noto Sans KR"/>
              </a:rPr>
              <a:t>1.2억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34840" y="5623560"/>
            <a:ext cx="135331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80560" y="56509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42121"/>
                </a:solidFill>
                <a:latin typeface="Noto Sans KR"/>
              </a:rPr>
              <a:t>48억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5897880"/>
            <a:ext cx="1261872" cy="265176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92531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FEFEF"/>
                </a:solidFill>
                <a:latin typeface="Noto Sans KR"/>
              </a:rPr>
              <a:t>매출원가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4520" y="5897880"/>
            <a:ext cx="126187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20240" y="592531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Noto Sans KR"/>
              </a:rPr>
              <a:t>1,200만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54680" y="5897880"/>
            <a:ext cx="126187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0" y="592531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Noto Sans KR"/>
              </a:rPr>
              <a:t>5,000만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34840" y="5897880"/>
            <a:ext cx="135331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80560" y="592531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Noto Sans KR"/>
              </a:rPr>
              <a:t>14억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6172200"/>
            <a:ext cx="1261872" cy="265176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619963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FEFEF"/>
                </a:solidFill>
                <a:latin typeface="Noto Sans KR"/>
              </a:rPr>
              <a:t>매출 이익률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74520" y="6172200"/>
            <a:ext cx="126187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20240" y="619963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Noto Sans KR"/>
              </a:rPr>
              <a:t>50%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54680" y="6172200"/>
            <a:ext cx="126187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0" y="619963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Noto Sans KR"/>
              </a:rPr>
              <a:t>58%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34840" y="6172200"/>
            <a:ext cx="135331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80560" y="619963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Noto Sans KR"/>
              </a:rPr>
              <a:t>71%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" y="6446520"/>
            <a:ext cx="1261872" cy="265176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64739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FEFEF"/>
                </a:solidFill>
                <a:latin typeface="Noto Sans KR"/>
              </a:rPr>
              <a:t>CAC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74520" y="6446520"/>
            <a:ext cx="126187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20240" y="64739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Noto Sans KR"/>
              </a:rPr>
              <a:t>200만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54680" y="6446520"/>
            <a:ext cx="126187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00400" y="64739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Noto Sans KR"/>
              </a:rPr>
              <a:t>150만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434840" y="6446520"/>
            <a:ext cx="135331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80560" y="647395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Noto Sans KR"/>
              </a:rPr>
              <a:t>100만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4360" y="6720840"/>
            <a:ext cx="1261872" cy="265176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74827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FEFEF"/>
                </a:solidFill>
                <a:latin typeface="Noto Sans KR"/>
              </a:rPr>
              <a:t>LTV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74520" y="6720840"/>
            <a:ext cx="126187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20240" y="674827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42121"/>
                </a:solidFill>
                <a:latin typeface="Noto Sans KR"/>
              </a:rPr>
              <a:t>2,400만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154680" y="6720840"/>
            <a:ext cx="126187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00400" y="674827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42121"/>
                </a:solidFill>
                <a:latin typeface="Noto Sans KR"/>
              </a:rPr>
              <a:t>2,880만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434840" y="6720840"/>
            <a:ext cx="1353312" cy="26517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80560" y="674827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42121"/>
                </a:solidFill>
                <a:latin typeface="Noto Sans KR"/>
              </a:rPr>
              <a:t>3,600만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914400"/>
            <a:ext cx="5486400" cy="51663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46520" y="1005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EFEF"/>
                </a:solidFill>
                <a:latin typeface="Noto Sans KR"/>
              </a:rPr>
              <a:t>시장 진출 전략 (GTM)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46520" y="1298448"/>
            <a:ext cx="512064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446520" y="1463040"/>
            <a:ext cx="868680" cy="292608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46520" y="146304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Phase 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06640" y="1463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KAMP 연계 PoC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46520" y="181051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한국AI스마트제조플랫폼 파트너십
중소 사출성형 사업장 3개사 무료 PoC
KAMP 공인 데이터로 신뢰도 확보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46520" y="2926080"/>
            <a:ext cx="868680" cy="292608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46520" y="292608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Phase 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0664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정부 사업 연계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46520" y="327355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스마트공장 보급·확산사업 공급기업 등록
중기부·KOSMO 보조금 활용 도입 장벽 제거
파일럿 레퍼런스 → 확산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46520" y="4389120"/>
            <a:ext cx="868680" cy="292608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46520" y="438912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Phase 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06640" y="4389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EFEF"/>
                </a:solidFill>
                <a:latin typeface="Noto Sans KR"/>
              </a:rPr>
              <a:t>직접 영업 &amp; 파트너사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46520" y="473659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설비 제조사(LSMtron·Woojin Plaimm) OEM
설비 판매 채널 병행 → CAC 최소화
연간 200개사 목표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3640" y="4846320"/>
            <a:ext cx="5486400" cy="1005840"/>
          </a:xfrm>
          <a:prstGeom prst="rect">
            <a:avLst/>
          </a:prstGeom>
          <a:solidFill>
            <a:srgbClr val="1A0808"/>
          </a:solidFill>
          <a:ln w="1270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46520" y="48920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2121"/>
                </a:solidFill>
                <a:latin typeface="Noto Sans KR"/>
              </a:rPr>
              <a:t>초기 목표: 6개월 내 PoC 3건 완료 → 유료 전환 2건 → MRR 400만원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46520" y="5120640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CAC &lt; 200만원 / LTV &gt; 2,400만원 (24개월 기준) / LTV:CAC &gt; 12x 목표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46520" y="532180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EFEF"/>
                </a:solidFill>
                <a:latin typeface="Noto Sans KR"/>
              </a:rPr>
              <a:t>ROI 계산: 불량 1건 = 50만원 손실 (재작업+라인정지)  |  AI 탐지율(테스트 기준) 0.67 × 연간 불량 300건 = 200건 방지  |  절감액 10,000만원/년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46520" y="553212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Noto Sans KR"/>
              </a:rPr>
              <a:t>※ 연간 불량 300건 추정 근거: 사출성형 평균 불량률 1.5% × 연간 생산 20,000샷 = 300건 (중소 사출업체 기준)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5742432"/>
            <a:ext cx="5486400" cy="530352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46520" y="57881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Noto Sans KR"/>
              </a:rPr>
              <a:t>방어선 — 데이터 해자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46520" y="6035040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• 고객 현장 데이터 누적 → 모델 자동 개선 루프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46520" y="6199632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• 산업별 정상 프로파일 DB 축적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46520" y="6364224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• 전환 비용: 재교육 + 히스토리 데이터 이전 부담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11480" y="6309360"/>
            <a:ext cx="11365992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EFEF"/>
                </a:solidFill>
                <a:latin typeface="Noto Sans KR"/>
              </a:rPr>
              <a:t>라인 멈추기 전에 AI가 먼저 알려줍니다.  KAMP 공개 데이터 검증 + 정부 스마트공장 사업 연계로 첫 고객까지 최단 경로.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38100" cy="4114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2121"/>
                </a:solidFill>
                <a:latin typeface="Noto Sans KR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EFEF"/>
                </a:solidFill>
                <a:latin typeface="Noto Sans KR"/>
              </a:rPr>
              <a:t>경쟁 포지셔닝 &amp; 차별화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Competitive Positioning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2743200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71016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EFEF"/>
                </a:solidFill>
                <a:latin typeface="Noto Sans KR"/>
              </a:rPr>
              <a:t>기능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3191256" y="1234440"/>
            <a:ext cx="1920240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271016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EFEF"/>
                </a:solidFill>
                <a:latin typeface="Noto Sans KR"/>
              </a:rPr>
              <a:t>수동 점검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8072" y="1234440"/>
            <a:ext cx="1920240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2936" y="1271016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EFEF"/>
                </a:solidFill>
                <a:latin typeface="Noto Sans KR"/>
              </a:rPr>
              <a:t>범용 MES 알람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4888" y="1234440"/>
            <a:ext cx="1920240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9752" y="1271016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EFEF"/>
                </a:solidFill>
                <a:latin typeface="Noto Sans KR"/>
              </a:rPr>
              <a:t>외부 컨설팅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61704" y="1234440"/>
            <a:ext cx="2194560" cy="329184"/>
          </a:xfrm>
          <a:prstGeom prst="rect">
            <a:avLst/>
          </a:prstGeom>
          <a:solidFill>
            <a:srgbClr val="D4212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8" y="1271016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EFEF"/>
                </a:solidFill>
                <a:latin typeface="Noto Sans KR"/>
              </a:rPr>
              <a:t>SmartFactory XAI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563624"/>
            <a:ext cx="274320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" y="1600200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EFEF"/>
                </a:solidFill>
                <a:latin typeface="Noto Sans KR"/>
              </a:rPr>
              <a:t>실시간 이상 탐지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91256" y="1563624"/>
            <a:ext cx="192024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600200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88"/>
                </a:solidFill>
                <a:latin typeface="Noto Sans KR"/>
              </a:rP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8072" y="1563624"/>
            <a:ext cx="192024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2936" y="1600200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FEFEF"/>
                </a:solidFill>
                <a:latin typeface="Noto Sans KR"/>
              </a:rPr>
              <a:t>△ 단순 임계값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4888" y="1563624"/>
            <a:ext cx="192024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9752" y="1600200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88"/>
                </a:solidFill>
                <a:latin typeface="Noto Sans KR"/>
              </a:rPr>
              <a:t>✗ 비정기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61704" y="1563624"/>
            <a:ext cx="2194560" cy="329184"/>
          </a:xfrm>
          <a:prstGeom prst="rect">
            <a:avLst/>
          </a:prstGeom>
          <a:solidFill>
            <a:srgbClr val="1A0808"/>
          </a:solidFill>
          <a:ln w="635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6568" y="160020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42121"/>
                </a:solidFill>
                <a:latin typeface="Noto Sans KR"/>
              </a:rPr>
              <a:t>✓ 24개 센서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1911096"/>
            <a:ext cx="2743200" cy="32918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" y="194767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EFEF"/>
                </a:solidFill>
                <a:latin typeface="Noto Sans KR"/>
              </a:rPr>
              <a:t>불량 원인 센서 즉시 식별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91256" y="1911096"/>
            <a:ext cx="1920240" cy="32918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46120" y="1947672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88"/>
                </a:solidFill>
                <a:latin typeface="Noto Sans KR"/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48072" y="1911096"/>
            <a:ext cx="1920240" cy="32918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02936" y="1947672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88"/>
                </a:solidFill>
                <a:latin typeface="Noto Sans KR"/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04888" y="1911096"/>
            <a:ext cx="1920240" cy="32918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59752" y="1947672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FEFEF"/>
                </a:solidFill>
                <a:latin typeface="Noto Sans KR"/>
              </a:rPr>
              <a:t>✓ 수시간 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61704" y="1911096"/>
            <a:ext cx="2194560" cy="329184"/>
          </a:xfrm>
          <a:prstGeom prst="rect">
            <a:avLst/>
          </a:prstGeom>
          <a:solidFill>
            <a:srgbClr val="1A0808"/>
          </a:solidFill>
          <a:ln w="635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16568" y="1947672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42121"/>
                </a:solidFill>
                <a:latin typeface="Noto Sans KR"/>
              </a:rPr>
              <a:t>✓ SHAP 즉시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258568"/>
            <a:ext cx="274320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" y="2295144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EFEF"/>
                </a:solidFill>
                <a:latin typeface="Noto Sans KR"/>
              </a:rPr>
              <a:t>현장 맞춤 임계값 조정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91256" y="2258568"/>
            <a:ext cx="192024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2295144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88"/>
                </a:solidFill>
                <a:latin typeface="Noto Sans KR"/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48072" y="2258568"/>
            <a:ext cx="192024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02936" y="2295144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FEFEF"/>
                </a:solidFill>
                <a:latin typeface="Noto Sans KR"/>
              </a:rPr>
              <a:t>△ IT 설정 필요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04888" y="2258568"/>
            <a:ext cx="192024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59752" y="2295144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88"/>
                </a:solidFill>
                <a:latin typeface="Noto Sans KR"/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61704" y="2258568"/>
            <a:ext cx="2194560" cy="329184"/>
          </a:xfrm>
          <a:prstGeom prst="rect">
            <a:avLst/>
          </a:prstGeom>
          <a:solidFill>
            <a:srgbClr val="1A0808"/>
          </a:solidFill>
          <a:ln w="635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16568" y="2295144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42121"/>
                </a:solidFill>
                <a:latin typeface="Noto Sans KR"/>
              </a:rPr>
              <a:t>✓ 운전자 직접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2606040"/>
            <a:ext cx="2743200" cy="32918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" y="2642616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EFEF"/>
                </a:solidFill>
                <a:latin typeface="Noto Sans KR"/>
              </a:rPr>
              <a:t>교대 인수인계 자동화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91256" y="2606040"/>
            <a:ext cx="1920240" cy="32918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46120" y="2642616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FEFEF"/>
                </a:solidFill>
                <a:latin typeface="Noto Sans KR"/>
              </a:rPr>
              <a:t>수기 일지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48072" y="2606040"/>
            <a:ext cx="1920240" cy="32918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02936" y="2642616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88"/>
                </a:solidFill>
                <a:latin typeface="Noto Sans KR"/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4888" y="2606040"/>
            <a:ext cx="1920240" cy="32918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59752" y="2642616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88"/>
                </a:solidFill>
                <a:latin typeface="Noto Sans KR"/>
              </a:rP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61704" y="2606040"/>
            <a:ext cx="2194560" cy="329184"/>
          </a:xfrm>
          <a:prstGeom prst="rect">
            <a:avLst/>
          </a:prstGeom>
          <a:solidFill>
            <a:srgbClr val="1A0808"/>
          </a:solidFill>
          <a:ln w="635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16568" y="2642616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42121"/>
                </a:solidFill>
                <a:latin typeface="Noto Sans KR"/>
              </a:rPr>
              <a:t>✓ CSV 자동 생성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2953512"/>
            <a:ext cx="274320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6344" y="2990088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EFEF"/>
                </a:solidFill>
                <a:latin typeface="Noto Sans KR"/>
              </a:rPr>
              <a:t>불량 유형 군집 분류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91256" y="2953512"/>
            <a:ext cx="192024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46120" y="2990088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88"/>
                </a:solidFill>
                <a:latin typeface="Noto Sans KR"/>
              </a:rPr>
              <a:t>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48072" y="2953512"/>
            <a:ext cx="192024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02936" y="2990088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88"/>
                </a:solidFill>
                <a:latin typeface="Noto Sans KR"/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04888" y="2953512"/>
            <a:ext cx="192024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59752" y="2990088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FEFEF"/>
                </a:solidFill>
                <a:latin typeface="Noto Sans KR"/>
              </a:rPr>
              <a:t>△ 별도 분석비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61704" y="2953512"/>
            <a:ext cx="2194560" cy="329184"/>
          </a:xfrm>
          <a:prstGeom prst="rect">
            <a:avLst/>
          </a:prstGeom>
          <a:solidFill>
            <a:srgbClr val="1A0808"/>
          </a:solidFill>
          <a:ln w="635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16568" y="2990088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42121"/>
                </a:solidFill>
                <a:latin typeface="Noto Sans KR"/>
              </a:rPr>
              <a:t>✓ 3유형 자동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300984"/>
            <a:ext cx="2743200" cy="32918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6344" y="3337560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EFEF"/>
                </a:solidFill>
                <a:latin typeface="Noto Sans KR"/>
              </a:rPr>
              <a:t>도입 비용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91256" y="3300984"/>
            <a:ext cx="1920240" cy="32918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46120" y="3337560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FEFEF"/>
                </a:solidFill>
                <a:latin typeface="Noto Sans KR"/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48072" y="3300984"/>
            <a:ext cx="1920240" cy="32918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202936" y="3337560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FEFEF"/>
                </a:solidFill>
                <a:latin typeface="Noto Sans KR"/>
              </a:rPr>
              <a:t>수천만원/식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04888" y="3300984"/>
            <a:ext cx="1920240" cy="32918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59752" y="3337560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FEFEF"/>
                </a:solidFill>
                <a:latin typeface="Noto Sans KR"/>
              </a:rPr>
              <a:t>수백만원/회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61704" y="3300984"/>
            <a:ext cx="2194560" cy="329184"/>
          </a:xfrm>
          <a:prstGeom prst="rect">
            <a:avLst/>
          </a:prstGeom>
          <a:solidFill>
            <a:srgbClr val="1A0808"/>
          </a:solidFill>
          <a:ln w="635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16568" y="333756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FEFEF"/>
                </a:solidFill>
                <a:latin typeface="Noto Sans KR"/>
              </a:rPr>
              <a:t>월 80~400만원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3648456"/>
            <a:ext cx="274320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6344" y="368503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EFEF"/>
                </a:solidFill>
                <a:latin typeface="Noto Sans KR"/>
              </a:rPr>
              <a:t>원인 설명 (XAI)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191256" y="3648456"/>
            <a:ext cx="192024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46120" y="3685032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88"/>
                </a:solidFill>
                <a:latin typeface="Noto Sans KR"/>
              </a:rPr>
              <a:t>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148072" y="3648456"/>
            <a:ext cx="192024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202936" y="3685032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88"/>
                </a:solidFill>
                <a:latin typeface="Noto Sans KR"/>
              </a:rPr>
              <a:t>✗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04888" y="3648456"/>
            <a:ext cx="192024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59752" y="3685032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FEFEF"/>
                </a:solidFill>
                <a:latin typeface="Noto Sans KR"/>
              </a:rPr>
              <a:t>△ 전문가 판단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61704" y="3648456"/>
            <a:ext cx="2194560" cy="329184"/>
          </a:xfrm>
          <a:prstGeom prst="rect">
            <a:avLst/>
          </a:prstGeom>
          <a:solidFill>
            <a:srgbClr val="1A0808"/>
          </a:solidFill>
          <a:ln w="635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116568" y="3685032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42121"/>
                </a:solidFill>
                <a:latin typeface="Noto Sans KR"/>
              </a:rPr>
              <a:t>✓ 자동 SHAP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4178808"/>
            <a:ext cx="11338560" cy="530352"/>
          </a:xfrm>
          <a:prstGeom prst="rect">
            <a:avLst/>
          </a:prstGeom>
          <a:solidFill>
            <a:srgbClr val="1A0808"/>
          </a:solidFill>
          <a:ln w="1270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94360" y="42336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2121"/>
                </a:solidFill>
                <a:latin typeface="Noto Sans KR"/>
              </a:rPr>
              <a:t>SmartFactory XAI의 포지셔닝:  저비용(SaaS) × 즉각 설명(XAI) × 현장 맞춤(슬라이더) — 세 조건을 동시에 충족하는 유일한 솔루션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4360" y="446227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Noto Sans KR"/>
              </a:rPr>
              <a:t>ROC-AUC 0.9254 (KAMP 공개 데이터 실증) · Recall 0.67 (10건 중 7건 탐지) · 월 구독 80만원 ~ 스탠다드 200만원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1480" y="6309360"/>
            <a:ext cx="11365992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Noto Sans KR"/>
              </a:rPr>
              <a:t>기능 면에서 대체 불가 · 비용 면에서 진입 장벽 없음 · 데이터 해자로 시간이 지날수록 격차 확대.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38100" cy="4114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2121"/>
                </a:solidFill>
                <a:latin typeface="Noto Sans KR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EFEF"/>
                </a:solidFill>
                <a:latin typeface="Noto Sans KR"/>
              </a:rPr>
              <a:t>팀 소개 &amp; 투자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Team &amp; Investment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5577840" cy="27432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2121"/>
                </a:solidFill>
                <a:latin typeface="Noto Sans KR"/>
              </a:rPr>
              <a:t>Why Now — 지금이 진입 적기인 이유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98448"/>
            <a:ext cx="521208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44752"/>
            <a:ext cx="777240" cy="256032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4475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EFEF"/>
                </a:solidFill>
                <a:latin typeface="Noto Sans KR"/>
              </a:rPr>
              <a:t>정부 정책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447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Noto Sans KR"/>
              </a:rPr>
              <a:t>스마트공장 보급 확산사업 2025~2027 — 3만개사 목표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920240"/>
            <a:ext cx="777240" cy="256032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EFEF"/>
                </a:solidFill>
                <a:latin typeface="Noto Sans KR"/>
              </a:rPr>
              <a:t>AI 성숙도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9202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Noto Sans KR"/>
              </a:rPr>
              <a:t>KernelSHAP·PyTorch 2.x 오픈소스 성숙 → 개발 비용 1/5 수준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395728"/>
            <a:ext cx="777240" cy="256032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9572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EFEF"/>
                </a:solidFill>
                <a:latin typeface="Noto Sans KR"/>
              </a:rPr>
              <a:t>데이터 공개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395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Noto Sans KR"/>
              </a:rPr>
              <a:t>KAMP 공공데이터포털 센서 데이터 → 레퍼런스 모델 즉시 구축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871216"/>
            <a:ext cx="777240" cy="256032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7121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EFEF"/>
                </a:solidFill>
                <a:latin typeface="Noto Sans KR"/>
              </a:rPr>
              <a:t>인력 부족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8712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Noto Sans KR"/>
              </a:rPr>
              <a:t>중소 제조사 AI 전문 인력 채용 난이도 상승 → SaaS 수요 급증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794760"/>
            <a:ext cx="5577840" cy="21945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862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주요 리스크 &amp; 완화 전략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160520"/>
            <a:ext cx="521208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51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EFEF"/>
                </a:solidFill>
                <a:latin typeface="Noto Sans KR"/>
              </a:rPr>
              <a:t>• 데이터 부족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25196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→ KAMP 파트너십으로 신규 설비 데이터 지속 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654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EFEF"/>
                </a:solidFill>
                <a:latin typeface="Noto Sans KR"/>
              </a:rPr>
              <a:t>• 소표본 모델 한계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65429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→ 고객 현장 데이터 누적 → 모델 자동 개선 루프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05663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EFEF"/>
                </a:solidFill>
                <a:latin typeface="Noto Sans KR"/>
              </a:rPr>
              <a:t>• 고객 보수성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505663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→ 무료 PoC 3개월 제공, 성과 확인 후 유료 전환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4589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EFEF"/>
                </a:solidFill>
                <a:latin typeface="Noto Sans KR"/>
              </a:rPr>
              <a:t>• 기술 진부화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45896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→ 오토인코더 → Transformer 마이그레이션 로드맵 수립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914400"/>
            <a:ext cx="5486400" cy="5074920"/>
          </a:xfrm>
          <a:prstGeom prst="rect">
            <a:avLst/>
          </a:prstGeom>
          <a:solidFill>
            <a:srgbClr val="1A1A1A"/>
          </a:solidFill>
          <a:ln w="1905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0058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2121"/>
                </a:solidFill>
                <a:latin typeface="Noto Sans KR"/>
              </a:rPr>
              <a:t>투자 제안 (Investment Ask)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1325880"/>
            <a:ext cx="512064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14630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SEED 라운드 목표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1737360"/>
            <a:ext cx="5120640" cy="640080"/>
          </a:xfrm>
          <a:prstGeom prst="rect">
            <a:avLst/>
          </a:prstGeom>
          <a:solidFill>
            <a:srgbClr val="1A0808"/>
          </a:solidFill>
          <a:ln w="1270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2121"/>
                </a:solidFill>
                <a:latin typeface="Noto Sans KR"/>
              </a:rPr>
              <a:t>3억원 (Pre-Seed)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Noto Sans KR"/>
              </a:rPr>
              <a:t>자금 사용 계획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2670048"/>
            <a:ext cx="548640" cy="256032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267004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EFEF"/>
                </a:solidFill>
                <a:latin typeface="Noto Sans KR"/>
              </a:rPr>
              <a:t>40%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267004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제품 개발: OPC-UA 연동·멀티설비·알람 자동화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3090672"/>
            <a:ext cx="548640" cy="256032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0906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EFEF"/>
                </a:solidFill>
                <a:latin typeface="Noto Sans KR"/>
              </a:rPr>
              <a:t>30%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309067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영업/마케팅: KAMP PoC 3건 + 유료 전환 집중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3511296"/>
            <a:ext cx="548640" cy="256032"/>
          </a:xfrm>
          <a:prstGeom prst="rect">
            <a:avLst/>
          </a:prstGeom>
          <a:solidFill>
            <a:srgbClr val="4A4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35112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EFEF"/>
                </a:solidFill>
                <a:latin typeface="Noto Sans KR"/>
              </a:rPr>
              <a:t>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3511296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팀 확장: ML 엔지니어 1명 · 영업 1명 채용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3931920"/>
            <a:ext cx="548640" cy="256032"/>
          </a:xfrm>
          <a:prstGeom prst="rect">
            <a:avLst/>
          </a:prstGeom>
          <a:solidFill>
            <a:srgbClr val="4A4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39319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EFEF"/>
                </a:solidFill>
                <a:latin typeface="Noto Sans KR"/>
              </a:rPr>
              <a:t>10%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393192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FEF"/>
                </a:solidFill>
                <a:latin typeface="Noto Sans KR"/>
              </a:rPr>
              <a:t>인프라: AWS 클라우드 + 보안 인증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4074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6개월 마일스톤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46520" y="4663440"/>
            <a:ext cx="457200" cy="256032"/>
          </a:xfrm>
          <a:prstGeom prst="rect">
            <a:avLst/>
          </a:prstGeom>
          <a:solidFill>
            <a:srgbClr val="4A4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466344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M3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46634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PoC 3건 완료 + Recall 0.75 이상 달성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46520" y="5065776"/>
            <a:ext cx="457200" cy="256032"/>
          </a:xfrm>
          <a:prstGeom prst="rect">
            <a:avLst/>
          </a:prstGeom>
          <a:solidFill>
            <a:srgbClr val="4A4A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506577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M4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95160" y="50657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유료 전환 2건 → MRR 400만원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46520" y="5468112"/>
            <a:ext cx="457200" cy="256032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54681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EFEF"/>
                </a:solidFill>
                <a:latin typeface="Noto Sans KR"/>
              </a:rPr>
              <a:t>M6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5160" y="54681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KR"/>
              </a:rPr>
              <a:t>Series A 준비 — ARR 6,000만원 목표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5852160"/>
            <a:ext cx="5486400" cy="475488"/>
          </a:xfrm>
          <a:prstGeom prst="rect">
            <a:avLst/>
          </a:prstGeom>
          <a:solidFill>
            <a:srgbClr val="1A1A1A"/>
          </a:solidFill>
          <a:ln w="1016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46520" y="587959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  <a:latin typeface="Noto Sans KR"/>
              </a:rPr>
              <a:t>Series A 진입 조건 (6개월 후)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6520" y="606247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42121"/>
                </a:solidFill>
                <a:latin typeface="Noto Sans KR"/>
              </a:rPr>
              <a:t>ARR 6,000만+ · 유료 고객 5개사+ · Churn 0 · Recall 0.75+ (외부 검증) · NPS 40+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6309360"/>
            <a:ext cx="11365992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EFEF"/>
                </a:solidFill>
                <a:latin typeface="Noto Sans KR"/>
              </a:rPr>
              <a:t>라인이 멈추기 전에 AI가 먼저 알립니다. KAMP 공인 데이터 실증 + 정부 스마트공장 연계 → 최단 경로로 첫 유료 고객까지.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38100" cy="4114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2121"/>
                </a:solidFill>
                <a:latin typeface="Noto Sans KR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EFEF"/>
                </a:solidFill>
                <a:latin typeface="Noto Sans KR"/>
              </a:rPr>
              <a:t>팀 구성 &amp; 전문성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Team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EFEF"/>
                </a:solidFill>
                <a:latin typeface="Noto Sans KR"/>
              </a:rPr>
              <a:t>스마트 공장 XAI 이상탐지 플랫폼 개발팀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65992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3639312" cy="2606040"/>
          </a:xfrm>
          <a:prstGeom prst="rect">
            <a:avLst/>
          </a:prstGeom>
          <a:solidFill>
            <a:srgbClr val="1A1A1A"/>
          </a:solidFill>
          <a:ln w="635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3639312" cy="384048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EFEF"/>
                </a:solidFill>
                <a:latin typeface="Noto Sans KR"/>
              </a:rPr>
              <a:t>ML/AI 엔지니어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38528"/>
            <a:ext cx="336499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Noto Sans KR"/>
              </a:rPr>
              <a:t>· Autoencoder 모델 설계 &amp; 학습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58568"/>
            <a:ext cx="336499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Noto Sans KR"/>
              </a:rPr>
              <a:t>· SHAP KernelExplainer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78608"/>
            <a:ext cx="336499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Noto Sans KR"/>
              </a:rPr>
              <a:t>· Bootstrap CI·Pseudo Hold-out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35808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4A4A"/>
                </a:solidFill>
                <a:latin typeface="Noto Sans KR"/>
              </a:rPr>
              <a:t>기술 스택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36976"/>
            <a:ext cx="3364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Noto Sans KR"/>
              </a:rPr>
              <a:t>PyTorch · scikit-learn · SHAP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93008"/>
            <a:ext cx="3364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Noto Sans KR"/>
              </a:rPr>
              <a:t>Python 3.11 · pandas · NumPy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3671" y="1417320"/>
            <a:ext cx="3639312" cy="26060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33671" y="1417320"/>
            <a:ext cx="3639312" cy="384048"/>
          </a:xfrm>
          <a:prstGeom prst="rect">
            <a:avLst/>
          </a:prstGeom>
          <a:solidFill>
            <a:srgbClr val="1A1A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146304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EFEF"/>
                </a:solidFill>
                <a:latin typeface="Noto Sans KR"/>
              </a:rPr>
              <a:t>백엔드 &amp; 데이터 파이프라인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1" y="1938528"/>
            <a:ext cx="336499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Noto Sans KR"/>
              </a:rPr>
              <a:t>· 데이터 전처리 파이프라인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1" y="2258568"/>
            <a:ext cx="336499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Noto Sans KR"/>
              </a:rPr>
              <a:t>· 795K 비라벨 스코어링 최적화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2578608"/>
            <a:ext cx="336499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Noto Sans KR"/>
              </a:rPr>
              <a:t>· PCA 클러스터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3035808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4A4A"/>
                </a:solidFill>
                <a:latin typeface="Noto Sans KR"/>
              </a:rPr>
              <a:t>기술 스택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3236976"/>
            <a:ext cx="3364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Noto Sans KR"/>
              </a:rPr>
              <a:t>pandas · pyarrow · joblib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1" y="3493008"/>
            <a:ext cx="3364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Noto Sans KR"/>
              </a:rPr>
              <a:t>StandardScaler · KMeans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55862" y="1417320"/>
            <a:ext cx="3639312" cy="26060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55862" y="1417320"/>
            <a:ext cx="3639312" cy="384048"/>
          </a:xfrm>
          <a:prstGeom prst="rect">
            <a:avLst/>
          </a:prstGeom>
          <a:solidFill>
            <a:srgbClr val="1A1A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2" y="146304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EFEF"/>
                </a:solidFill>
                <a:latin typeface="Noto Sans KR"/>
              </a:rPr>
              <a:t>프론트엔드 &amp; 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2" y="1938528"/>
            <a:ext cx="336499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Noto Sans KR"/>
              </a:rPr>
              <a:t>· Streamlit 5탭 대시보드 구현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2" y="2258568"/>
            <a:ext cx="336499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Noto Sans KR"/>
              </a:rPr>
              <a:t>· Plotly 인터랙티브 시각화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2" y="2578608"/>
            <a:ext cx="336499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Noto Sans KR"/>
              </a:rPr>
              <a:t>· 현장 언어 UI/UX 설계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2" y="3035808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4A4A"/>
                </a:solidFill>
                <a:latin typeface="Noto Sans KR"/>
              </a:rPr>
              <a:t>기술 스택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2" y="3236976"/>
            <a:ext cx="3364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Noto Sans KR"/>
              </a:rPr>
              <a:t>Streamlit 1.36 · Plotly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3022" y="3493008"/>
            <a:ext cx="3364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Noto Sans KR"/>
              </a:rPr>
              <a:t>python-pptx · CSS 커스터마이징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187952"/>
            <a:ext cx="11365992" cy="14173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279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EFEF"/>
                </a:solidFill>
                <a:latin typeface="Noto Sans KR"/>
              </a:rPr>
              <a:t>팀 경쟁력 &amp; 차별화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544568"/>
            <a:ext cx="1097280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4636008"/>
            <a:ext cx="822960" cy="237744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6360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EFEF"/>
                </a:solidFill>
                <a:latin typeface="Noto Sans KR"/>
              </a:rPr>
              <a:t>KAMP 공인 데이터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4636008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국내 유일 사출성형 공개 데이터셋 활용 → 레퍼런스 모델로 즉각 영업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29000" y="4636008"/>
            <a:ext cx="822960" cy="237744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46360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EFEF"/>
                </a:solidFill>
                <a:latin typeface="Noto Sans KR"/>
              </a:rPr>
              <a:t>End-to-End 구현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4636008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데이터 수집부터 SHAP 설명까지 단일 팀이 전 스택 직접 개발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4636008"/>
            <a:ext cx="822960" cy="237744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46360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EFEF"/>
                </a:solidFill>
                <a:latin typeface="Noto Sans KR"/>
              </a:rPr>
              <a:t>현장 검증 설계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4636008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외부 기계 검증(Cross-Machine) + Pseudo Hold-out으로 Circular Evaluation 방지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4636008"/>
            <a:ext cx="822960" cy="237744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98280" y="46360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EFEF"/>
                </a:solidFill>
                <a:latin typeface="Noto Sans KR"/>
              </a:rPr>
              <a:t>빠른 PoC 전환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12680" y="4636008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REPRODUCE.md 5단계 → 신규 고객사 데이터로 2주 내 커스텀 모델 납품 가능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5715000"/>
            <a:ext cx="11365992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583387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Noto Sans KR"/>
              </a:rPr>
              <a:t>2026 스마트 공장 운영 시스템 MVP 개발 해커톤  ·  개발 기간: 2026년 4월~5월  ·  KAMP 공개 데이터 활용  ·  예선 제출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38100" cy="41148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2121"/>
                </a:solidFill>
                <a:latin typeface="Noto Sans KR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EFEF"/>
                </a:solidFill>
                <a:latin typeface="Noto Sans KR"/>
              </a:rPr>
              <a:t>학술 레퍼런스 &amp; 차별화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KR"/>
              </a:rPr>
              <a:t>References &amp; Novelty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6400800" cy="51206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2121"/>
                </a:solidFill>
                <a:latin typeface="Noto Sans KR"/>
              </a:rPr>
              <a:t>본 연구 vs 선행 연구 — 직접 비교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98448"/>
            <a:ext cx="603504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1417320" cy="310896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FEFEF"/>
                </a:solidFill>
                <a:latin typeface="Noto Sans KR"/>
              </a:rPr>
              <a:t>연구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417320"/>
            <a:ext cx="1325880" cy="310896"/>
          </a:xfrm>
          <a:prstGeom prst="rect">
            <a:avLst/>
          </a:prstGeom>
          <a:solidFill>
            <a:srgbClr val="11111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41732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FEFEF"/>
                </a:solidFill>
                <a:latin typeface="Noto Sans KR"/>
              </a:rPr>
              <a:t>데이터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417320"/>
            <a:ext cx="1463040" cy="310896"/>
          </a:xfrm>
          <a:prstGeom prst="rect">
            <a:avLst/>
          </a:prstGeom>
          <a:solidFill>
            <a:srgbClr val="11111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417320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FEFEF"/>
                </a:solidFill>
                <a:latin typeface="Noto Sans KR"/>
              </a:rPr>
              <a:t>모델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417320"/>
            <a:ext cx="822960" cy="310896"/>
          </a:xfrm>
          <a:prstGeom prst="rect">
            <a:avLst/>
          </a:prstGeom>
          <a:solidFill>
            <a:srgbClr val="11111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41732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FEFEF"/>
                </a:solidFill>
                <a:latin typeface="Noto Sans KR"/>
              </a:rPr>
              <a:t>학습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3560" y="1417320"/>
            <a:ext cx="1371600" cy="310896"/>
          </a:xfrm>
          <a:prstGeom prst="rect">
            <a:avLst/>
          </a:prstGeom>
          <a:solidFill>
            <a:srgbClr val="11111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141732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FEFEF"/>
                </a:solidFill>
                <a:latin typeface="Noto Sans KR"/>
              </a:rPr>
              <a:t>성능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755648"/>
            <a:ext cx="1417320" cy="365760"/>
          </a:xfrm>
          <a:prstGeom prst="rect">
            <a:avLst/>
          </a:prstGeom>
          <a:solidFill>
            <a:srgbClr val="2A101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175564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D42121"/>
                </a:solidFill>
                <a:latin typeface="Noto Sans KR"/>
              </a:rPr>
              <a:t>본 연구 (2026)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1755648"/>
            <a:ext cx="1325880" cy="365760"/>
          </a:xfrm>
          <a:prstGeom prst="rect">
            <a:avLst/>
          </a:prstGeom>
          <a:solidFill>
            <a:srgbClr val="2A101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175564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D42121"/>
                </a:solidFill>
                <a:latin typeface="Noto Sans KR"/>
              </a:rPr>
              <a:t>KAMP 공개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1755648"/>
            <a:ext cx="1463040" cy="365760"/>
          </a:xfrm>
          <a:prstGeom prst="rect">
            <a:avLst/>
          </a:prstGeom>
          <a:solidFill>
            <a:srgbClr val="2A101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17556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D42121"/>
                </a:solidFill>
                <a:latin typeface="Noto Sans KR"/>
              </a:rPr>
              <a:t>AE+SHAP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1755648"/>
            <a:ext cx="822960" cy="365760"/>
          </a:xfrm>
          <a:prstGeom prst="rect">
            <a:avLst/>
          </a:prstGeom>
          <a:solidFill>
            <a:srgbClr val="2A101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175564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D42121"/>
                </a:solidFill>
                <a:latin typeface="Noto Sans KR"/>
              </a:rPr>
              <a:t>비지도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1755648"/>
            <a:ext cx="1371600" cy="365760"/>
          </a:xfrm>
          <a:prstGeom prst="rect">
            <a:avLst/>
          </a:prstGeom>
          <a:solidFill>
            <a:srgbClr val="2A101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60" y="1755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D42121"/>
                </a:solidFill>
                <a:latin typeface="Noto Sans KR"/>
              </a:rPr>
              <a:t>AUC 0.925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139696"/>
            <a:ext cx="141732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139696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EFEF"/>
                </a:solidFill>
                <a:latin typeface="Noto Sans KR"/>
              </a:rPr>
              <a:t>MDPI 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0" y="2139696"/>
            <a:ext cx="132588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0" y="2139696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KAMP 공개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37560" y="2139696"/>
            <a:ext cx="146304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213969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XGB/LGBM+XAI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2139696"/>
            <a:ext cx="82296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213969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지도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23560" y="2139696"/>
            <a:ext cx="137160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23560" y="21396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1.00→0.13%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2523744"/>
            <a:ext cx="141732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2523744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EFEF"/>
                </a:solidFill>
                <a:latin typeface="Noto Sans KR"/>
              </a:rPr>
              <a:t>arXiv:2511.08108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1680" y="2523744"/>
            <a:ext cx="132588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11680" y="2523744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사출 (자체)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37560" y="2523744"/>
            <a:ext cx="146304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7560" y="252374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LSTM+SHAP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00600" y="2523744"/>
            <a:ext cx="82296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0600" y="252374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지도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23560" y="2523744"/>
            <a:ext cx="137160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60" y="25237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F1 0.92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2907792"/>
            <a:ext cx="141732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290779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EFEF"/>
                </a:solidFill>
                <a:latin typeface="Noto Sans KR"/>
              </a:rPr>
              <a:t>JMST 2025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11680" y="2907792"/>
            <a:ext cx="132588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11680" y="29077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사출 (자체)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37560" y="2907792"/>
            <a:ext cx="146304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37560" y="29077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VAE+GAN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00600" y="2907792"/>
            <a:ext cx="82296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00600" y="290779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반지도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23560" y="2907792"/>
            <a:ext cx="137160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23560" y="29077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소표본 안정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3291840"/>
            <a:ext cx="141732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32918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EFEF"/>
                </a:solidFill>
                <a:latin typeface="Noto Sans KR"/>
              </a:rPr>
              <a:t>Yoo JCDE 2023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11680" y="3291840"/>
            <a:ext cx="132588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11680" y="32918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사출 (자체)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37560" y="3291840"/>
            <a:ext cx="146304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37560" y="3291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Ensemble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00600" y="3291840"/>
            <a:ext cx="82296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00600" y="32918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지도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23560" y="3291840"/>
            <a:ext cx="137160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2356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Recall 우선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" y="3675888"/>
            <a:ext cx="141732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367588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EFEF"/>
                </a:solidFill>
                <a:latin typeface="Noto Sans KR"/>
              </a:rPr>
              <a:t>Ketonen ICPS 2021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11680" y="3675888"/>
            <a:ext cx="132588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11680" y="367588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사출 (자체)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37560" y="3675888"/>
            <a:ext cx="146304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37560" y="36758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VAE+RNN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00600" y="3675888"/>
            <a:ext cx="82296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800600" y="36758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반지도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23560" y="3675888"/>
            <a:ext cx="137160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23560" y="36758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FEFEF"/>
                </a:solidFill>
                <a:latin typeface="Noto Sans KR"/>
              </a:rPr>
              <a:t>RC 분석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" y="4206240"/>
            <a:ext cx="6126480" cy="1691640"/>
          </a:xfrm>
          <a:prstGeom prst="rect">
            <a:avLst/>
          </a:prstGeom>
          <a:solidFill>
            <a:srgbClr val="111111"/>
          </a:solidFill>
          <a:ln w="1270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7240" y="42976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2121"/>
                </a:solidFill>
                <a:latin typeface="Noto Sans KR"/>
              </a:rPr>
              <a:t>본 연구 차별화 4가지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7240" y="461772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2121"/>
                </a:solidFill>
                <a:latin typeface="Noto Sans KR"/>
              </a:rPr>
              <a:t>1.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1560" y="4617720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EFEF"/>
                </a:solidFill>
                <a:latin typeface="Noto Sans KR"/>
              </a:rPr>
              <a:t>공개 KAMP 24센서 데이터 — 학술적 재현성 확보 (대부분 선행연구는 비공개)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7240" y="49103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2121"/>
                </a:solidFill>
                <a:latin typeface="Noto Sans KR"/>
              </a:rPr>
              <a:t>2.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1560" y="4910328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EFEF"/>
                </a:solidFill>
                <a:latin typeface="Noto Sans KR"/>
              </a:rPr>
              <a:t>비지도 AE + KernelSHAP — 라벨 없이도 설명 가능 (KAMP 선행연구는 모두 지도학습)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7240" y="520293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2121"/>
                </a:solidFill>
                <a:latin typeface="Noto Sans KR"/>
              </a:rPr>
              <a:t>3.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1560" y="5202936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EFEF"/>
                </a:solidFill>
                <a:latin typeface="Noto Sans KR"/>
              </a:rPr>
              <a:t>Cross-Machine + Bootstrap 95% CI — 통계적 검증 강화 (선행연구 대부분 single-split)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7240" y="549554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2121"/>
                </a:solidFill>
                <a:latin typeface="Noto Sans KR"/>
              </a:rPr>
              <a:t>4.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1560" y="5495544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EFEF"/>
                </a:solidFill>
                <a:latin typeface="Noto Sans KR"/>
              </a:rPr>
              <a:t>24개 처방 통합 — 탐지+원인+조치를 단일 시스템에 결합 (선행연구는 탐지만)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95160" y="914400"/>
            <a:ext cx="4800600" cy="51206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78040" y="10058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2121"/>
                </a:solidFill>
                <a:latin typeface="Noto Sans KR"/>
              </a:rPr>
              <a:t>핵심 인용 레퍼런스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178040" y="1298448"/>
            <a:ext cx="4480560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178040" y="1463040"/>
            <a:ext cx="164592" cy="5029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06640" y="146304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EFEF"/>
                </a:solidFill>
                <a:latin typeface="Noto Sans KR"/>
              </a:rPr>
              <a:t>MDPI Processes 13(3), 912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06640" y="1664208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KR"/>
              </a:rPr>
              <a:t>(2025) KAMP XGB/LGBM XAI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06640" y="1828800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42121"/>
                </a:solidFill>
                <a:latin typeface="Noto Sans KR"/>
              </a:rPr>
              <a:t>적용: 직접 비교 대상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178040" y="2084832"/>
            <a:ext cx="164592" cy="5029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06640" y="20848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EFEF"/>
                </a:solidFill>
                <a:latin typeface="Noto Sans KR"/>
              </a:rPr>
              <a:t>arXiv:2511.08108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06640" y="2286000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KR"/>
              </a:rPr>
              <a:t>(2025) LSTM + SHAP/Grad-CAM/LIME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06640" y="2450592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42121"/>
                </a:solidFill>
                <a:latin typeface="Noto Sans KR"/>
              </a:rPr>
              <a:t>적용: SHAP 결과 해석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178040" y="2706624"/>
            <a:ext cx="164592" cy="5029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406640" y="2706624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EFEF"/>
                </a:solidFill>
                <a:latin typeface="Noto Sans KR"/>
              </a:rPr>
              <a:t>Ketonen &amp; Blech ICPS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06640" y="290779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KR"/>
              </a:rPr>
              <a:t>(2021) VAE+RNN 사출 root-cause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06640" y="3072384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42121"/>
                </a:solidFill>
                <a:latin typeface="Noto Sans KR"/>
              </a:rPr>
              <a:t>적용: 관련 연구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178040" y="3328416"/>
            <a:ext cx="164592" cy="5029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406640" y="3328416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EFEF"/>
                </a:solidFill>
                <a:latin typeface="Noto Sans KR"/>
              </a:rPr>
              <a:t>Brito et al. MAKE 6(1), 16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06640" y="3529584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KR"/>
              </a:rPr>
              <a:t>(2024) SHAP 베어링 98.5%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06640" y="3694176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42121"/>
                </a:solidFill>
                <a:latin typeface="Noto Sans KR"/>
              </a:rPr>
              <a:t>적용: 왜 SHAP인가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178040" y="3950208"/>
            <a:ext cx="164592" cy="5029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406640" y="395020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EFEF"/>
                </a:solidFill>
                <a:latin typeface="Noto Sans KR"/>
              </a:rPr>
              <a:t>PhysiCausalNet IEEE TII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06640" y="4151376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KR"/>
              </a:rPr>
              <a:t>(2024) Cross-Machine FD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406640" y="4315968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42121"/>
                </a:solidFill>
                <a:latin typeface="Noto Sans KR"/>
              </a:rPr>
              <a:t>적용: 외부 검증 방법론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78040" y="4572000"/>
            <a:ext cx="164592" cy="5029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406640" y="457200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EFEF"/>
                </a:solidFill>
                <a:latin typeface="Noto Sans KR"/>
              </a:rPr>
              <a:t>EWAD-IIoT WGAN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06640" y="4773168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KR"/>
              </a:rPr>
              <a:t>(2025) Sci. Reports — 95% CI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406640" y="4937760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42121"/>
                </a:solidFill>
                <a:latin typeface="Noto Sans KR"/>
              </a:rPr>
              <a:t>적용: Bootstrap CI 정당성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178040" y="5193792"/>
            <a:ext cx="164592" cy="50292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406640" y="519379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EFEF"/>
                </a:solidFill>
                <a:latin typeface="Noto Sans KR"/>
              </a:rPr>
              <a:t>Survey arXiv:2503.13195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406640" y="5394960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KR"/>
              </a:rPr>
              <a:t>(2025) Deep AD 종합 서베이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06640" y="5559552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42121"/>
                </a:solidFill>
                <a:latin typeface="Noto Sans KR"/>
              </a:rPr>
              <a:t>적용: Motivation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11480" y="6199632"/>
            <a:ext cx="11365992" cy="25400"/>
          </a:xfrm>
          <a:prstGeom prst="rect">
            <a:avLst/>
          </a:prstGeom>
          <a:solidFill>
            <a:srgbClr val="D421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888"/>
                </a:solidFill>
                <a:latin typeface="Noto Sans KR"/>
              </a:rPr>
              <a:t>사출성형은 표준 벤치마크(CWRU bearing 같은)가 부재 — 본 연구는 KAMP 공개 데이터 + Bootstrap CI로 학술적 재현성 / 통계적 신뢰도 모두 확보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