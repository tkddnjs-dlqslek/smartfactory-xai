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4552" cy="640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3400" b="1" i="0">
                <a:solidFill>
                  <a:srgbClr val="1A2B5C"/>
                </a:solidFill>
                <a:latin typeface="Noto Sans KR"/>
              </a:rPr>
              <a:t>2026 스마트 공장 운영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23160"/>
            <a:ext cx="11274552" cy="640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3400" b="1" i="0">
                <a:solidFill>
                  <a:srgbClr val="1A2B5C"/>
                </a:solidFill>
                <a:latin typeface="Noto Sans KR"/>
              </a:rPr>
              <a:t>MVP 개발 해커톤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127248"/>
            <a:ext cx="6702552" cy="44450"/>
          </a:xfrm>
          <a:prstGeom prst="rect">
            <a:avLst/>
          </a:prstGeom>
          <a:solidFill>
            <a:srgbClr val="0E1B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Noto Sans KR"/>
              </a:rPr>
              <a:t>예선 기획서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114800"/>
            <a:ext cx="18288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4114800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1A2B5C"/>
                </a:solidFill>
                <a:latin typeface="Noto Sans KR"/>
              </a:rPr>
              <a:t>팀명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1480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114800"/>
            <a:ext cx="320040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Noto Sans KR"/>
              </a:rPr>
              <a:t>[ 팀명 작성란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4617720"/>
            <a:ext cx="18288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617720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1A2B5C"/>
                </a:solidFill>
                <a:latin typeface="Noto Sans KR"/>
              </a:rPr>
              <a:t>프로젝트명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461772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4617720"/>
            <a:ext cx="320040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Noto Sans KR"/>
              </a:rPr>
              <a:t>SmartFactory XAI — 사출성형 이상탐지·진단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126480"/>
            <a:ext cx="228600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Noto Sans KR"/>
              </a:rPr>
              <a:t>주최 · 주관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355080"/>
            <a:ext cx="5029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000" b="1" i="0">
                <a:solidFill>
                  <a:srgbClr val="1A2B5C"/>
                </a:solidFill>
                <a:latin typeface="Noto Sans KR"/>
              </a:rPr>
              <a:t>차세대융합기술연구원 (AICT)  ·  DACON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Noto Sans KR"/>
              </a:rPr>
              <a:t>■ 예선 산출물 – 1. 문제 정의 (Problem Definition)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46888"/>
            <a:ext cx="4114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Noto Sans KR"/>
              </a:rPr>
              <a:t>2026 스마트 공장 운영 시스템 MVP 개발 해커톤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4300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 i="0">
                <a:solidFill>
                  <a:srgbClr val="1A2B5C"/>
                </a:solidFill>
                <a:latin typeface="Noto Sans KR"/>
              </a:rPr>
              <a:t>1. 문제 정의 (Problem Definition)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84280" cy="31750"/>
          </a:xfrm>
          <a:prstGeom prst="rect">
            <a:avLst/>
          </a:prstGeom>
          <a:solidFill>
            <a:srgbClr val="0E1B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58521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해결하고자 하는 제조 현장 문제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27632"/>
            <a:ext cx="585216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38100" cy="56692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82496"/>
            <a:ext cx="54864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Noto Sans KR"/>
              </a:rPr>
              <a:t>1.  불량 발생 인지 지연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48640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Noto Sans KR"/>
              </a:rPr>
              <a:t>작업자 육안 검사 한계 → 수백 개 불량 후 인지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67712"/>
            <a:ext cx="585216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267712"/>
            <a:ext cx="38100" cy="56692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22576"/>
            <a:ext cx="54864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Noto Sans KR"/>
              </a:rPr>
              <a:t>2.  원인 분석 1~2시간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548640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Noto Sans KR"/>
              </a:rPr>
              <a:t>24개 센서 동시 모니터링 불가 → 재발 방지 어려움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07792"/>
            <a:ext cx="585216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907792"/>
            <a:ext cx="38100" cy="56692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62656"/>
            <a:ext cx="54864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Noto Sans KR"/>
              </a:rPr>
              <a:t>3.  사후 대응 반복 사이클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548640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Noto Sans KR"/>
              </a:rPr>
              <a:t>불량 → 라인 정지 → 수동 검사 → 재가동 무한 반복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47872"/>
            <a:ext cx="585216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547872"/>
            <a:ext cx="38100" cy="56692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02736"/>
            <a:ext cx="54864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Noto Sans KR"/>
              </a:rPr>
              <a:t>4.  IT 전담인력 부재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548640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Noto Sans KR"/>
              </a:rPr>
              <a:t>중소 사출성형 공장 50인 규모 — AI 도입 진입장벽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298448"/>
            <a:ext cx="54864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적용 대상 페르소나 · 활용 목적 · 시장 배경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627632"/>
            <a:ext cx="5486400" cy="3493008"/>
          </a:xfrm>
          <a:prstGeom prst="rect">
            <a:avLst/>
          </a:prstGeom>
          <a:solidFill>
            <a:srgbClr val="EEF2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691640"/>
            <a:ext cx="5212080" cy="34015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 i="0">
                <a:solidFill>
                  <a:srgbClr val="1A2B5C"/>
                </a:solidFill>
                <a:latin typeface="Noto Sans KR"/>
              </a:rPr>
              <a:t>현장 페르소나 (구체 수치 기반)</a:t>
            </a:r>
          </a:p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작업자 김OO (사출성형 5년차, 시급 12,000원, 3교대 근무)</a:t>
            </a:r>
          </a:p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일일 생산: 약 6,000샷 · 점검 가능량 35,000샷 중 일부만</a:t>
            </a:r>
          </a:p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월 평균 불량 25건 · 인지 지연 평균 2~4시간 · 수기 일지</a:t>
            </a:r>
          </a:p>
          <a:p>
            <a:pPr algn="l">
              <a:lnSpc>
                <a:spcPct val="116000"/>
              </a:lnSpc>
            </a:pPr>
            <a:r>
              <a:rPr sz="1050" b="1" i="0">
                <a:solidFill>
                  <a:srgbClr val="1A2B5C"/>
                </a:solidFill>
                <a:latin typeface="Noto Sans KR"/>
              </a:rPr>
              <a:t>적용 대상 &amp; 영역</a:t>
            </a:r>
          </a:p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중소 사출성형 공장 (50인 규모, IT 전담 인력 부재)</a:t>
            </a:r>
          </a:p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정부 스마트공장 보급사업 (2025~2027, 3만개사 대상)</a:t>
            </a:r>
          </a:p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24센서 실시간 모니터링 + SHAP 원인 진단 + 처방 자동</a:t>
            </a:r>
          </a:p>
          <a:p>
            <a:pPr algn="l">
              <a:lnSpc>
                <a:spcPct val="116000"/>
              </a:lnSpc>
            </a:pPr>
            <a:r>
              <a:rPr sz="1050" b="1" i="0">
                <a:solidFill>
                  <a:srgbClr val="C00000"/>
                </a:solidFill>
                <a:latin typeface="Noto Sans KR"/>
              </a:rPr>
              <a:t>활용 목적 (도입 후 변화)</a:t>
            </a:r>
          </a:p>
          <a:p>
            <a:pPr algn="l">
              <a:lnSpc>
                <a:spcPct val="116000"/>
              </a:lnSpc>
            </a:pPr>
            <a:r>
              <a:rPr sz="850" b="1" i="0">
                <a:solidFill>
                  <a:srgbClr val="1A1A1A"/>
                </a:solidFill>
                <a:latin typeface="Noto Sans KR"/>
              </a:rPr>
              <a:t>• 점검 시간 2시간 → 수 초 (자동화) · 작업자 시간 -90%</a:t>
            </a:r>
          </a:p>
          <a:p>
            <a:pPr algn="l">
              <a:lnSpc>
                <a:spcPct val="116000"/>
              </a:lnSpc>
            </a:pPr>
            <a:r>
              <a:rPr sz="850" b="1" i="0">
                <a:solidFill>
                  <a:srgbClr val="1A1A1A"/>
                </a:solidFill>
                <a:latin typeface="Noto Sans KR"/>
              </a:rPr>
              <a:t>• 수동 점검 인력 1명 대체 = 연 5,000만원 인건비 절감</a:t>
            </a:r>
          </a:p>
          <a:p>
            <a:pPr algn="l">
              <a:lnSpc>
                <a:spcPct val="116000"/>
              </a:lnSpc>
            </a:pPr>
            <a:r>
              <a:rPr sz="850" b="1" i="0">
                <a:solidFill>
                  <a:srgbClr val="C00000"/>
                </a:solidFill>
                <a:latin typeface="Noto Sans KR"/>
              </a:rPr>
              <a:t>• 불량 1건당 50만원 손실 × 200건/년 = 1억원 직접 회피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285232"/>
            <a:ext cx="114300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해결 후 기대 KPI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605272"/>
            <a:ext cx="2743200" cy="777240"/>
          </a:xfrm>
          <a:prstGeom prst="rect">
            <a:avLst/>
          </a:prstGeom>
          <a:solidFill>
            <a:srgbClr val="F5F5F5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650992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Noto Sans KR"/>
              </a:rPr>
              <a:t>Recall 0.667+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43600"/>
            <a:ext cx="256032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Noto Sans KR"/>
              </a:rPr>
              <a:t>불량 10건 중
6.7건 자동 탐지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3552" y="5605272"/>
            <a:ext cx="2743200" cy="777240"/>
          </a:xfrm>
          <a:prstGeom prst="rect">
            <a:avLst/>
          </a:prstGeom>
          <a:solidFill>
            <a:srgbClr val="F5F5F5"/>
          </a:solidFill>
          <a:ln w="1524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64992" y="5650992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A2B5C"/>
                </a:solidFill>
                <a:latin typeface="Noto Sans KR"/>
              </a:rPr>
              <a:t>응답 즉시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4992" y="5943600"/>
            <a:ext cx="256032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Noto Sans KR"/>
              </a:rPr>
              <a:t>원인 분석
2시간 → 수 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35624" y="5605272"/>
            <a:ext cx="2743200" cy="777240"/>
          </a:xfrm>
          <a:prstGeom prst="rect">
            <a:avLst/>
          </a:prstGeom>
          <a:solidFill>
            <a:srgbClr val="F5F5F5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7064" y="5650992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oto Sans KR"/>
              </a:rPr>
              <a:t>연 1억원 절감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7064" y="5943600"/>
            <a:ext cx="256032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Noto Sans KR"/>
              </a:rPr>
              <a:t>월 25건 × 50만원
× 12개월 ROI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97696" y="5605272"/>
            <a:ext cx="2743200" cy="777240"/>
          </a:xfrm>
          <a:prstGeom prst="rect">
            <a:avLst/>
          </a:prstGeom>
          <a:solidFill>
            <a:srgbClr val="F5F5F5"/>
          </a:solidFill>
          <a:ln w="1524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5650992"/>
            <a:ext cx="256032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A2B5C"/>
                </a:solidFill>
                <a:latin typeface="Noto Sans KR"/>
              </a:rPr>
              <a:t>ROI 4.2배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5943600"/>
            <a:ext cx="256032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Noto Sans KR"/>
              </a:rPr>
              <a:t>월 200만 SaaS 대비
절감액 회수율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Noto Sans KR"/>
              </a:rPr>
              <a:t>주최/주관: 차세대융합기술연구원 (AICT)  ·  DACON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Noto Sans KR"/>
              </a:rPr>
              <a:t>■ 예선 산출물 – 2. 제안 솔루션 개요 (Solution Overview)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46888"/>
            <a:ext cx="4114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Noto Sans KR"/>
              </a:rPr>
              <a:t>2026 스마트 공장 운영 시스템 MVP 개발 해커톤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4300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 i="0">
                <a:solidFill>
                  <a:srgbClr val="1A2B5C"/>
                </a:solidFill>
                <a:latin typeface="Noto Sans KR"/>
              </a:rPr>
              <a:t>2. 제안 솔루션 개요 (Solution Overview)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84280" cy="31750"/>
          </a:xfrm>
          <a:prstGeom prst="rect">
            <a:avLst/>
          </a:prstGeom>
          <a:solidFill>
            <a:srgbClr val="0E1B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98448"/>
            <a:ext cx="11384280" cy="640080"/>
          </a:xfrm>
          <a:prstGeom prst="rect">
            <a:avLst/>
          </a:prstGeom>
          <a:solidFill>
            <a:srgbClr val="1A2B5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3842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"/>
              </a:rPr>
              <a:t>"라인이 멈추기 전에 AI가 먼저 알린다"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64208"/>
            <a:ext cx="113842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Noto Sans KR"/>
              </a:rPr>
              <a:t>정상 데이터로만 학습한 Autoencoder + SHAP XAI = 라벨 없이 이상탐지 + 원인 즉시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21408"/>
            <a:ext cx="58521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핵심 아이디어: 4단계 운영 자동화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95728"/>
            <a:ext cx="5852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457200" cy="38404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800" b="1" i="0">
                <a:solidFill>
                  <a:srgbClr val="C00000"/>
                </a:solidFill>
                <a:latin typeface="Noto Sans KR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1828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1A2B5C"/>
                </a:solidFill>
                <a:latin typeface="Noto Sans KR"/>
              </a:rPr>
              <a:t>탐지 (Detect)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24328"/>
            <a:ext cx="493776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Noto Sans KR"/>
              </a:rPr>
              <a:t>Autoencoder 복원오차 → ROC-AUC 0.9254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898648"/>
            <a:ext cx="5852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457200" cy="38404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800" b="1" i="0">
                <a:solidFill>
                  <a:srgbClr val="C00000"/>
                </a:solidFill>
                <a:latin typeface="Noto Sans KR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1828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1A2B5C"/>
                </a:solidFill>
                <a:latin typeface="Noto Sans KR"/>
              </a:rPr>
              <a:t>진단 (Diagnose)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93776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Noto Sans KR"/>
              </a:rPr>
              <a:t>SHAP KernelSHAP → 24센서 실시간 기여도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401568"/>
            <a:ext cx="5852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29000"/>
            <a:ext cx="457200" cy="38404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800" b="1" i="0">
                <a:solidFill>
                  <a:srgbClr val="C00000"/>
                </a:solidFill>
                <a:latin typeface="Noto Sans KR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29000"/>
            <a:ext cx="1828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1A2B5C"/>
                </a:solidFill>
                <a:latin typeface="Noto Sans KR"/>
              </a:rPr>
              <a:t>처방 (Prescribe)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30168"/>
            <a:ext cx="493776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Noto Sans KR"/>
              </a:rPr>
              <a:t>센서별 처방 카드 24개 (조작가능 / 정비필요 분류)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04488"/>
            <a:ext cx="5852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457200" cy="38404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800" b="1" i="0">
                <a:solidFill>
                  <a:srgbClr val="C00000"/>
                </a:solidFill>
                <a:latin typeface="Noto Sans KR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31920"/>
            <a:ext cx="18288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1A2B5C"/>
                </a:solidFill>
                <a:latin typeface="Noto Sans KR"/>
              </a:rPr>
              <a:t>추적 (Track)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8"/>
            <a:ext cx="493776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Noto Sans KR"/>
              </a:rPr>
              <a:t>이력 50건 + JSON 영속 + 일일 부서장 리포트 MD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434840"/>
            <a:ext cx="5852160" cy="365760"/>
          </a:xfrm>
          <a:prstGeom prst="rect">
            <a:avLst/>
          </a:prstGeom>
          <a:solidFill>
            <a:srgbClr val="FFEEEE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34840"/>
            <a:ext cx="18288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Noto Sans KR"/>
              </a:rPr>
              <a:t>↺ Feedback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617720"/>
            <a:ext cx="566928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Noto Sans KR"/>
              </a:rPr>
              <a:t>④ 추적 데이터 → ① 모델 재학습 (조치 결과·라벨 누적 → 정확도 지속 개선)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121408"/>
            <a:ext cx="54864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시스템 전체 구성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450592"/>
            <a:ext cx="5486400" cy="21488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542032"/>
            <a:ext cx="18288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입력 (Input)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542032"/>
            <a:ext cx="347472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24센서 실시간 / CSV 1행 / 슬라이더 시뮬레이터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834640"/>
            <a:ext cx="548640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Noto Sans KR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127248"/>
            <a:ext cx="18288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처리 (Pipeline)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127248"/>
            <a:ext cx="347472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StandardScaler → Autoencoder (24→16→8→16→24)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419856"/>
            <a:ext cx="548640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Noto Sans KR"/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712464"/>
            <a:ext cx="18288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XAI (SHAP)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712464"/>
            <a:ext cx="347472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KernelExplainer (배경 K-Means 50개) → 센서 기여도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005072"/>
            <a:ext cx="548640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Noto Sans KR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297680"/>
            <a:ext cx="18288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  <a:latin typeface="Noto Sans KR"/>
              </a:rPr>
              <a:t>출력 (Output)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297680"/>
            <a:ext cx="347472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이상점수 + 심각도 3단계 + 처방 + 이력 누적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4736592"/>
            <a:ext cx="11430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플랫폼 제공 가치 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029200"/>
            <a:ext cx="2743200" cy="1325880"/>
          </a:xfrm>
          <a:prstGeom prst="rect">
            <a:avLst/>
          </a:prstGeom>
          <a:solidFill>
            <a:srgbClr val="EEF2FA"/>
          </a:solidFill>
          <a:ln w="1270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120640"/>
            <a:ext cx="25603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1A2B5C"/>
                </a:solidFill>
                <a:latin typeface="Noto Sans KR"/>
              </a:rPr>
              <a:t>실시간 탐지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440680"/>
            <a:ext cx="256032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Noto Sans KR"/>
              </a:rPr>
              <a:t>ROC-AUC 0.9254
불량 인지 즉시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73552" y="5029200"/>
            <a:ext cx="2743200" cy="1325880"/>
          </a:xfrm>
          <a:prstGeom prst="rect">
            <a:avLst/>
          </a:prstGeom>
          <a:solidFill>
            <a:srgbClr val="EEF2FA"/>
          </a:solidFill>
          <a:ln w="1270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64992" y="5120640"/>
            <a:ext cx="25603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1A2B5C"/>
                </a:solidFill>
                <a:latin typeface="Noto Sans KR"/>
              </a:rPr>
              <a:t>원인 자동 진단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64992" y="5440680"/>
            <a:ext cx="256032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Noto Sans KR"/>
              </a:rPr>
              <a:t>SHAP 24센서 기여도
경험 의존 탈피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35624" y="5029200"/>
            <a:ext cx="2743200" cy="1325880"/>
          </a:xfrm>
          <a:prstGeom prst="rect">
            <a:avLst/>
          </a:prstGeom>
          <a:solidFill>
            <a:srgbClr val="EEF2FA"/>
          </a:solidFill>
          <a:ln w="1270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27064" y="5120640"/>
            <a:ext cx="25603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1A2B5C"/>
                </a:solidFill>
                <a:latin typeface="Noto Sans KR"/>
              </a:rPr>
              <a:t>처방 자동화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27064" y="5440680"/>
            <a:ext cx="256032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Noto Sans KR"/>
              </a:rPr>
              <a:t>센서별 24개 처방
조치 시간 단축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97696" y="5029200"/>
            <a:ext cx="2743200" cy="1325880"/>
          </a:xfrm>
          <a:prstGeom prst="rect">
            <a:avLst/>
          </a:prstGeom>
          <a:solidFill>
            <a:srgbClr val="EEF2FA"/>
          </a:solidFill>
          <a:ln w="1270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9136" y="5120640"/>
            <a:ext cx="25603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1A2B5C"/>
                </a:solidFill>
                <a:latin typeface="Noto Sans KR"/>
              </a:rPr>
              <a:t>이력 누적·표준화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89136" y="5440680"/>
            <a:ext cx="256032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Noto Sans KR"/>
              </a:rPr>
              <a:t>교대 인수인계 CSV
일일 리포트 MD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Noto Sans KR"/>
              </a:rPr>
              <a:t>주최/주관: 차세대융합기술연구원 (AICT)  ·  DACON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Noto Sans KR"/>
              </a:rPr>
              <a:t>■ 예선 산출물 – 3. 주요 기능 정의 (Key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46888"/>
            <a:ext cx="4114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Noto Sans KR"/>
              </a:rPr>
              <a:t>2026 스마트 공장 운영 시스템 MVP 개발 해커톤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4300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 i="0">
                <a:solidFill>
                  <a:srgbClr val="1A2B5C"/>
                </a:solidFill>
                <a:latin typeface="Noto Sans KR"/>
              </a:rPr>
              <a:t>3. 주요 기능 정의 (Key Features)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84280" cy="31750"/>
          </a:xfrm>
          <a:prstGeom prst="rect">
            <a:avLst/>
          </a:prstGeom>
          <a:solidFill>
            <a:srgbClr val="0E1B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2807208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38100" cy="1417320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325880"/>
            <a:ext cx="36576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Noto Sans KR"/>
              </a:rPr>
              <a:t>F1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15768" y="1353312"/>
            <a:ext cx="411480" cy="20116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1353312"/>
            <a:ext cx="4114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</a:rPr>
              <a:t>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572768"/>
            <a:ext cx="2624328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AI 자동 이상탐지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1901952"/>
            <a:ext cx="2624328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Autoencoder 복원오차 → ROC-AUC 0.9254
F1 0.7324, 95% CI [0.597, 0.835]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280160"/>
            <a:ext cx="2807208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1280160"/>
            <a:ext cx="38100" cy="1417320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1325880"/>
            <a:ext cx="36576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Noto Sans KR"/>
              </a:rPr>
              <a:t>F2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68696" y="1353312"/>
            <a:ext cx="411480" cy="20116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1353312"/>
            <a:ext cx="4114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</a:rPr>
              <a:t>MVP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572768"/>
            <a:ext cx="2624328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SHAP 원인 진단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1901952"/>
            <a:ext cx="2624328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KernelExplainer 24센서 실시간 기여도
Top-3 자동 도출 + Waterfall 시각화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17336" y="1280160"/>
            <a:ext cx="2807208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7336" y="1280160"/>
            <a:ext cx="38100" cy="1417320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1325880"/>
            <a:ext cx="36576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Noto Sans KR"/>
              </a:rPr>
              <a:t>F3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21624" y="1353312"/>
            <a:ext cx="411480" cy="20116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1353312"/>
            <a:ext cx="4114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</a:rPr>
              <a:t>MVP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7064" y="1572768"/>
            <a:ext cx="2624328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처방 카드 자동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7064" y="1901952"/>
            <a:ext cx="2624328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센서별 24개 처방 (조작가능/정비필요)
현장 작업자 즉시 조치 가능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70264" y="1280160"/>
            <a:ext cx="2807208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0264" y="1280160"/>
            <a:ext cx="38100" cy="1417320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992" y="1325880"/>
            <a:ext cx="36576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Noto Sans KR"/>
              </a:rPr>
              <a:t>F4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274552" y="1353312"/>
            <a:ext cx="411480" cy="20116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74552" y="1353312"/>
            <a:ext cx="4114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</a:rPr>
              <a:t>MVP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1572768"/>
            <a:ext cx="2624328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심각도 3단계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1901952"/>
            <a:ext cx="2624328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경고/위험/긴급 자동 분류
알람 에스컬레이션 (작업자→반장→부서장)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788920"/>
            <a:ext cx="2807208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2788920"/>
            <a:ext cx="38100" cy="1417320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" y="2834640"/>
            <a:ext cx="36576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Noto Sans KR"/>
              </a:rPr>
              <a:t>F5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15768" y="2862072"/>
            <a:ext cx="411480" cy="20116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15768" y="2862072"/>
            <a:ext cx="4114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</a:rPr>
              <a:t>MVP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" y="3081528"/>
            <a:ext cx="2624328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교대 인수인계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" y="3410712"/>
            <a:ext cx="2624328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이력 50건 누적 + JSON 영속
CSV 다운로드 + 인수인계 메모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4408" y="2788920"/>
            <a:ext cx="2807208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64408" y="2788920"/>
            <a:ext cx="38100" cy="1417320"/>
          </a:xfrm>
          <a:prstGeom prst="rect">
            <a:avLst/>
          </a:prstGeom>
          <a:solidFill>
            <a:srgbClr val="8888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74136" y="2834640"/>
            <a:ext cx="36576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Noto Sans KR"/>
              </a:rPr>
              <a:t>F6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68696" y="2862072"/>
            <a:ext cx="411480" cy="201168"/>
          </a:xfrm>
          <a:prstGeom prst="rect">
            <a:avLst/>
          </a:prstGeom>
          <a:solidFill>
            <a:srgbClr val="8888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68696" y="2862072"/>
            <a:ext cx="4114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</a:rPr>
              <a:t>본선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4136" y="3081528"/>
            <a:ext cx="2624328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Cross-Machine 검증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74136" y="3410712"/>
            <a:ext cx="2624328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별도 금형 세트 (CN7+RG3) 외부 검증
Circular Evaluation 방지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17336" y="2788920"/>
            <a:ext cx="2807208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17336" y="2788920"/>
            <a:ext cx="38100" cy="1417320"/>
          </a:xfrm>
          <a:prstGeom prst="rect">
            <a:avLst/>
          </a:prstGeom>
          <a:solidFill>
            <a:srgbClr val="8888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27064" y="2834640"/>
            <a:ext cx="36576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Noto Sans KR"/>
              </a:rPr>
              <a:t>F7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21624" y="2862072"/>
            <a:ext cx="411480" cy="201168"/>
          </a:xfrm>
          <a:prstGeom prst="rect">
            <a:avLst/>
          </a:prstGeom>
          <a:solidFill>
            <a:srgbClr val="8888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1624" y="2862072"/>
            <a:ext cx="4114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Noto Sans KR"/>
              </a:rPr>
              <a:t>본선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27064" y="3081528"/>
            <a:ext cx="2624328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일일 부서장 리포트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27064" y="3410712"/>
            <a:ext cx="2624328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Markdown 자동 생성
심각도 분포 + 조치 현황 집계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70264" y="2788920"/>
            <a:ext cx="2807208" cy="1417320"/>
          </a:xfrm>
          <a:prstGeom prst="rect">
            <a:avLst/>
          </a:prstGeom>
          <a:solidFill>
            <a:srgbClr val="1A2B5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61704" y="2834640"/>
            <a:ext cx="262432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Noto Sans KR"/>
              </a:rPr>
              <a:t>통합 플랫폼 흐름 (데이터+사용자)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9992" y="3118104"/>
            <a:ext cx="2606040" cy="10515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FFEEEE"/>
                </a:solidFill>
                <a:latin typeface="Noto Sans KR"/>
              </a:rPr>
              <a:t>[ 데이터 흐름 ]</a:t>
            </a:r>
          </a:p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FFFFFF"/>
                </a:solidFill>
                <a:latin typeface="Noto Sans KR"/>
              </a:rPr>
              <a:t>F1탐지 → F2진단(SHAP)</a:t>
            </a:r>
          </a:p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FFFFFF"/>
                </a:solidFill>
                <a:latin typeface="Noto Sans KR"/>
              </a:rPr>
              <a:t>→ F3처방 + F4심각도</a:t>
            </a:r>
          </a:p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FFFFFF"/>
                </a:solidFill>
                <a:latin typeface="Noto Sans KR"/>
              </a:rPr>
              <a:t>→ F5이력 + F7리포트</a:t>
            </a:r>
          </a:p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FFEEEE"/>
                </a:solidFill>
                <a:latin typeface="Noto Sans KR"/>
              </a:rPr>
              <a:t>↺ Feedback → 재학습</a:t>
            </a:r>
          </a:p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FFEEEE"/>
                </a:solidFill>
                <a:latin typeface="Noto Sans KR"/>
              </a:rPr>
              <a:t>[ 사용자 흐름 ]</a:t>
            </a:r>
          </a:p>
          <a:p>
            <a:pPr algn="l">
              <a:lnSpc>
                <a:spcPct val="105000"/>
              </a:lnSpc>
            </a:pPr>
            <a:r>
              <a:rPr sz="750" b="1" i="0">
                <a:solidFill>
                  <a:srgbClr val="FFFFFF"/>
                </a:solidFill>
                <a:latin typeface="Noto Sans KR"/>
              </a:rPr>
              <a:t>작업자 → 반장 → 부서장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4937760"/>
            <a:ext cx="11384280" cy="1417320"/>
          </a:xfrm>
          <a:prstGeom prst="rect">
            <a:avLst/>
          </a:prstGeom>
          <a:solidFill>
            <a:srgbClr val="EEF2FA"/>
          </a:solidFill>
          <a:ln w="1270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029200"/>
            <a:ext cx="11155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본선 MVP 핵심 기능 명확화 — 경쟁 솔루션 대비 차별화 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349240"/>
            <a:ext cx="219456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349240"/>
            <a:ext cx="219456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1" i="0">
                <a:solidFill>
                  <a:srgbClr val="1A2B5C"/>
                </a:solidFill>
                <a:latin typeface="Noto Sans KR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0" y="5349240"/>
            <a:ext cx="18288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0" y="5349240"/>
            <a:ext cx="18288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1" i="0">
                <a:solidFill>
                  <a:srgbClr val="1A2B5C"/>
                </a:solidFill>
                <a:latin typeface="Noto Sans KR"/>
              </a:rPr>
              <a:t>수동 점검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5349240"/>
            <a:ext cx="18288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0" y="5349240"/>
            <a:ext cx="18288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1" i="0">
                <a:solidFill>
                  <a:srgbClr val="1A2B5C"/>
                </a:solidFill>
                <a:latin typeface="Noto Sans KR"/>
              </a:rPr>
              <a:t>범용 MES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5349240"/>
            <a:ext cx="18288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5349240"/>
            <a:ext cx="18288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1" i="0">
                <a:solidFill>
                  <a:srgbClr val="1A2B5C"/>
                </a:solidFill>
                <a:latin typeface="Noto Sans KR"/>
              </a:rPr>
              <a:t>외부 컨설팅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5349240"/>
            <a:ext cx="2240280" cy="256032"/>
          </a:xfrm>
          <a:prstGeom prst="rect">
            <a:avLst/>
          </a:prstGeom>
          <a:solidFill>
            <a:srgbClr val="1A2B5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0" y="5349240"/>
            <a:ext cx="22402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Noto Sans KR"/>
              </a:rPr>
              <a:t>SmartFactory XAI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5605272"/>
            <a:ext cx="219456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605272"/>
            <a:ext cx="219456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1" i="0">
                <a:solidFill>
                  <a:srgbClr val="1A2B5C"/>
                </a:solidFill>
                <a:latin typeface="Noto Sans KR"/>
              </a:rPr>
              <a:t>실시간 탐지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0" y="5605272"/>
            <a:ext cx="182880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0" y="5605272"/>
            <a:ext cx="1828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Noto Sans KR"/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0" y="5605272"/>
            <a:ext cx="182880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0" y="5605272"/>
            <a:ext cx="1828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Noto Sans KR"/>
              </a:rPr>
              <a:t>△ 임계값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0" y="5605272"/>
            <a:ext cx="182880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0" y="5605272"/>
            <a:ext cx="1828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Noto Sans KR"/>
              </a:rPr>
              <a:t>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29600" y="5605272"/>
            <a:ext cx="2240280" cy="192024"/>
          </a:xfrm>
          <a:prstGeom prst="rect">
            <a:avLst/>
          </a:prstGeom>
          <a:solidFill>
            <a:srgbClr val="FFEEE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29600" y="5605272"/>
            <a:ext cx="224028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1" i="0">
                <a:solidFill>
                  <a:srgbClr val="C00000"/>
                </a:solidFill>
                <a:latin typeface="Noto Sans KR"/>
              </a:rPr>
              <a:t>✓ AI 자동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5797296"/>
            <a:ext cx="219456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5797296"/>
            <a:ext cx="219456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1" i="0">
                <a:solidFill>
                  <a:srgbClr val="1A2B5C"/>
                </a:solidFill>
                <a:latin typeface="Noto Sans KR"/>
              </a:rPr>
              <a:t>원인 진단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5797296"/>
            <a:ext cx="182880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0" y="5797296"/>
            <a:ext cx="1828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Noto Sans KR"/>
              </a:rPr>
              <a:t>△ 경험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0" y="5797296"/>
            <a:ext cx="182880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0" y="5797296"/>
            <a:ext cx="1828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Noto Sans KR"/>
              </a:rP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5797296"/>
            <a:ext cx="182880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0" y="5797296"/>
            <a:ext cx="1828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Noto Sans KR"/>
              </a:rPr>
              <a:t>△ 사후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29600" y="5797296"/>
            <a:ext cx="2240280" cy="192024"/>
          </a:xfrm>
          <a:prstGeom prst="rect">
            <a:avLst/>
          </a:prstGeom>
          <a:solidFill>
            <a:srgbClr val="FFEEE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29600" y="5797296"/>
            <a:ext cx="224028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1" i="0">
                <a:solidFill>
                  <a:srgbClr val="C00000"/>
                </a:solidFill>
                <a:latin typeface="Noto Sans KR"/>
              </a:rPr>
              <a:t>✓ SHAP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5989320"/>
            <a:ext cx="219456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5989320"/>
            <a:ext cx="219456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1" i="0">
                <a:solidFill>
                  <a:srgbClr val="1A2B5C"/>
                </a:solidFill>
                <a:latin typeface="Noto Sans KR"/>
              </a:rPr>
              <a:t>처방 자동화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0" y="5989320"/>
            <a:ext cx="182880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43200" y="5989320"/>
            <a:ext cx="1828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Noto Sans KR"/>
              </a:rPr>
              <a:t>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0" y="5989320"/>
            <a:ext cx="182880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0" y="5989320"/>
            <a:ext cx="1828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Noto Sans KR"/>
              </a:rPr>
              <a:t>✗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00800" y="5989320"/>
            <a:ext cx="182880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0" y="5989320"/>
            <a:ext cx="1828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Noto Sans KR"/>
              </a:rPr>
              <a:t>△ 보고서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229600" y="5989320"/>
            <a:ext cx="2240280" cy="192024"/>
          </a:xfrm>
          <a:prstGeom prst="rect">
            <a:avLst/>
          </a:prstGeom>
          <a:solidFill>
            <a:srgbClr val="FFEEE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229600" y="5989320"/>
            <a:ext cx="224028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1" i="0">
                <a:solidFill>
                  <a:srgbClr val="C00000"/>
                </a:solidFill>
                <a:latin typeface="Noto Sans KR"/>
              </a:rPr>
              <a:t>✓ 24개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40" y="6181344"/>
            <a:ext cx="219456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8640" y="6181344"/>
            <a:ext cx="219456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1" i="0">
                <a:solidFill>
                  <a:srgbClr val="1A2B5C"/>
                </a:solidFill>
                <a:latin typeface="Noto Sans KR"/>
              </a:rPr>
              <a:t>월 비용 / TCO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0" y="6181344"/>
            <a:ext cx="182880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743200" y="6181344"/>
            <a:ext cx="1828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Noto Sans KR"/>
              </a:rPr>
              <a:t>인건비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572000" y="6181344"/>
            <a:ext cx="182880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572000" y="6181344"/>
            <a:ext cx="1828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Noto Sans KR"/>
              </a:rPr>
              <a:t>수천만원/년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6181344"/>
            <a:ext cx="182880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0" y="6181344"/>
            <a:ext cx="182880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  <a:latin typeface="Noto Sans KR"/>
              </a:rPr>
              <a:t>회당 수백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29600" y="6181344"/>
            <a:ext cx="2240280" cy="192024"/>
          </a:xfrm>
          <a:prstGeom prst="rect">
            <a:avLst/>
          </a:prstGeom>
          <a:solidFill>
            <a:srgbClr val="FFEEE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29600" y="6181344"/>
            <a:ext cx="2240280" cy="19202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1" i="0">
                <a:solidFill>
                  <a:srgbClr val="C00000"/>
                </a:solidFill>
                <a:latin typeface="Noto Sans KR"/>
              </a:rPr>
              <a:t>월 200만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Noto Sans KR"/>
              </a:rPr>
              <a:t>주최/주관: 차세대융합기술연구원 (AICT)  ·  DACON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Noto Sans KR"/>
              </a:rPr>
              <a:t>■ 예선 산출물 – 4. 데이터 및 기술 활용 계획 (Data &amp; Tech Plan)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46888"/>
            <a:ext cx="4114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Noto Sans KR"/>
              </a:rPr>
              <a:t>2026 스마트 공장 운영 시스템 MVP 개발 해커톤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4300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 i="0">
                <a:solidFill>
                  <a:srgbClr val="1A2B5C"/>
                </a:solidFill>
                <a:latin typeface="Noto Sans KR"/>
              </a:rPr>
              <a:t>4. 데이터 및 기술 활용 계획 (Data &amp; Tech Plan)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84280" cy="31750"/>
          </a:xfrm>
          <a:prstGeom prst="rect">
            <a:avLst/>
          </a:prstGeom>
          <a:solidFill>
            <a:srgbClr val="0E1B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58521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활용 데이터 — KAMP 공공데이터포털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72768"/>
            <a:ext cx="585216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5577840" cy="1737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B5C"/>
                </a:solidFill>
                <a:latin typeface="Noto Sans KR"/>
              </a:rPr>
              <a:t>출처: data.go.kr/data/15089213 (KAMP)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supervised_label_cn7.csv  6,736행 (학습 + Pseudo Hold-out)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moldset_labeled_cn7/rg3.csv  외부 검증 (Cross-Machine)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unlabeled_data.csv  795,315행 (대규모 스코어링)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1A1A1A"/>
                </a:solidFill>
                <a:latin typeface="Noto Sans KR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B5C"/>
                </a:solidFill>
                <a:latin typeface="Noto Sans KR"/>
              </a:rPr>
              <a:t>24개 센서 분류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시간 5  /  위치 3  /  속도·RPM 3  /  압력 5  /  온도 8</a:t>
            </a:r>
          </a:p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C00000"/>
                </a:solidFill>
                <a:latin typeface="Noto Sans KR"/>
              </a:rPr>
              <a:t>불량 클래스 0.58% (39 / 6,736) — 극심한 불균형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474720"/>
            <a:ext cx="58521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데이터 처리 방식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767328"/>
            <a:ext cx="5852160" cy="132588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822191"/>
            <a:ext cx="5577840" cy="1234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StandardScaler — train fit only (data leakage 방지)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80/20 분할 (random_state=42, 재현성 고정)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학습: 정상 7,238 / 검증: 정상 1,810 + 불량 81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Bootstrap 95% CI 1,000회 (소표본 통계 신뢰성 확보)</a:t>
            </a:r>
          </a:p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A2B5C"/>
                </a:solidFill>
                <a:latin typeface="Noto Sans KR"/>
              </a:rPr>
              <a:t>• Pseudo Hold-out (마지막 20건 분리) + Cross-Machine 외부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4864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적용 AI / 분석 기술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72768"/>
            <a:ext cx="54864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27632"/>
            <a:ext cx="5212080" cy="1737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B5C"/>
                </a:solidFill>
                <a:latin typeface="Noto Sans KR"/>
              </a:rPr>
              <a:t>Autoencoder (PyTorch 2.3.1)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구조: 24→16→8→16→24 (BatchNorm + MSE + Adam)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비지도 학습 (정상 데이터만) — 0.58% 불균형 trivial 함정 회피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임계값: 99th percentile + F1-optimal 균형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1A1A1A"/>
                </a:solidFill>
                <a:latin typeface="Noto Sans KR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B5C"/>
                </a:solidFill>
                <a:latin typeface="Noto Sans KR"/>
              </a:rPr>
              <a:t>SHAP XAI (shap 0.48)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KernelExplainer + K-Means 50개 배경 압축 (안정성)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24센서 실시간 기여도 — Waterfall + Bar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74720"/>
            <a:ext cx="54864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사용 예정 기술 스택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767328"/>
            <a:ext cx="5486400" cy="132588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822191"/>
            <a:ext cx="5212080" cy="1234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ML: PyTorch 2.3 + scikit-learn 1.2 + SHAP 0.48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UI: Streamlit 1.36 + Plotly 5.22 + python-pptx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인프라: Python 3.11 (Anaconda) + 온프레미스 배포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본선: OPC-UA / MQTT 실시간 연동, AWS 옵션</a:t>
            </a:r>
          </a:p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1A2B5C"/>
                </a:solidFill>
                <a:latin typeface="Noto Sans KR"/>
              </a:rPr>
              <a:t>• 보안: 모델 SHA-256 무결성 검증 + JSON 이력 영속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166360"/>
            <a:ext cx="11430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학술 레퍼런스 + 차별화 + 기술적 제약 / 해결 전략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458968"/>
            <a:ext cx="5852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04688"/>
            <a:ext cx="5577840" cy="777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1A2B5C"/>
                </a:solidFill>
                <a:latin typeface="Noto Sans KR"/>
              </a:rPr>
              <a:t>핵심 인용 4개 (전체 7개 인용)</a:t>
            </a:r>
          </a:p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1A1A1A"/>
                </a:solidFill>
                <a:latin typeface="Noto Sans KR"/>
              </a:rPr>
              <a:t>• MDPI Processes 13(3),912 (2025) — KAMP 직접 비교</a:t>
            </a:r>
          </a:p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1A1A1A"/>
                </a:solidFill>
                <a:latin typeface="Noto Sans KR"/>
              </a:rPr>
              <a:t>• arXiv:2511.08108 (2025) — LSTM+SHAP F1 0.92</a:t>
            </a:r>
          </a:p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1A1A1A"/>
                </a:solidFill>
                <a:latin typeface="Noto Sans KR"/>
              </a:rPr>
              <a:t>• Brito MAKE 6(1),16 (2024) — SHAP 베어링 98.5%</a:t>
            </a:r>
          </a:p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1A1A1A"/>
                </a:solidFill>
                <a:latin typeface="Noto Sans KR"/>
              </a:rPr>
              <a:t>• PhysiCausalNet IEEE TII (2024) — Cross-Machine FD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458968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504688"/>
            <a:ext cx="5212080" cy="777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C00000"/>
                </a:solidFill>
                <a:latin typeface="Noto Sans KR"/>
              </a:rPr>
              <a:t>AI 실질 기여 — 의사결정 자동화 4단계</a:t>
            </a:r>
          </a:p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1A1A1A"/>
                </a:solidFill>
                <a:latin typeface="Noto Sans KR"/>
              </a:rPr>
              <a:t>①탐지 AI100%  ②원인진단 AI100%  ③처방추천 AI100%  ④최종조치 작업자</a:t>
            </a:r>
          </a:p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C00000"/>
                </a:solidFill>
                <a:latin typeface="Noto Sans KR"/>
              </a:rPr>
              <a:t>차별화 4가지 (선행연구 대비)</a:t>
            </a:r>
          </a:p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1A1A1A"/>
                </a:solidFill>
                <a:latin typeface="Noto Sans KR"/>
              </a:rPr>
              <a:t>①공개KAMP데이터  ②비지도+KernelSHAP  ③Cross-Machine+CI  ④24개처방통합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Noto Sans KR"/>
              </a:rPr>
              <a:t>주최/주관: 차세대융합기술연구원 (AICT)  ·  DACON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Noto Sans KR"/>
              </a:rPr>
              <a:t>■ 예선 산출물 – 5. 사용자 시나리오 / 유즈케이스 (User 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46888"/>
            <a:ext cx="4114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Noto Sans KR"/>
              </a:rPr>
              <a:t>2026 스마트 공장 운영 시스템 MVP 개발 해커톤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4300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 i="0">
                <a:solidFill>
                  <a:srgbClr val="1A2B5C"/>
                </a:solidFill>
                <a:latin typeface="Noto Sans KR"/>
              </a:rPr>
              <a:t>5. 사용자 시나리오 / 유즈케이스 (User Case)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84280" cy="31750"/>
          </a:xfrm>
          <a:prstGeom prst="rect">
            <a:avLst/>
          </a:prstGeom>
          <a:solidFill>
            <a:srgbClr val="0E1B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11430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주요 사용자 정의 — 공장 운영 3계층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72768"/>
            <a:ext cx="3703320" cy="1993392"/>
          </a:xfrm>
          <a:prstGeom prst="rect">
            <a:avLst/>
          </a:prstGeom>
          <a:solidFill>
            <a:srgbClr val="F5F5F5"/>
          </a:solidFill>
          <a:ln w="1524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3703320" cy="365760"/>
          </a:xfrm>
          <a:prstGeom prst="rect">
            <a:avLst/>
          </a:prstGeom>
          <a:solidFill>
            <a:srgbClr val="1A2B5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609344"/>
            <a:ext cx="22860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oto Sans KR"/>
              </a:rPr>
              <a:t>🛠 작업자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627632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Noto Sans KR"/>
              </a:rPr>
              <a:t>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29968"/>
            <a:ext cx="352044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• 사이드바 시나리오 선택 (정상/경고/위험/긴급)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352044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• 즉시 판정 + SHAP 처방 카드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352044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• 조치 완료 / 모니터링 / 정비 요청 기록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72384"/>
            <a:ext cx="352044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• 교대 인수인계 메모 작성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3671" y="1572768"/>
            <a:ext cx="3703320" cy="1993392"/>
          </a:xfrm>
          <a:prstGeom prst="rect">
            <a:avLst/>
          </a:prstGeom>
          <a:solidFill>
            <a:srgbClr val="F5F5F5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3671" y="1572768"/>
            <a:ext cx="3703320" cy="365760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1609344"/>
            <a:ext cx="22860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oto Sans KR"/>
              </a:rPr>
              <a:t>👤 반장 / 관리자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1" y="1627632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Noto Sans KR"/>
              </a:rPr>
              <a:t>Shift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2029968"/>
            <a:ext cx="352044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• 이상 이력 50건 + 심각도 집계 박스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1" y="2377440"/>
            <a:ext cx="352044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• 교대별 조치 현황 모니터링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2724912"/>
            <a:ext cx="352044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• 이상 이력 CSV 다운로드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3072384"/>
            <a:ext cx="352044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• 긴급 알람 시 작업자 지원·에스컬레이션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5862" y="1572768"/>
            <a:ext cx="3703320" cy="1993392"/>
          </a:xfrm>
          <a:prstGeom prst="rect">
            <a:avLst/>
          </a:prstGeom>
          <a:solidFill>
            <a:srgbClr val="F5F5F5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5862" y="1572768"/>
            <a:ext cx="3703320" cy="36576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0" y="1609344"/>
            <a:ext cx="22860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oto Sans KR"/>
              </a:rPr>
              <a:t>🏢 부서장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3302" y="1627632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Noto Sans KR"/>
              </a:rPr>
              <a:t>Department 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2" y="2029968"/>
            <a:ext cx="352044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• 일일 부서장 리포트 (Markdown) 자동 수신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2" y="2377440"/>
            <a:ext cx="352044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• 구간별 이상률 트렌드 차트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2" y="2724912"/>
            <a:ext cx="352044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• 외부 기계 검증 (CN7+RG3) 점검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2" y="3072384"/>
            <a:ext cx="352044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• 월 KPI 보고 (Recall, 비용 절감)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657600"/>
            <a:ext cx="11430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대표 시나리오 — 데모 시나리오 4종 (사이드바 즉시 적용)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50208"/>
            <a:ext cx="2743200" cy="2377440"/>
          </a:xfrm>
          <a:prstGeom prst="rect">
            <a:avLst/>
          </a:prstGeom>
          <a:solidFill>
            <a:srgbClr val="F5F5F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3950208"/>
            <a:ext cx="2743200" cy="411480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" y="3986784"/>
            <a:ext cx="50292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oto Sans KR"/>
              </a:rPr>
              <a:t>S1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023360"/>
            <a:ext cx="2103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Noto Sans KR"/>
              </a:rPr>
              <a:t>정상 운영 (NORMAL)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498848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1" i="0">
                <a:solidFill>
                  <a:srgbClr val="1A2B5C"/>
                </a:solidFill>
                <a:latin typeface="Noto Sans KR"/>
              </a:rPr>
              <a:t>[ 입력 패턴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736592"/>
            <a:ext cx="246888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모든 센서 정상 분포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212080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1" i="0">
                <a:solidFill>
                  <a:srgbClr val="1A2B5C"/>
                </a:solidFill>
                <a:latin typeface="Noto Sans KR"/>
              </a:rPr>
              <a:t>[ AI 응답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440680"/>
            <a:ext cx="246888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  <a:latin typeface="Noto Sans KR"/>
              </a:rPr>
              <a:t>정상 운영 유지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943600"/>
            <a:ext cx="24688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Noto Sans KR"/>
              </a:rPr>
              <a:t>→ 작업자 즉시 처방 확인 → 조치 → 이력 누적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73552" y="3950208"/>
            <a:ext cx="2743200" cy="2377440"/>
          </a:xfrm>
          <a:prstGeom prst="rect">
            <a:avLst/>
          </a:prstGeom>
          <a:solidFill>
            <a:srgbClr val="F5F5F5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73552" y="3950208"/>
            <a:ext cx="2743200" cy="411480"/>
          </a:xfrm>
          <a:prstGeom prst="rect">
            <a:avLst/>
          </a:prstGeom>
          <a:solidFill>
            <a:srgbClr val="FFA5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3986784"/>
            <a:ext cx="50292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oto Sans KR"/>
              </a:rPr>
              <a:t>S2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67912" y="4023360"/>
            <a:ext cx="2103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Noto Sans KR"/>
              </a:rPr>
              <a:t>경고 (WARNING)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0712" y="4498848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1" i="0">
                <a:solidFill>
                  <a:srgbClr val="1A2B5C"/>
                </a:solidFill>
                <a:latin typeface="Noto Sans KR"/>
              </a:rPr>
              <a:t>[ 입력 패턴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10712" y="4736592"/>
            <a:ext cx="246888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Max_Back_Pressure +3.5σ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0712" y="5212080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1" i="0">
                <a:solidFill>
                  <a:srgbClr val="1A2B5C"/>
                </a:solidFill>
                <a:latin typeface="Noto Sans KR"/>
              </a:rPr>
              <a:t>[ AI 응답 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10712" y="5440680"/>
            <a:ext cx="246888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1" i="0">
                <a:solidFill>
                  <a:srgbClr val="FFA500"/>
                </a:solidFill>
                <a:latin typeface="Noto Sans KR"/>
              </a:rPr>
              <a:t>10분 내 재측정 권고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10712" y="5943600"/>
            <a:ext cx="24688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Noto Sans KR"/>
              </a:rPr>
              <a:t>→ 작업자 즉시 처방 확인 → 조치 → 이력 누적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35624" y="3950208"/>
            <a:ext cx="2743200" cy="2377440"/>
          </a:xfrm>
          <a:prstGeom prst="rect">
            <a:avLst/>
          </a:prstGeom>
          <a:solidFill>
            <a:srgbClr val="F5F5F5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35624" y="3950208"/>
            <a:ext cx="2743200" cy="411480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45352" y="3986784"/>
            <a:ext cx="50292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oto Sans KR"/>
              </a:rPr>
              <a:t>S3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9984" y="4023360"/>
            <a:ext cx="2103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Noto Sans KR"/>
              </a:rPr>
              <a:t>위험 (DANGER)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72784" y="4498848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1" i="0">
                <a:solidFill>
                  <a:srgbClr val="1A2B5C"/>
                </a:solidFill>
                <a:latin typeface="Noto Sans KR"/>
              </a:rPr>
              <a:t>[ 입력 패턴 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72784" y="4736592"/>
            <a:ext cx="246888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Mold_Temperature_4 +4.2σ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2784" y="5212080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1" i="0">
                <a:solidFill>
                  <a:srgbClr val="1A2B5C"/>
                </a:solidFill>
                <a:latin typeface="Noto Sans KR"/>
              </a:rPr>
              <a:t>[ AI 응답 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2784" y="5440680"/>
            <a:ext cx="246888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Noto Sans KR"/>
              </a:rPr>
              <a:t>담당자 즉시 호출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72784" y="5943600"/>
            <a:ext cx="24688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Noto Sans KR"/>
              </a:rPr>
              <a:t>→ 작업자 즉시 처방 확인 → 조치 → 이력 누적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97696" y="3950208"/>
            <a:ext cx="2743200" cy="2377440"/>
          </a:xfrm>
          <a:prstGeom prst="rect">
            <a:avLst/>
          </a:prstGeom>
          <a:solidFill>
            <a:srgbClr val="F5F5F5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997696" y="3950208"/>
            <a:ext cx="2743200" cy="411480"/>
          </a:xfrm>
          <a:prstGeom prst="rect">
            <a:avLst/>
          </a:prstGeom>
          <a:solidFill>
            <a:srgbClr val="8B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07424" y="3986784"/>
            <a:ext cx="502920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oto Sans KR"/>
              </a:rPr>
              <a:t>S4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92056" y="4023360"/>
            <a:ext cx="2103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Noto Sans KR"/>
              </a:rPr>
              <a:t>긴급 (CRITICAL)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4856" y="4498848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1" i="0">
                <a:solidFill>
                  <a:srgbClr val="1A2B5C"/>
                </a:solidFill>
                <a:latin typeface="Noto Sans KR"/>
              </a:rPr>
              <a:t>[ 입력 패턴 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4856" y="4736592"/>
            <a:ext cx="246888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Noto Sans KR"/>
              </a:rPr>
              <a:t>Filling_Time +15σ (게이트)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34856" y="5212080"/>
            <a:ext cx="24688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1" i="0">
                <a:solidFill>
                  <a:srgbClr val="1A2B5C"/>
                </a:solidFill>
                <a:latin typeface="Noto Sans KR"/>
              </a:rPr>
              <a:t>[ AI 응답 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4856" y="5440680"/>
            <a:ext cx="246888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1" i="0">
                <a:solidFill>
                  <a:srgbClr val="8B0000"/>
                </a:solidFill>
                <a:latin typeface="Noto Sans KR"/>
              </a:rPr>
              <a:t>라인 정지 검토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34856" y="5943600"/>
            <a:ext cx="24688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Noto Sans KR"/>
              </a:rPr>
              <a:t>→ 작업자 즉시 처방 확인 → 조치 → 이력 누적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Noto Sans KR"/>
              </a:rPr>
              <a:t>주최/주관: 차세대융합기술연구원 (AICT)  ·  DACON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Noto Sans KR"/>
              </a:rPr>
              <a:t>■ 예선 산출물 – 6. MVP 구현 범위 (MVP Scope)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46888"/>
            <a:ext cx="4114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Noto Sans KR"/>
              </a:rPr>
              <a:t>2026 스마트 공장 운영 시스템 MVP 개발 해커톤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4300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 i="0">
                <a:solidFill>
                  <a:srgbClr val="1A2B5C"/>
                </a:solidFill>
                <a:latin typeface="Noto Sans KR"/>
              </a:rPr>
              <a:t>6. MVP 구현 범위 (MVP Scope)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84280" cy="31750"/>
          </a:xfrm>
          <a:prstGeom prst="rect">
            <a:avLst/>
          </a:prstGeom>
          <a:solidFill>
            <a:srgbClr val="0E1B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1384280" cy="502920"/>
          </a:xfrm>
          <a:prstGeom prst="rect">
            <a:avLst/>
          </a:prstGeom>
          <a:solidFill>
            <a:srgbClr val="1A2B5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777240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Noto Sans KR"/>
              </a:rPr>
              <a:t>심사위원 즉시 시연 가능 — Streamlit 5탭 / 데모 시나리오 4종 / 시연 체크리스트 10개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371600"/>
            <a:ext cx="33832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  <a:latin typeface="Noto Sans KR"/>
              </a:rPr>
              <a:t>데모 접속: streamlit run app.py → http://localhost:8501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6858000" cy="4480560"/>
          </a:xfrm>
          <a:prstGeom prst="rect">
            <a:avLst/>
          </a:prstGeom>
          <a:solidFill>
            <a:srgbClr val="F5F5F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6858000" cy="384048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658368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 KR"/>
              </a:rPr>
              <a:t>✅  예선 완료 — 심사위원 시연 체크리스트 10개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59152"/>
            <a:ext cx="3246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59152"/>
            <a:ext cx="365760" cy="713232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69464"/>
            <a:ext cx="3657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395728"/>
            <a:ext cx="219456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AI 자동 이상탐지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633472"/>
            <a:ext cx="219456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Noto Sans KR"/>
              </a:rPr>
              <a:t>ROC-AUC 0.925, F1 0.732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2816352"/>
            <a:ext cx="548640" cy="201168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2816352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1A2B5C"/>
                </a:solidFill>
                <a:latin typeface="Noto Sans KR"/>
              </a:rPr>
              <a:t>Tab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2359152"/>
            <a:ext cx="3246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2359152"/>
            <a:ext cx="365760" cy="713232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2569464"/>
            <a:ext cx="3657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2395728"/>
            <a:ext cx="219456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24센서 슬라이더 즉시 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2633472"/>
            <a:ext cx="219456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Noto Sans KR"/>
              </a:rPr>
              <a:t>복원 오차 실시간 계산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816352"/>
            <a:ext cx="548640" cy="201168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816352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1A2B5C"/>
                </a:solidFill>
                <a:latin typeface="Noto Sans KR"/>
              </a:rPr>
              <a:t>Tab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54680"/>
            <a:ext cx="3246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154680"/>
            <a:ext cx="365760" cy="713232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364992"/>
            <a:ext cx="3657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3191256"/>
            <a:ext cx="219456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데모 시나리오 4종 1클릭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3429000"/>
            <a:ext cx="219456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Noto Sans KR"/>
              </a:rPr>
              <a:t>정상/경고/위험/긴급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3611880"/>
            <a:ext cx="548640" cy="201168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361188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1A2B5C"/>
                </a:solidFill>
                <a:latin typeface="Noto Sans KR"/>
              </a:rPr>
              <a:t>사이드바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6200" y="3154680"/>
            <a:ext cx="3246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54680"/>
            <a:ext cx="365760" cy="713232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3364992"/>
            <a:ext cx="3657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3191256"/>
            <a:ext cx="219456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SHAP 24센서 기여도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3429000"/>
            <a:ext cx="219456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Noto Sans KR"/>
              </a:rPr>
              <a:t>KernelSHAP Waterfall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3611880"/>
            <a:ext cx="548640" cy="201168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61188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1A2B5C"/>
                </a:solidFill>
                <a:latin typeface="Noto Sans KR"/>
              </a:rPr>
              <a:t>Tab 2 / Tab 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950208"/>
            <a:ext cx="3246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3950208"/>
            <a:ext cx="365760" cy="713232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160520"/>
            <a:ext cx="3657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3986784"/>
            <a:ext cx="219456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처방 카드 자동 출력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" y="4224528"/>
            <a:ext cx="219456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Noto Sans KR"/>
              </a:rPr>
              <a:t>24개 센서별 조작/정비 구분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54680" y="4407408"/>
            <a:ext cx="548640" cy="201168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54680" y="4407408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1A2B5C"/>
                </a:solidFill>
                <a:latin typeface="Noto Sans KR"/>
              </a:rPr>
              <a:t>Tab 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86200" y="3950208"/>
            <a:ext cx="3246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3950208"/>
            <a:ext cx="365760" cy="713232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86200" y="4160520"/>
            <a:ext cx="3657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5112" y="3986784"/>
            <a:ext cx="219456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심각도 3단계 알람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5112" y="4224528"/>
            <a:ext cx="219456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Noto Sans KR"/>
              </a:rPr>
              <a:t>경고·위험·긴급 + 에스컬레이션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4407408"/>
            <a:ext cx="548640" cy="201168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4407408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1A2B5C"/>
                </a:solidFill>
                <a:latin typeface="Noto Sans KR"/>
              </a:rPr>
              <a:t>Tab 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745736"/>
            <a:ext cx="3246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745736"/>
            <a:ext cx="365760" cy="713232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956048"/>
            <a:ext cx="3657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" y="4782312"/>
            <a:ext cx="219456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이상 이력 50건 + CSV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" y="5020056"/>
            <a:ext cx="219456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Noto Sans KR"/>
              </a:rPr>
              <a:t>JSON 영속 + 인수인계 메모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54680" y="5202936"/>
            <a:ext cx="548640" cy="201168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54680" y="5202936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1A2B5C"/>
                </a:solidFill>
                <a:latin typeface="Noto Sans KR"/>
              </a:rPr>
              <a:t>Tab 2 하단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86200" y="4745736"/>
            <a:ext cx="3246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886200" y="4745736"/>
            <a:ext cx="365760" cy="713232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86200" y="4956048"/>
            <a:ext cx="3657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25112" y="4782312"/>
            <a:ext cx="219456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일일 부서장 리포트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25112" y="5020056"/>
            <a:ext cx="219456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Noto Sans KR"/>
              </a:rPr>
              <a:t>Markdown 자동 생성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7960" y="5202936"/>
            <a:ext cx="548640" cy="201168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37960" y="5202936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1A2B5C"/>
                </a:solidFill>
                <a:latin typeface="Noto Sans KR"/>
              </a:rPr>
              <a:t>Tab 2 하단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5541264"/>
            <a:ext cx="3246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02920" y="5541264"/>
            <a:ext cx="365760" cy="713232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5751576"/>
            <a:ext cx="3657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</a:rPr>
              <a:t>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1832" y="5577840"/>
            <a:ext cx="219456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Bootstrap 95% CI 평가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1832" y="5815584"/>
            <a:ext cx="219456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Noto Sans KR"/>
              </a:rPr>
              <a:t>1,000회 + Cross-Machine 검증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54680" y="5998464"/>
            <a:ext cx="548640" cy="201168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54680" y="5998464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1A2B5C"/>
                </a:solidFill>
                <a:latin typeface="Noto Sans KR"/>
              </a:rPr>
              <a:t>Tab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86200" y="5541264"/>
            <a:ext cx="3246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86200" y="5541264"/>
            <a:ext cx="365760" cy="713232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86200" y="5751576"/>
            <a:ext cx="3657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KR"/>
              </a:rPr>
              <a:t>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25112" y="5577840"/>
            <a:ext cx="219456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795K 일괄 스코어링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25112" y="5815584"/>
            <a:ext cx="219456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Noto Sans KR"/>
              </a:rPr>
              <a:t>비라벨 데이터 트렌드 분석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37960" y="5998464"/>
            <a:ext cx="548640" cy="201168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37960" y="5998464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1A2B5C"/>
                </a:solidFill>
                <a:latin typeface="Noto Sans KR"/>
              </a:rPr>
              <a:t>Tab 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06640" y="1874519"/>
            <a:ext cx="4434840" cy="4480560"/>
          </a:xfrm>
          <a:prstGeom prst="rect">
            <a:avLst/>
          </a:prstGeom>
          <a:solidFill>
            <a:srgbClr val="F5F5F5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06640" y="1874519"/>
            <a:ext cx="4434840" cy="38404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43800" y="1920240"/>
            <a:ext cx="420624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oto Sans KR"/>
              </a:rPr>
              <a:t>🎯  본선 구현 우선순위 P1~P5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43800" y="2377440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543800" y="2377440"/>
            <a:ext cx="411480" cy="74980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43800" y="2615184"/>
            <a:ext cx="41148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</a:rPr>
              <a:t>P1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46720" y="2414016"/>
            <a:ext cx="2743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OPC-UA/MQTT 실시간 연동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46720" y="2651760"/>
            <a:ext cx="27432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Noto Sans KR"/>
              </a:rPr>
              <a:t>PLC 직접 데이터 수신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835640" y="2606040"/>
            <a:ext cx="822960" cy="274320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835640" y="2606040"/>
            <a:ext cx="8229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 i="0">
                <a:solidFill>
                  <a:srgbClr val="1A2B5C"/>
                </a:solidFill>
                <a:latin typeface="Noto Sans KR"/>
              </a:rPr>
              <a:t>1.5개월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43800" y="3182112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543800" y="3182112"/>
            <a:ext cx="411480" cy="74980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543800" y="3419856"/>
            <a:ext cx="41148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</a:rPr>
              <a:t>P2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46720" y="3218688"/>
            <a:ext cx="2743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알람 자동화 (SMS/이메일)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6720" y="3456432"/>
            <a:ext cx="27432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Noto Sans KR"/>
              </a:rPr>
              <a:t>긴급 시 자동 발송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835640" y="3410712"/>
            <a:ext cx="822960" cy="274320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835640" y="3410712"/>
            <a:ext cx="8229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 i="0">
                <a:solidFill>
                  <a:srgbClr val="1A2B5C"/>
                </a:solidFill>
                <a:latin typeface="Noto Sans KR"/>
              </a:rPr>
              <a:t>2주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543800" y="3986784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543800" y="3986784"/>
            <a:ext cx="411480" cy="74980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43800" y="4224528"/>
            <a:ext cx="41148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</a:rPr>
              <a:t>P3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46720" y="4023360"/>
            <a:ext cx="2743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멀티 설비 모델 관리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46720" y="4261104"/>
            <a:ext cx="27432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Noto Sans KR"/>
              </a:rPr>
              <a:t>설비 ID별 임계값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835640" y="4215384"/>
            <a:ext cx="822960" cy="274320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835640" y="4215384"/>
            <a:ext cx="8229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 i="0">
                <a:solidFill>
                  <a:srgbClr val="1A2B5C"/>
                </a:solidFill>
                <a:latin typeface="Noto Sans KR"/>
              </a:rPr>
              <a:t>1개월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43800" y="4791456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543800" y="4791456"/>
            <a:ext cx="411480" cy="74980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43800" y="5029200"/>
            <a:ext cx="41148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</a:rPr>
              <a:t>P4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46720" y="4828032"/>
            <a:ext cx="2743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예측 정비 모듈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46720" y="5065776"/>
            <a:ext cx="27432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Noto Sans KR"/>
              </a:rPr>
              <a:t>고장 사전 예측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835640" y="5020056"/>
            <a:ext cx="822960" cy="274320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835640" y="5020056"/>
            <a:ext cx="8229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 i="0">
                <a:solidFill>
                  <a:srgbClr val="1A2B5C"/>
                </a:solidFill>
                <a:latin typeface="Noto Sans KR"/>
              </a:rPr>
              <a:t>1.5개월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43800" y="5596128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543800" y="5596128"/>
            <a:ext cx="411480" cy="749808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43800" y="5833872"/>
            <a:ext cx="41148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</a:rPr>
              <a:t>P5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46720" y="5632704"/>
            <a:ext cx="2743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2B5C"/>
                </a:solidFill>
                <a:latin typeface="Noto Sans KR"/>
              </a:rPr>
              <a:t>AWS 클라우드 옵션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046720" y="5870448"/>
            <a:ext cx="27432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Noto Sans KR"/>
              </a:rPr>
              <a:t>온프레미스+SaaS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835640" y="5824728"/>
            <a:ext cx="822960" cy="274320"/>
          </a:xfrm>
          <a:prstGeom prst="rect">
            <a:avLst/>
          </a:prstGeom>
          <a:solidFill>
            <a:srgbClr val="EEF2FA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835640" y="5824728"/>
            <a:ext cx="8229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00" b="1" i="0">
                <a:solidFill>
                  <a:srgbClr val="1A2B5C"/>
                </a:solidFill>
                <a:latin typeface="Noto Sans KR"/>
              </a:rPr>
              <a:t>1개월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11480" y="6400800"/>
            <a:ext cx="11384280" cy="0"/>
          </a:xfrm>
          <a:prstGeom prst="rect">
            <a:avLst/>
          </a:prstGeom>
          <a:noFill/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11480" y="6391656"/>
            <a:ext cx="11384280" cy="1645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50" b="0" i="1">
                <a:solidFill>
                  <a:srgbClr val="555555"/>
                </a:solidFill>
                <a:latin typeface="Noto Sans KR"/>
              </a:rPr>
              <a:t>재현 가이드: install.bat 원클릭  ·  REPRODUCE.md 7단계  ·  모델 SHA-256 무결성 검증 (verify_model.py)  ·  학술 레퍼런스 7개 인용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Noto Sans KR"/>
              </a:rPr>
              <a:t>주최/주관: 차세대융합기술연구원 (AICT)  ·  DACON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Noto Sans KR"/>
              </a:rPr>
              <a:t>■ 예선 산출물 – 7. 기대 효과 및 향후 확장성 (Expected Impact)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46888"/>
            <a:ext cx="4114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Noto Sans KR"/>
              </a:rPr>
              <a:t>2026 스마트 공장 운영 시스템 MVP 개발 해커톤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114300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 i="0">
                <a:solidFill>
                  <a:srgbClr val="1A2B5C"/>
                </a:solidFill>
                <a:latin typeface="Noto Sans KR"/>
              </a:rPr>
              <a:t>7. 기대 효과 및 향후 확장성 (Expected Impact)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84280" cy="31750"/>
          </a:xfrm>
          <a:prstGeom prst="rect">
            <a:avLst/>
          </a:prstGeom>
          <a:solidFill>
            <a:srgbClr val="0E1B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11430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정량 기대 효과 — 도입 첫해 기준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72768"/>
            <a:ext cx="2743200" cy="1143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256032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Noto Sans KR"/>
              </a:rPr>
              <a:t>Recall 0.667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256032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Noto Sans KR"/>
              </a:rPr>
              <a:t>월 25건 중
약 17건 자동 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256032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Noto Sans KR"/>
              </a:rPr>
              <a:t>불량 조기 인지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572768"/>
            <a:ext cx="2743200" cy="1143000"/>
          </a:xfrm>
          <a:prstGeom prst="rect">
            <a:avLst/>
          </a:prstGeom>
          <a:solidFill>
            <a:srgbClr val="F5F5F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627632"/>
            <a:ext cx="256032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oto Sans KR"/>
              </a:rPr>
              <a:t>연 1억원 절감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993392"/>
            <a:ext cx="256032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Noto Sans KR"/>
              </a:rPr>
              <a:t>200건/년 ×
50만원/건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468880"/>
            <a:ext cx="256032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Noto Sans KR"/>
              </a:rPr>
              <a:t>불량 비용 회피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1572768"/>
            <a:ext cx="2743200" cy="1143000"/>
          </a:xfrm>
          <a:prstGeom prst="rect">
            <a:avLst/>
          </a:prstGeom>
          <a:solidFill>
            <a:srgbClr val="F5F5F5"/>
          </a:solidFill>
          <a:ln w="190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627632"/>
            <a:ext cx="256032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1A2B5C"/>
                </a:solidFill>
                <a:latin typeface="Noto Sans KR"/>
              </a:rPr>
              <a:t>응답 즉시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993392"/>
            <a:ext cx="256032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Noto Sans KR"/>
              </a:rPr>
              <a:t>수 시간 →
수 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468880"/>
            <a:ext cx="256032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Noto Sans KR"/>
              </a:rPr>
              <a:t>원인 분석 단축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1572768"/>
            <a:ext cx="2743200" cy="1143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627632"/>
            <a:ext cx="256032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Noto Sans KR"/>
              </a:rPr>
              <a:t>ROI 4.2배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1993392"/>
            <a:ext cx="256032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Noto Sans KR"/>
              </a:rPr>
              <a:t>연 절감 1억 ÷
월 200만원 SaaS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468880"/>
            <a:ext cx="256032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Noto Sans KR"/>
              </a:rPr>
              <a:t>투자 회수율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834640"/>
            <a:ext cx="58521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정성 효과 + 현장 적용 가능성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127248"/>
            <a:ext cx="5852160" cy="1828800"/>
          </a:xfrm>
          <a:prstGeom prst="rect">
            <a:avLst/>
          </a:prstGeom>
          <a:solidFill>
            <a:srgbClr val="EEF2FA"/>
          </a:solidFill>
          <a:ln w="1270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00400"/>
            <a:ext cx="5577840" cy="16916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2B5C"/>
                </a:solidFill>
                <a:latin typeface="Noto Sans KR"/>
              </a:rPr>
              <a:t>정성 효과</a:t>
            </a:r>
          </a:p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노하우 디지털화 — 담당자 경험 → SHAP 데이터 누적</a:t>
            </a:r>
          </a:p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교대 인수인계 표준화 — 수기 일지 → CSV/MD 자동</a:t>
            </a:r>
          </a:p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ISO 9001 이력 보존 — JSON 영속 + 무결성 해시</a:t>
            </a:r>
          </a:p>
          <a:p>
            <a:pPr algn="l">
              <a:lnSpc>
                <a:spcPct val="118000"/>
              </a:lnSpc>
            </a:pPr>
            <a:r>
              <a:rPr sz="400" b="0" i="0">
                <a:solidFill>
                  <a:srgbClr val="1A1A1A"/>
                </a:solidFill>
                <a:latin typeface="Noto Sans KR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2B5C"/>
                </a:solidFill>
                <a:latin typeface="Noto Sans KR"/>
              </a:rPr>
              <a:t>현장 적용 가능성</a:t>
            </a:r>
          </a:p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온프레미스 배포 — 공정 데이터 외부 전송 없음</a:t>
            </a:r>
          </a:p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8GB RAM 보급형 PC 동작 (CPU 전용 가능)</a:t>
            </a:r>
          </a:p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install.bat 원클릭 설치 — IT 인력 부담 최소화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34640"/>
            <a:ext cx="54864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향후 고도화 / 확장성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127248"/>
            <a:ext cx="5486400" cy="1828800"/>
          </a:xfrm>
          <a:prstGeom prst="rect">
            <a:avLst/>
          </a:prstGeom>
          <a:solidFill>
            <a:srgbClr val="FFEEEE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200400"/>
            <a:ext cx="5212080" cy="16916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0000"/>
                </a:solidFill>
                <a:latin typeface="Noto Sans KR"/>
              </a:rPr>
              <a:t>도메인 수평 확장 (사출 → 타 공정)</a:t>
            </a:r>
          </a:p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다이캐스팅, CNC, 프레스 — 24센서 인터페이스 표준화</a:t>
            </a:r>
          </a:p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KAMP 12종 데이터셋 → 공정별 모델 카탈로그</a:t>
            </a:r>
          </a:p>
          <a:p>
            <a:pPr algn="l">
              <a:lnSpc>
                <a:spcPct val="118000"/>
              </a:lnSpc>
            </a:pPr>
            <a:r>
              <a:rPr sz="400" b="0" i="0">
                <a:solidFill>
                  <a:srgbClr val="1A1A1A"/>
                </a:solidFill>
                <a:latin typeface="Noto Sans KR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0000"/>
                </a:solidFill>
                <a:latin typeface="Noto Sans KR"/>
              </a:rPr>
              <a:t>수직 확장 (기능 고도화)</a:t>
            </a:r>
          </a:p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Autoencoder → Transformer 마이그레이션 로드맵</a:t>
            </a:r>
          </a:p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예측 정비 (Predictive Maintenance) 모듈</a:t>
            </a:r>
          </a:p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1A1A1A"/>
                </a:solidFill>
                <a:latin typeface="Noto Sans KR"/>
              </a:rPr>
              <a:t>• 강화학습 기반 자동 처방 (장기)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074920"/>
            <a:ext cx="114300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A2B5C"/>
                </a:solidFill>
                <a:latin typeface="Noto Sans KR"/>
              </a:rPr>
              <a:t>[ 사업화 로드맵 — 6개월 마일스톤 (KAMP + 정부 정책 연계)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367528"/>
            <a:ext cx="2212848" cy="841248"/>
          </a:xfrm>
          <a:prstGeom prst="rect">
            <a:avLst/>
          </a:prstGeom>
          <a:solidFill>
            <a:srgbClr val="F5F5F5"/>
          </a:solidFill>
          <a:ln w="1270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5367528"/>
            <a:ext cx="2212848" cy="256032"/>
          </a:xfrm>
          <a:prstGeom prst="rect">
            <a:avLst/>
          </a:prstGeom>
          <a:solidFill>
            <a:srgbClr val="1A2B5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367528"/>
            <a:ext cx="2212848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</a:rPr>
              <a:t>M1~M2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687568"/>
            <a:ext cx="202996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KR"/>
              </a:rPr>
              <a:t>예선 통과 + 본선 구현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943600"/>
            <a:ext cx="2029968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Noto Sans KR"/>
              </a:rPr>
              <a:t>OPC-UA 연동, 알람 자동화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5596128"/>
            <a:ext cx="27432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Noto Sans KR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15768" y="5367528"/>
            <a:ext cx="2212848" cy="841248"/>
          </a:xfrm>
          <a:prstGeom prst="rect">
            <a:avLst/>
          </a:prstGeom>
          <a:solidFill>
            <a:srgbClr val="F5F5F5"/>
          </a:solidFill>
          <a:ln w="1270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15768" y="5367528"/>
            <a:ext cx="2212848" cy="256032"/>
          </a:xfrm>
          <a:prstGeom prst="rect">
            <a:avLst/>
          </a:prstGeom>
          <a:solidFill>
            <a:srgbClr val="1A2B5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15768" y="5367528"/>
            <a:ext cx="2212848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</a:rPr>
              <a:t>M3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07208" y="5687568"/>
            <a:ext cx="202996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KR"/>
              </a:rPr>
              <a:t>PoC 3건 시작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07208" y="5943600"/>
            <a:ext cx="2029968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Noto Sans KR"/>
              </a:rPr>
              <a:t>KAMP 파트너 + 정부 보급사업 연계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8888" y="5596128"/>
            <a:ext cx="27432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Noto Sans KR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0056" y="5367528"/>
            <a:ext cx="2212848" cy="841248"/>
          </a:xfrm>
          <a:prstGeom prst="rect">
            <a:avLst/>
          </a:prstGeom>
          <a:solidFill>
            <a:srgbClr val="F5F5F5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0056" y="5367528"/>
            <a:ext cx="2212848" cy="256032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0056" y="5367528"/>
            <a:ext cx="2212848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</a:rPr>
              <a:t>M4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1496" y="5687568"/>
            <a:ext cx="202996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KR"/>
              </a:rPr>
              <a:t>유료 전환 2건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11496" y="5943600"/>
            <a:ext cx="2029968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Noto Sans KR"/>
              </a:rPr>
              <a:t>MRR 400만원 / Recall 0.75+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23176" y="5596128"/>
            <a:ext cx="27432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Noto Sans KR"/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24344" y="5367528"/>
            <a:ext cx="2212848" cy="841248"/>
          </a:xfrm>
          <a:prstGeom prst="rect">
            <a:avLst/>
          </a:prstGeom>
          <a:solidFill>
            <a:srgbClr val="F5F5F5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24344" y="5367528"/>
            <a:ext cx="2212848" cy="256032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24344" y="5367528"/>
            <a:ext cx="2212848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</a:rPr>
              <a:t>M5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15784" y="5687568"/>
            <a:ext cx="202996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KR"/>
              </a:rPr>
              <a:t>Series A 준비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15784" y="5943600"/>
            <a:ext cx="2029968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Noto Sans KR"/>
              </a:rPr>
              <a:t>ARR 6,000만 / 유료 5개사 / NPS 40+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27464" y="5596128"/>
            <a:ext cx="27432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Noto Sans KR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8632" y="5367528"/>
            <a:ext cx="2212848" cy="841248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28632" y="5367528"/>
            <a:ext cx="2212848" cy="256032"/>
          </a:xfrm>
          <a:prstGeom prst="rect">
            <a:avLst/>
          </a:prstGeom>
          <a:solidFill>
            <a:srgbClr val="2E7D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28632" y="5367528"/>
            <a:ext cx="2212848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KR"/>
              </a:rPr>
              <a:t>M6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20072" y="5687568"/>
            <a:ext cx="2029968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Noto Sans KR"/>
              </a:rPr>
              <a:t>Series A 클로징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20072" y="5943600"/>
            <a:ext cx="2029968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Noto Sans KR"/>
              </a:rPr>
              <a:t>정부 정책 만기 (3만개사) 진입 적기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6272784"/>
            <a:ext cx="11384280" cy="164592"/>
          </a:xfrm>
          <a:prstGeom prst="rect">
            <a:avLst/>
          </a:prstGeom>
          <a:solidFill>
            <a:srgbClr val="F5F5F5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291072"/>
            <a:ext cx="11247120" cy="14630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1" i="0">
                <a:solidFill>
                  <a:srgbClr val="1A2B5C"/>
                </a:solidFill>
                <a:latin typeface="Noto Sans KR"/>
              </a:rPr>
              <a:t>발표 6분 — 표지15s·문제45s·솔루션45s·기능60s·데이터60s·유즈45s·MVP45s·효과60s  |  Q&amp;A: ①0.58%불균형→반지도 ②외부검증→CN7+RG3 ③사업화→KAMP+정부정책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6446520"/>
            <a:ext cx="5029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Noto Sans KR"/>
              </a:rPr>
              <a:t>주최/주관: 차세대융합기술연구원 (AICT)  ·  DACON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