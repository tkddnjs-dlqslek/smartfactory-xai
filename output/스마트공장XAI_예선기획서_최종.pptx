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78" r:id="rId3"/>
    <p:sldId id="279" r:id="rId4"/>
    <p:sldId id="280" r:id="rId5"/>
    <p:sldId id="284" r:id="rId6"/>
    <p:sldId id="273" r:id="rId7"/>
    <p:sldId id="285" r:id="rId8"/>
    <p:sldId id="281" r:id="rId9"/>
    <p:sldId id="283" r:id="rId10"/>
    <p:sldId id="286" r:id="rId11"/>
    <p:sldId id="282" r:id="rId12"/>
    <p:sldId id="287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5" roundtripDataSignature="AMtx7mihjF2ZWQEcNdCQGL3IzqOLXbA9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1B23"/>
    <a:srgbClr val="3CBF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7A43732-219E-4773-AEE6-7331DB972763}">
  <a:tblStyle styleId="{97A43732-219E-4773-AEE6-7331DB972763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833"/>
    <p:restoredTop sz="94648"/>
  </p:normalViewPr>
  <p:slideViewPr>
    <p:cSldViewPr snapToGrid="0">
      <p:cViewPr>
        <p:scale>
          <a:sx n="100" d="100"/>
          <a:sy n="100" d="100"/>
        </p:scale>
        <p:origin x="-576" y="-6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2" name="Google Shape;12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0" name="Google Shape;90;p1"/>
          <p:cNvCxnSpPr/>
          <p:nvPr/>
        </p:nvCxnSpPr>
        <p:spPr>
          <a:xfrm>
            <a:off x="388374" y="6415548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92" name="Google Shape;92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95670" y="6415547"/>
            <a:ext cx="1007955" cy="3534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" name="Google Shape;90;p1">
            <a:extLst>
              <a:ext uri="{FF2B5EF4-FFF2-40B4-BE49-F238E27FC236}">
                <a16:creationId xmlns:a16="http://schemas.microsoft.com/office/drawing/2014/main" id="{053CAB3C-01D3-307A-B765-DB89E56FD267}"/>
              </a:ext>
            </a:extLst>
          </p:cNvPr>
          <p:cNvCxnSpPr/>
          <p:nvPr/>
        </p:nvCxnSpPr>
        <p:spPr>
          <a:xfrm>
            <a:off x="388374" y="364575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8" name="Google Shape;88;p1"/>
          <p:cNvSpPr txBox="1"/>
          <p:nvPr/>
        </p:nvSpPr>
        <p:spPr>
          <a:xfrm>
            <a:off x="2631231" y="1570963"/>
            <a:ext cx="6929531" cy="1366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3600" b="1" dirty="0">
                <a:solidFill>
                  <a:srgbClr val="202124"/>
                </a:solidFill>
                <a:latin typeface="Pretendard_KR"/>
                <a:ea typeface="Malgun Gothic" panose="020B0503020000020004" pitchFamily="50" charset="-127"/>
              </a:rPr>
              <a:t>2026</a:t>
            </a:r>
            <a:r>
              <a:rPr lang="ko-KR" altLang="en-US" sz="3600" b="1" dirty="0">
                <a:solidFill>
                  <a:srgbClr val="202124"/>
                </a:solidFill>
                <a:latin typeface="Pretendard_KR"/>
                <a:ea typeface="Malgun Gothic" panose="020B0503020000020004" pitchFamily="50" charset="-127"/>
              </a:rPr>
              <a:t> 스마트 공장 운영 시스템 </a:t>
            </a:r>
            <a:r>
              <a:rPr lang="en-US" altLang="ko-KR" sz="3600" b="1" dirty="0">
                <a:solidFill>
                  <a:srgbClr val="202124"/>
                </a:solidFill>
                <a:latin typeface="Pretendard_KR"/>
                <a:ea typeface="Malgun Gothic" panose="020B0503020000020004" pitchFamily="50" charset="-127"/>
              </a:rPr>
              <a:t>MVP </a:t>
            </a:r>
            <a:r>
              <a:rPr lang="ko-KR" altLang="en-US" sz="3600" b="1" dirty="0">
                <a:solidFill>
                  <a:srgbClr val="202124"/>
                </a:solidFill>
                <a:latin typeface="Pretendard_KR"/>
                <a:ea typeface="Malgun Gothic" panose="020B0503020000020004" pitchFamily="50" charset="-127"/>
              </a:rPr>
              <a:t>개발 </a:t>
            </a:r>
            <a:r>
              <a:rPr lang="ko-KR" altLang="en-US" sz="3600" b="1" dirty="0" err="1">
                <a:solidFill>
                  <a:srgbClr val="202124"/>
                </a:solidFill>
                <a:latin typeface="Pretendard_KR"/>
                <a:ea typeface="Malgun Gothic" panose="020B0503020000020004" pitchFamily="50" charset="-127"/>
              </a:rPr>
              <a:t>해커톤</a:t>
            </a:r>
            <a:endParaRPr lang="en-US" altLang="ko-KR" sz="3600" b="1" i="0" dirty="0">
              <a:solidFill>
                <a:srgbClr val="202124"/>
              </a:solidFill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graphicFrame>
        <p:nvGraphicFramePr>
          <p:cNvPr id="89" name="Google Shape;89;p1"/>
          <p:cNvGraphicFramePr/>
          <p:nvPr>
            <p:extLst>
              <p:ext uri="{D42A27DB-BD31-4B8C-83A1-F6EECF244321}">
                <p14:modId xmlns:p14="http://schemas.microsoft.com/office/powerpoint/2010/main" val="2882741874"/>
              </p:ext>
            </p:extLst>
          </p:nvPr>
        </p:nvGraphicFramePr>
        <p:xfrm>
          <a:off x="2087984" y="4427366"/>
          <a:ext cx="8016022" cy="937190"/>
        </p:xfrm>
        <a:graphic>
          <a:graphicData uri="http://schemas.openxmlformats.org/drawingml/2006/table">
            <a:tbl>
              <a:tblPr firstRow="1" bandRow="1">
                <a:tableStyleId>{97A43732-219E-4773-AEE6-7331DB972763}</a:tableStyleId>
              </a:tblPr>
              <a:tblGrid>
                <a:gridCol w="40080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8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9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strike="noStrike" cap="none" dirty="0" err="1">
                          <a:solidFill>
                            <a:schemeClr val="tx1"/>
                          </a:solidFill>
                        </a:rPr>
                        <a:t>팀명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u="none" strike="noStrike" cap="none" dirty="0">
                          <a:solidFill>
                            <a:schemeClr val="tx1"/>
                          </a:solidFill>
                        </a:rPr>
                        <a:t>김상원원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u="none" strike="noStrike" cap="none" dirty="0">
                          <a:solidFill>
                            <a:schemeClr val="tx1"/>
                          </a:solidFill>
                        </a:rPr>
                        <a:t>프로젝트명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r>
                        <a:rPr sz="1300" b="1" dirty="0" err="1">
                          <a:solidFill>
                            <a:schemeClr val="tx1"/>
                          </a:solidFill>
                          <a:latin typeface="Pretendard"/>
                        </a:rPr>
                        <a:t>SmartFactory</a:t>
                      </a:r>
                      <a:r>
                        <a:rPr sz="1300" b="1" dirty="0">
                          <a:solidFill>
                            <a:schemeClr val="tx1"/>
                          </a:solidFill>
                          <a:latin typeface="Pretendard"/>
                        </a:rPr>
                        <a:t> XAI</a:t>
                      </a: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Pretendard"/>
                        </a:rPr>
                        <a:t> - </a:t>
                      </a:r>
                    </a:p>
                    <a:p>
                      <a:r>
                        <a:rPr sz="1300" b="1" dirty="0">
                          <a:solidFill>
                            <a:schemeClr val="tx1"/>
                          </a:solidFill>
                          <a:latin typeface="Pretendard"/>
                        </a:rPr>
                        <a:t>4-AI </a:t>
                      </a:r>
                      <a:r>
                        <a:rPr sz="1300" b="1" dirty="0" err="1">
                          <a:solidFill>
                            <a:schemeClr val="tx1"/>
                          </a:solidFill>
                          <a:latin typeface="Pretendard"/>
                        </a:rPr>
                        <a:t>합의</a:t>
                      </a:r>
                      <a:r>
                        <a:rPr sz="1300" b="1" dirty="0">
                          <a:solidFill>
                            <a:schemeClr val="tx1"/>
                          </a:solidFill>
                          <a:latin typeface="Pretendard"/>
                        </a:rPr>
                        <a:t> </a:t>
                      </a:r>
                      <a:r>
                        <a:rPr sz="1300" b="1" dirty="0" err="1">
                          <a:solidFill>
                            <a:schemeClr val="tx1"/>
                          </a:solidFill>
                          <a:latin typeface="Pretendard"/>
                        </a:rPr>
                        <a:t>기반</a:t>
                      </a:r>
                      <a:r>
                        <a:rPr sz="1300" b="1" dirty="0">
                          <a:solidFill>
                            <a:schemeClr val="tx1"/>
                          </a:solidFill>
                          <a:latin typeface="Pretendard"/>
                        </a:rPr>
                        <a:t> </a:t>
                      </a:r>
                      <a:r>
                        <a:rPr sz="1300" b="1" dirty="0" err="1">
                          <a:solidFill>
                            <a:schemeClr val="tx1"/>
                          </a:solidFill>
                          <a:latin typeface="Pretendard"/>
                        </a:rPr>
                        <a:t>사출성형</a:t>
                      </a:r>
                      <a:r>
                        <a:rPr sz="1300" b="1" dirty="0">
                          <a:solidFill>
                            <a:schemeClr val="tx1"/>
                          </a:solidFill>
                          <a:latin typeface="Pretendard"/>
                        </a:rPr>
                        <a:t> </a:t>
                      </a:r>
                      <a:r>
                        <a:rPr sz="1300" b="1" dirty="0" err="1">
                          <a:solidFill>
                            <a:schemeClr val="tx1"/>
                          </a:solidFill>
                          <a:latin typeface="Pretendard"/>
                        </a:rPr>
                        <a:t>이상탐지·진단·처방</a:t>
                      </a:r>
                      <a:r>
                        <a:rPr sz="1300" b="1" dirty="0">
                          <a:solidFill>
                            <a:schemeClr val="tx1"/>
                          </a:solidFill>
                          <a:latin typeface="Pretendard"/>
                        </a:rPr>
                        <a:t> </a:t>
                      </a:r>
                      <a:r>
                        <a:rPr sz="1300" b="1" dirty="0" err="1">
                          <a:solidFill>
                            <a:schemeClr val="tx1"/>
                          </a:solidFill>
                          <a:latin typeface="Pretendard"/>
                        </a:rPr>
                        <a:t>플랫폼</a:t>
                      </a:r>
                      <a:endParaRPr sz="1300" b="1" dirty="0">
                        <a:solidFill>
                          <a:schemeClr val="tx1"/>
                        </a:solidFill>
                        <a:latin typeface="Pretendard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613855372"/>
                  </a:ext>
                </a:extLst>
              </a:tr>
            </a:tbl>
          </a:graphicData>
        </a:graphic>
      </p:graphicFrame>
      <p:cxnSp>
        <p:nvCxnSpPr>
          <p:cNvPr id="94" name="Google Shape;94;p1"/>
          <p:cNvCxnSpPr/>
          <p:nvPr/>
        </p:nvCxnSpPr>
        <p:spPr>
          <a:xfrm>
            <a:off x="2310447" y="2956202"/>
            <a:ext cx="7571100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26" name="Picture 2" descr="차세대융합기술연구원, 반도체 부품 국산화 위한 기술 실증 지원사업 참여 기업 모집 &gt; 뉴스 | CIOCISO">
            <a:extLst>
              <a:ext uri="{FF2B5EF4-FFF2-40B4-BE49-F238E27FC236}">
                <a16:creationId xmlns:a16="http://schemas.microsoft.com/office/drawing/2014/main" id="{88F6F64B-B445-0E07-4C6D-0A33DC6483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34" b="35256"/>
          <a:stretch>
            <a:fillRect/>
          </a:stretch>
        </p:blipFill>
        <p:spPr bwMode="auto">
          <a:xfrm>
            <a:off x="9298782" y="6434300"/>
            <a:ext cx="1555879" cy="33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88;p1">
            <a:extLst>
              <a:ext uri="{FF2B5EF4-FFF2-40B4-BE49-F238E27FC236}">
                <a16:creationId xmlns:a16="http://schemas.microsoft.com/office/drawing/2014/main" id="{6EC716A2-5020-43D4-0492-05DB61857621}"/>
              </a:ext>
            </a:extLst>
          </p:cNvPr>
          <p:cNvSpPr txBox="1"/>
          <p:nvPr/>
        </p:nvSpPr>
        <p:spPr>
          <a:xfrm>
            <a:off x="4645453" y="3065537"/>
            <a:ext cx="2901085" cy="587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800" b="0" i="0" dirty="0">
                <a:solidFill>
                  <a:srgbClr val="202124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예선 기획서</a:t>
            </a:r>
            <a:endParaRPr lang="en-US" altLang="ko-KR" sz="2800" b="0" i="0" dirty="0">
              <a:solidFill>
                <a:srgbClr val="202124"/>
              </a:solidFill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4D7D1-0B19-F66A-84F8-B80017D8A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47">
            <a:extLst>
              <a:ext uri="{FF2B5EF4-FFF2-40B4-BE49-F238E27FC236}">
                <a16:creationId xmlns:a16="http://schemas.microsoft.com/office/drawing/2014/main" id="{C6139CD7-4B7E-CDED-E166-A9975B20DB1A}"/>
              </a:ext>
            </a:extLst>
          </p:cNvPr>
          <p:cNvSpPr/>
          <p:nvPr/>
        </p:nvSpPr>
        <p:spPr>
          <a:xfrm>
            <a:off x="9002908" y="5405136"/>
            <a:ext cx="2697480" cy="499411"/>
          </a:xfrm>
          <a:prstGeom prst="rect">
            <a:avLst/>
          </a:prstGeom>
          <a:solidFill>
            <a:srgbClr val="F5F8FD"/>
          </a:solidFill>
          <a:ln w="635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165CAD0-2A02-5E29-8536-ED2B3C3375B1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2" name="Google Shape;99;p2">
            <a:extLst>
              <a:ext uri="{FF2B5EF4-FFF2-40B4-BE49-F238E27FC236}">
                <a16:creationId xmlns:a16="http://schemas.microsoft.com/office/drawing/2014/main" id="{CB1259FB-3BC9-1F76-5145-01C9E5C371CD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D7ADD4E6-F6E8-97A3-9EA6-04E64C9E771E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– 1.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 정의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(Problem Definition)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" name="Google Shape;105;p2">
            <a:extLst>
              <a:ext uri="{FF2B5EF4-FFF2-40B4-BE49-F238E27FC236}">
                <a16:creationId xmlns:a16="http://schemas.microsoft.com/office/drawing/2014/main" id="{A7330DB1-95E4-4D38-F6A4-9BB98AC14BD1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8" name="Google Shape;92;p1">
            <a:extLst>
              <a:ext uri="{FF2B5EF4-FFF2-40B4-BE49-F238E27FC236}">
                <a16:creationId xmlns:a16="http://schemas.microsoft.com/office/drawing/2014/main" id="{48CD7EDD-FD6F-B8B4-97AA-853BC09F0B0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15547"/>
            <a:ext cx="1007955" cy="35340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4FD4C6A3-A7FF-DCE0-30BE-4532F9F20CD2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220991-1956-8C13-7614-0AE6FD9B9483}"/>
              </a:ext>
            </a:extLst>
          </p:cNvPr>
          <p:cNvSpPr txBox="1"/>
          <p:nvPr/>
        </p:nvSpPr>
        <p:spPr>
          <a:xfrm>
            <a:off x="939332" y="1189703"/>
            <a:ext cx="31953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1. </a:t>
            </a:r>
            <a:r>
              <a:rPr lang="ko-KR" altLang="en-US" dirty="0">
                <a:latin typeface="+mj-ea"/>
                <a:ea typeface="+mj-ea"/>
              </a:rPr>
              <a:t>문제 정의 </a:t>
            </a:r>
            <a:r>
              <a:rPr lang="en-US" altLang="ko-KR" dirty="0">
                <a:latin typeface="+mj-ea"/>
                <a:ea typeface="+mj-ea"/>
              </a:rPr>
              <a:t>(Problem Definition)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38DA6E6D-E7BA-305C-C09E-8185DC296499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Google Shape;100;p2">
            <a:extLst>
              <a:ext uri="{FF2B5EF4-FFF2-40B4-BE49-F238E27FC236}">
                <a16:creationId xmlns:a16="http://schemas.microsoft.com/office/drawing/2014/main" id="{A89DAF47-A872-25DE-4F4E-6A35741F0D64}"/>
              </a:ext>
            </a:extLst>
          </p:cNvPr>
          <p:cNvSpPr txBox="1"/>
          <p:nvPr/>
        </p:nvSpPr>
        <p:spPr>
          <a:xfrm>
            <a:off x="8775865" y="229867"/>
            <a:ext cx="3044336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스마트 공장 운영 시스템 </a:t>
            </a: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MVP 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 </a:t>
            </a:r>
            <a:r>
              <a:rPr lang="ko-KR" altLang="en-US" sz="1000" b="1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해커톤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" name="Picture 2" descr="차세대융합기술연구원, 반도체 부품 국산화 위한 기술 실증 지원사업 참여 기업 모집 &gt; 뉴스 | CIOCISO">
            <a:extLst>
              <a:ext uri="{FF2B5EF4-FFF2-40B4-BE49-F238E27FC236}">
                <a16:creationId xmlns:a16="http://schemas.microsoft.com/office/drawing/2014/main" id="{6BEB92B5-54A5-698D-BCC7-53FCC2DB53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34" b="35256"/>
          <a:stretch>
            <a:fillRect/>
          </a:stretch>
        </p:blipFill>
        <p:spPr bwMode="auto">
          <a:xfrm>
            <a:off x="9298782" y="6434300"/>
            <a:ext cx="1555879" cy="33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14"/>
          <p:cNvSpPr/>
          <p:nvPr/>
        </p:nvSpPr>
        <p:spPr>
          <a:xfrm>
            <a:off x="566928" y="1764792"/>
            <a:ext cx="101600" cy="164592"/>
          </a:xfrm>
          <a:prstGeom prst="rect">
            <a:avLst/>
          </a:prstGeom>
          <a:solidFill>
            <a:srgbClr val="3C7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1691640"/>
            <a:ext cx="5120640" cy="21031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200" b="1" i="0">
                <a:solidFill>
                  <a:schemeClr val="tx1"/>
                </a:solidFill>
                <a:latin typeface="Pretendard"/>
              </a:rPr>
              <a:t>1. 해결하고자 하는 제조 현장 문제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029968"/>
            <a:ext cx="292608" cy="292608"/>
          </a:xfrm>
          <a:prstGeom prst="rect">
            <a:avLst/>
          </a:prstGeom>
          <a:solidFill>
            <a:srgbClr val="3C7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6928" y="2029968"/>
            <a:ext cx="292608" cy="2926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" y="2020824"/>
            <a:ext cx="4937760" cy="20116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150" b="1" i="0" dirty="0" err="1">
                <a:solidFill>
                  <a:srgbClr val="202124"/>
                </a:solidFill>
                <a:latin typeface="Pretendard"/>
              </a:rPr>
              <a:t>불량</a:t>
            </a:r>
            <a:r>
              <a:rPr sz="1150" b="1" i="0" dirty="0">
                <a:solidFill>
                  <a:srgbClr val="202124"/>
                </a:solidFill>
                <a:latin typeface="Pretendard"/>
              </a:rPr>
              <a:t> </a:t>
            </a:r>
            <a:r>
              <a:rPr sz="1150" b="1" i="0" dirty="0" err="1">
                <a:solidFill>
                  <a:srgbClr val="202124"/>
                </a:solidFill>
                <a:latin typeface="Pretendard"/>
              </a:rPr>
              <a:t>발생</a:t>
            </a:r>
            <a:r>
              <a:rPr sz="1150" b="1" i="0" dirty="0">
                <a:solidFill>
                  <a:srgbClr val="202124"/>
                </a:solidFill>
                <a:latin typeface="Pretendard"/>
              </a:rPr>
              <a:t> </a:t>
            </a:r>
            <a:r>
              <a:rPr sz="1150" b="1" i="0" dirty="0" err="1">
                <a:solidFill>
                  <a:srgbClr val="202124"/>
                </a:solidFill>
                <a:latin typeface="Pretendard"/>
              </a:rPr>
              <a:t>인지</a:t>
            </a:r>
            <a:r>
              <a:rPr sz="1150" b="1" i="0" dirty="0">
                <a:solidFill>
                  <a:srgbClr val="202124"/>
                </a:solidFill>
                <a:latin typeface="Pretendard"/>
              </a:rPr>
              <a:t> </a:t>
            </a:r>
            <a:r>
              <a:rPr sz="1150" b="1" i="0" dirty="0" err="1">
                <a:solidFill>
                  <a:srgbClr val="202124"/>
                </a:solidFill>
                <a:latin typeface="Pretendard"/>
              </a:rPr>
              <a:t>지연</a:t>
            </a:r>
            <a:endParaRPr sz="1150" b="1" i="0" dirty="0">
              <a:solidFill>
                <a:srgbClr val="202124"/>
              </a:solidFill>
              <a:latin typeface="Pretendard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50976" y="2212848"/>
            <a:ext cx="4937760" cy="171842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950" b="0" i="0" dirty="0" err="1">
                <a:solidFill>
                  <a:srgbClr val="5F6668"/>
                </a:solidFill>
                <a:latin typeface="Pretendard"/>
              </a:rPr>
              <a:t>작업자</a:t>
            </a:r>
            <a:r>
              <a:rPr sz="950" b="0" i="0" dirty="0">
                <a:solidFill>
                  <a:srgbClr val="5F6668"/>
                </a:solidFill>
                <a:latin typeface="Pretendard"/>
              </a:rPr>
              <a:t> </a:t>
            </a:r>
            <a:r>
              <a:rPr sz="950" b="0" i="0" dirty="0" err="1">
                <a:solidFill>
                  <a:srgbClr val="5F6668"/>
                </a:solidFill>
                <a:latin typeface="Pretendard"/>
              </a:rPr>
              <a:t>육안</a:t>
            </a:r>
            <a:r>
              <a:rPr sz="950" b="0" i="0" dirty="0">
                <a:solidFill>
                  <a:srgbClr val="5F6668"/>
                </a:solidFill>
                <a:latin typeface="Pretendard"/>
              </a:rPr>
              <a:t> </a:t>
            </a:r>
            <a:r>
              <a:rPr sz="950" b="0" i="0" dirty="0" err="1">
                <a:solidFill>
                  <a:srgbClr val="5F6668"/>
                </a:solidFill>
                <a:latin typeface="Pretendard"/>
              </a:rPr>
              <a:t>검사</a:t>
            </a:r>
            <a:r>
              <a:rPr sz="950" b="0" i="0" dirty="0">
                <a:solidFill>
                  <a:srgbClr val="5F6668"/>
                </a:solidFill>
                <a:latin typeface="Pretendard"/>
              </a:rPr>
              <a:t> </a:t>
            </a:r>
            <a:r>
              <a:rPr sz="950" b="0" i="0" dirty="0" err="1">
                <a:solidFill>
                  <a:srgbClr val="5F6668"/>
                </a:solidFill>
                <a:latin typeface="Pretendard"/>
              </a:rPr>
              <a:t>한계</a:t>
            </a:r>
            <a:r>
              <a:rPr sz="950" b="0" i="0" dirty="0">
                <a:solidFill>
                  <a:srgbClr val="5F6668"/>
                </a:solidFill>
                <a:latin typeface="Pretendard"/>
              </a:rPr>
              <a:t> → </a:t>
            </a:r>
            <a:r>
              <a:rPr lang="ko-KR" altLang="en-US" sz="950" dirty="0">
                <a:solidFill>
                  <a:srgbClr val="5F6668"/>
                </a:solidFill>
                <a:latin typeface="Pretendard"/>
              </a:rPr>
              <a:t>불량품 생산</a:t>
            </a:r>
            <a:r>
              <a:rPr sz="950" b="0" i="0" dirty="0">
                <a:solidFill>
                  <a:srgbClr val="5F6668"/>
                </a:solidFill>
                <a:latin typeface="Pretendard"/>
              </a:rPr>
              <a:t> </a:t>
            </a:r>
            <a:r>
              <a:rPr lang="ko-KR" altLang="en-US" sz="950" b="0" i="0" dirty="0">
                <a:solidFill>
                  <a:srgbClr val="5F6668"/>
                </a:solidFill>
                <a:latin typeface="Pretendard"/>
              </a:rPr>
              <a:t>후에 즉각적인 대응 불가</a:t>
            </a:r>
            <a:endParaRPr sz="950" b="0" i="0" dirty="0">
              <a:solidFill>
                <a:srgbClr val="5F6668"/>
              </a:solidFill>
              <a:latin typeface="Pretendard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66928" y="2596896"/>
            <a:ext cx="292608" cy="292608"/>
          </a:xfrm>
          <a:prstGeom prst="rect">
            <a:avLst/>
          </a:prstGeom>
          <a:solidFill>
            <a:srgbClr val="3C7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6928" y="2596896"/>
            <a:ext cx="292608" cy="2926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" y="2587752"/>
            <a:ext cx="4937760" cy="20116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150" b="1" i="0" dirty="0" err="1">
                <a:solidFill>
                  <a:srgbClr val="202124"/>
                </a:solidFill>
                <a:latin typeface="Pretendard"/>
              </a:rPr>
              <a:t>원인</a:t>
            </a:r>
            <a:r>
              <a:rPr sz="1150" b="1" i="0" dirty="0">
                <a:solidFill>
                  <a:srgbClr val="202124"/>
                </a:solidFill>
                <a:latin typeface="Pretendard"/>
              </a:rPr>
              <a:t> </a:t>
            </a:r>
            <a:r>
              <a:rPr sz="1150" b="1" i="0" dirty="0" err="1">
                <a:solidFill>
                  <a:srgbClr val="202124"/>
                </a:solidFill>
                <a:latin typeface="Pretendard"/>
              </a:rPr>
              <a:t>분석</a:t>
            </a:r>
            <a:r>
              <a:rPr lang="ko-KR" altLang="en-US" sz="1150" b="1" i="0" dirty="0">
                <a:solidFill>
                  <a:srgbClr val="202124"/>
                </a:solidFill>
                <a:latin typeface="Pretendard"/>
              </a:rPr>
              <a:t>에 많은 </a:t>
            </a:r>
            <a:r>
              <a:rPr sz="1150" b="1" i="0" dirty="0" err="1">
                <a:solidFill>
                  <a:srgbClr val="202124"/>
                </a:solidFill>
                <a:latin typeface="Pretendard"/>
              </a:rPr>
              <a:t>시간</a:t>
            </a:r>
            <a:r>
              <a:rPr sz="1150" b="1" i="0" dirty="0">
                <a:solidFill>
                  <a:srgbClr val="202124"/>
                </a:solidFill>
                <a:latin typeface="Pretendard"/>
              </a:rPr>
              <a:t> </a:t>
            </a:r>
            <a:r>
              <a:rPr sz="1150" b="1" i="0" dirty="0" err="1">
                <a:solidFill>
                  <a:srgbClr val="202124"/>
                </a:solidFill>
                <a:latin typeface="Pretendard"/>
              </a:rPr>
              <a:t>소요</a:t>
            </a:r>
            <a:endParaRPr sz="1150" b="1" i="0" dirty="0">
              <a:solidFill>
                <a:srgbClr val="202124"/>
              </a:solidFill>
              <a:latin typeface="Pretendard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50976" y="2779776"/>
            <a:ext cx="4937760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950" b="0" i="0">
                <a:solidFill>
                  <a:srgbClr val="5F6668"/>
                </a:solidFill>
                <a:latin typeface="Pretendard"/>
              </a:rPr>
              <a:t>24개 센서 동시 모니터링 불가, 재발 방지 어려움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3163824"/>
            <a:ext cx="292608" cy="292608"/>
          </a:xfrm>
          <a:prstGeom prst="rect">
            <a:avLst/>
          </a:prstGeom>
          <a:solidFill>
            <a:srgbClr val="3C7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66928" y="3163824"/>
            <a:ext cx="292608" cy="2926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" y="3154680"/>
            <a:ext cx="4937760" cy="20116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150" b="1" i="0">
                <a:solidFill>
                  <a:srgbClr val="202124"/>
                </a:solidFill>
                <a:latin typeface="Pretendard"/>
              </a:rPr>
              <a:t>사후 대응 반복 사이클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" y="3346704"/>
            <a:ext cx="4937760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950" b="0" i="0">
                <a:solidFill>
                  <a:srgbClr val="5F6668"/>
                </a:solidFill>
                <a:latin typeface="Pretendard"/>
              </a:rPr>
              <a:t>불량 → 라인 정지 → 수동 검사 → 재가동 무한 반복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3730752"/>
            <a:ext cx="292608" cy="292608"/>
          </a:xfrm>
          <a:prstGeom prst="rect">
            <a:avLst/>
          </a:prstGeom>
          <a:solidFill>
            <a:srgbClr val="3C7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66928" y="3730752"/>
            <a:ext cx="292608" cy="2926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976" y="3721608"/>
            <a:ext cx="4937760" cy="20116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150" b="1" i="0">
                <a:solidFill>
                  <a:srgbClr val="202124"/>
                </a:solidFill>
                <a:latin typeface="Pretendard"/>
              </a:rPr>
              <a:t>IT 전담인력 부재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976" y="3913632"/>
            <a:ext cx="4937760" cy="171842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lang="ko-KR" altLang="en-US" sz="950" b="0" i="0" dirty="0">
                <a:solidFill>
                  <a:srgbClr val="5F6668"/>
                </a:solidFill>
                <a:latin typeface="Pretendard"/>
              </a:rPr>
              <a:t>비용 절감을 위한 최소한의 인력 사용</a:t>
            </a:r>
            <a:r>
              <a:rPr sz="950" b="0" i="0" dirty="0">
                <a:solidFill>
                  <a:srgbClr val="5F6668"/>
                </a:solidFill>
                <a:latin typeface="Pretendard"/>
              </a:rPr>
              <a:t>, AI </a:t>
            </a:r>
            <a:r>
              <a:rPr sz="950" b="0" i="0" dirty="0" err="1">
                <a:solidFill>
                  <a:srgbClr val="5F6668"/>
                </a:solidFill>
                <a:latin typeface="Pretendard"/>
              </a:rPr>
              <a:t>도입</a:t>
            </a:r>
            <a:r>
              <a:rPr sz="950" b="0" i="0" dirty="0">
                <a:solidFill>
                  <a:srgbClr val="5F6668"/>
                </a:solidFill>
                <a:latin typeface="Pretendard"/>
              </a:rPr>
              <a:t> </a:t>
            </a:r>
            <a:r>
              <a:rPr sz="950" b="0" i="0" dirty="0" err="1">
                <a:solidFill>
                  <a:srgbClr val="5F6668"/>
                </a:solidFill>
                <a:latin typeface="Pretendard"/>
              </a:rPr>
              <a:t>진입장벽</a:t>
            </a:r>
            <a:endParaRPr sz="950" b="0" i="0" dirty="0">
              <a:solidFill>
                <a:srgbClr val="5F6668"/>
              </a:solidFill>
              <a:latin typeface="Pretendard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6053328" y="1764792"/>
            <a:ext cx="101600" cy="164592"/>
          </a:xfrm>
          <a:prstGeom prst="rect">
            <a:avLst/>
          </a:prstGeom>
          <a:solidFill>
            <a:srgbClr val="3C7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17920" y="1691640"/>
            <a:ext cx="5468112" cy="21031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200" b="1" i="0" dirty="0">
                <a:solidFill>
                  <a:schemeClr val="tx1"/>
                </a:solidFill>
                <a:latin typeface="Pretendard"/>
              </a:rPr>
              <a:t>2. </a:t>
            </a:r>
            <a:r>
              <a:rPr sz="1200" b="1" i="0" dirty="0" err="1">
                <a:solidFill>
                  <a:schemeClr val="tx1"/>
                </a:solidFill>
                <a:latin typeface="Pretendard"/>
              </a:rPr>
              <a:t>적용</a:t>
            </a:r>
            <a:r>
              <a:rPr sz="1200" b="1" i="0" dirty="0">
                <a:solidFill>
                  <a:schemeClr val="tx1"/>
                </a:solidFill>
                <a:latin typeface="Pretendard"/>
              </a:rPr>
              <a:t> </a:t>
            </a:r>
            <a:r>
              <a:rPr sz="1200" b="1" i="0" dirty="0" err="1">
                <a:solidFill>
                  <a:schemeClr val="tx1"/>
                </a:solidFill>
                <a:latin typeface="Pretendard"/>
              </a:rPr>
              <a:t>대상</a:t>
            </a:r>
            <a:r>
              <a:rPr sz="1200" b="1" i="0" dirty="0">
                <a:solidFill>
                  <a:schemeClr val="tx1"/>
                </a:solidFill>
                <a:latin typeface="Pretendard"/>
              </a:rPr>
              <a:t> · </a:t>
            </a:r>
            <a:r>
              <a:rPr sz="1200" b="1" i="0" dirty="0" err="1">
                <a:solidFill>
                  <a:schemeClr val="tx1"/>
                </a:solidFill>
                <a:latin typeface="Pretendard"/>
              </a:rPr>
              <a:t>적용</a:t>
            </a:r>
            <a:r>
              <a:rPr sz="1200" b="1" i="0" dirty="0">
                <a:solidFill>
                  <a:schemeClr val="tx1"/>
                </a:solidFill>
                <a:latin typeface="Pretendard"/>
              </a:rPr>
              <a:t> </a:t>
            </a:r>
            <a:r>
              <a:rPr lang="ko-KR" altLang="en-US" sz="1200" b="1" dirty="0">
                <a:solidFill>
                  <a:schemeClr val="tx1"/>
                </a:solidFill>
                <a:latin typeface="Pretendard"/>
              </a:rPr>
              <a:t>영역</a:t>
            </a:r>
            <a:endParaRPr sz="1200" b="1" i="0" dirty="0">
              <a:solidFill>
                <a:schemeClr val="tx1"/>
              </a:solidFill>
              <a:latin typeface="Pretendard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6053328" y="2116836"/>
            <a:ext cx="5650992" cy="1765919"/>
          </a:xfrm>
          <a:prstGeom prst="rect">
            <a:avLst/>
          </a:prstGeom>
          <a:solidFill>
            <a:srgbClr val="F5F8FD"/>
          </a:solidFill>
          <a:ln w="635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190488" y="2189988"/>
            <a:ext cx="5468112" cy="1539524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18000"/>
              </a:lnSpc>
            </a:pPr>
            <a:r>
              <a:rPr sz="1150" b="0" i="0" dirty="0">
                <a:solidFill>
                  <a:srgbClr val="202124"/>
                </a:solidFill>
                <a:latin typeface="Pretendard"/>
              </a:rPr>
              <a:t>• </a:t>
            </a:r>
            <a:r>
              <a:rPr sz="1150" b="0" i="0" dirty="0" err="1">
                <a:solidFill>
                  <a:srgbClr val="202124"/>
                </a:solidFill>
                <a:latin typeface="Pretendard"/>
              </a:rPr>
              <a:t>중소</a:t>
            </a:r>
            <a:r>
              <a:rPr sz="1150" b="0" i="0" dirty="0">
                <a:solidFill>
                  <a:srgbClr val="202124"/>
                </a:solidFill>
                <a:latin typeface="Pretendard"/>
              </a:rPr>
              <a:t> </a:t>
            </a:r>
            <a:r>
              <a:rPr sz="1150" b="0" i="0" dirty="0" err="1">
                <a:solidFill>
                  <a:srgbClr val="202124"/>
                </a:solidFill>
                <a:latin typeface="Pretendard"/>
              </a:rPr>
              <a:t>사출성형</a:t>
            </a:r>
            <a:r>
              <a:rPr sz="1150" b="0" i="0" dirty="0">
                <a:solidFill>
                  <a:srgbClr val="202124"/>
                </a:solidFill>
                <a:latin typeface="Pretendard"/>
              </a:rPr>
              <a:t> </a:t>
            </a:r>
            <a:r>
              <a:rPr sz="1150" b="0" i="0" dirty="0" err="1">
                <a:solidFill>
                  <a:srgbClr val="202124"/>
                </a:solidFill>
                <a:latin typeface="Pretendard"/>
              </a:rPr>
              <a:t>공장</a:t>
            </a:r>
            <a:r>
              <a:rPr sz="1150" b="0" i="0" dirty="0">
                <a:solidFill>
                  <a:srgbClr val="202124"/>
                </a:solidFill>
                <a:latin typeface="Pretendard"/>
              </a:rPr>
              <a:t> (50인 </a:t>
            </a:r>
            <a:r>
              <a:rPr sz="1150" b="0" i="0" dirty="0" err="1">
                <a:solidFill>
                  <a:srgbClr val="202124"/>
                </a:solidFill>
                <a:latin typeface="Pretendard"/>
              </a:rPr>
              <a:t>규모</a:t>
            </a:r>
            <a:r>
              <a:rPr sz="1150" b="0" i="0" dirty="0">
                <a:solidFill>
                  <a:srgbClr val="202124"/>
                </a:solidFill>
                <a:latin typeface="Pretendard"/>
              </a:rPr>
              <a:t>, IT </a:t>
            </a:r>
            <a:r>
              <a:rPr sz="1150" b="0" i="0" dirty="0" err="1">
                <a:solidFill>
                  <a:srgbClr val="202124"/>
                </a:solidFill>
                <a:latin typeface="Pretendard"/>
              </a:rPr>
              <a:t>전담인력</a:t>
            </a:r>
            <a:r>
              <a:rPr sz="1150" b="0" i="0" dirty="0">
                <a:solidFill>
                  <a:srgbClr val="202124"/>
                </a:solidFill>
                <a:latin typeface="Pretendard"/>
              </a:rPr>
              <a:t> </a:t>
            </a:r>
            <a:r>
              <a:rPr sz="1150" b="0" i="0" dirty="0" err="1">
                <a:solidFill>
                  <a:srgbClr val="202124"/>
                </a:solidFill>
                <a:latin typeface="Pretendard"/>
              </a:rPr>
              <a:t>부재</a:t>
            </a:r>
            <a:r>
              <a:rPr sz="1150" b="0" i="0" dirty="0">
                <a:solidFill>
                  <a:srgbClr val="202124"/>
                </a:solidFill>
                <a:latin typeface="Pretendard"/>
              </a:rPr>
              <a:t>)</a:t>
            </a:r>
            <a:endParaRPr lang="en-US" sz="1150" b="0" i="0" dirty="0">
              <a:solidFill>
                <a:srgbClr val="202124"/>
              </a:solidFill>
              <a:latin typeface="Pretendard"/>
            </a:endParaRPr>
          </a:p>
          <a:p>
            <a:pPr>
              <a:lnSpc>
                <a:spcPct val="118000"/>
              </a:lnSpc>
            </a:pPr>
            <a:endParaRPr sz="1150" b="0" i="0" dirty="0">
              <a:solidFill>
                <a:srgbClr val="202124"/>
              </a:solidFill>
              <a:latin typeface="Pretendard"/>
            </a:endParaRPr>
          </a:p>
          <a:p>
            <a:pPr>
              <a:lnSpc>
                <a:spcPct val="118000"/>
              </a:lnSpc>
            </a:pPr>
            <a:r>
              <a:rPr sz="1150" b="0" i="0" dirty="0">
                <a:solidFill>
                  <a:srgbClr val="202124"/>
                </a:solidFill>
                <a:latin typeface="Pretendard"/>
              </a:rPr>
              <a:t>• </a:t>
            </a:r>
            <a:r>
              <a:rPr sz="1150" b="0" i="0" dirty="0" err="1">
                <a:solidFill>
                  <a:srgbClr val="202124"/>
                </a:solidFill>
                <a:latin typeface="Pretendard"/>
              </a:rPr>
              <a:t>정부</a:t>
            </a:r>
            <a:r>
              <a:rPr sz="1150" b="0" i="0" dirty="0">
                <a:solidFill>
                  <a:srgbClr val="202124"/>
                </a:solidFill>
                <a:latin typeface="Pretendard"/>
              </a:rPr>
              <a:t> </a:t>
            </a:r>
            <a:r>
              <a:rPr sz="1150" b="0" i="0" dirty="0" err="1">
                <a:solidFill>
                  <a:srgbClr val="202124"/>
                </a:solidFill>
                <a:latin typeface="Pretendard"/>
              </a:rPr>
              <a:t>스마트공장</a:t>
            </a:r>
            <a:r>
              <a:rPr sz="1150" b="0" i="0" dirty="0">
                <a:solidFill>
                  <a:srgbClr val="202124"/>
                </a:solidFill>
                <a:latin typeface="Pretendard"/>
              </a:rPr>
              <a:t> </a:t>
            </a:r>
            <a:r>
              <a:rPr sz="1150" b="0" i="0" dirty="0" err="1">
                <a:solidFill>
                  <a:srgbClr val="202124"/>
                </a:solidFill>
                <a:latin typeface="Pretendard"/>
              </a:rPr>
              <a:t>보급사업</a:t>
            </a:r>
            <a:r>
              <a:rPr sz="1150" b="0" i="0" dirty="0">
                <a:solidFill>
                  <a:srgbClr val="202124"/>
                </a:solidFill>
                <a:latin typeface="Pretendard"/>
              </a:rPr>
              <a:t> 2025~2027, 3만개사 </a:t>
            </a:r>
            <a:r>
              <a:rPr sz="1150" b="0" i="0" dirty="0" err="1">
                <a:solidFill>
                  <a:srgbClr val="202124"/>
                </a:solidFill>
                <a:latin typeface="Pretendard"/>
              </a:rPr>
              <a:t>대상</a:t>
            </a:r>
            <a:endParaRPr lang="en-US" sz="1150" b="0" i="0" dirty="0">
              <a:solidFill>
                <a:srgbClr val="202124"/>
              </a:solidFill>
              <a:latin typeface="Pretendard"/>
            </a:endParaRPr>
          </a:p>
          <a:p>
            <a:pPr>
              <a:lnSpc>
                <a:spcPct val="118000"/>
              </a:lnSpc>
            </a:pPr>
            <a:endParaRPr sz="1150" b="0" i="0" dirty="0">
              <a:solidFill>
                <a:srgbClr val="202124"/>
              </a:solidFill>
              <a:latin typeface="Pretendard"/>
            </a:endParaRPr>
          </a:p>
          <a:p>
            <a:pPr>
              <a:lnSpc>
                <a:spcPct val="118000"/>
              </a:lnSpc>
            </a:pPr>
            <a:r>
              <a:rPr sz="1150" b="0" i="0" dirty="0">
                <a:solidFill>
                  <a:srgbClr val="202124"/>
                </a:solidFill>
                <a:latin typeface="Pretendard"/>
              </a:rPr>
              <a:t>• </a:t>
            </a:r>
            <a:r>
              <a:rPr sz="1150" b="0" i="0" dirty="0" err="1">
                <a:solidFill>
                  <a:srgbClr val="202124"/>
                </a:solidFill>
                <a:latin typeface="Pretendard"/>
              </a:rPr>
              <a:t>사출성형기</a:t>
            </a:r>
            <a:r>
              <a:rPr sz="1150" b="0" i="0" dirty="0">
                <a:solidFill>
                  <a:srgbClr val="202124"/>
                </a:solidFill>
                <a:latin typeface="Pretendard"/>
              </a:rPr>
              <a:t> 24센서 (</a:t>
            </a:r>
            <a:r>
              <a:rPr sz="1150" b="0" i="0" dirty="0" err="1">
                <a:solidFill>
                  <a:srgbClr val="202124"/>
                </a:solidFill>
                <a:latin typeface="Pretendard"/>
              </a:rPr>
              <a:t>시간</a:t>
            </a:r>
            <a:r>
              <a:rPr sz="1150" b="0" i="0" dirty="0">
                <a:solidFill>
                  <a:srgbClr val="202124"/>
                </a:solidFill>
                <a:latin typeface="Pretendard"/>
              </a:rPr>
              <a:t> 5·위치 3·속도 3·압력 5·온도 8) </a:t>
            </a:r>
            <a:r>
              <a:rPr sz="1150" b="0" i="0" dirty="0" err="1">
                <a:solidFill>
                  <a:srgbClr val="202124"/>
                </a:solidFill>
                <a:latin typeface="Pretendard"/>
              </a:rPr>
              <a:t>실시간</a:t>
            </a:r>
            <a:r>
              <a:rPr sz="1150" b="0" i="0" dirty="0">
                <a:solidFill>
                  <a:srgbClr val="202124"/>
                </a:solidFill>
                <a:latin typeface="Pretendard"/>
              </a:rPr>
              <a:t> </a:t>
            </a:r>
            <a:r>
              <a:rPr sz="1150" b="0" i="0" dirty="0" err="1">
                <a:solidFill>
                  <a:srgbClr val="202124"/>
                </a:solidFill>
                <a:latin typeface="Pretendard"/>
              </a:rPr>
              <a:t>모니터링</a:t>
            </a:r>
            <a:endParaRPr lang="en-US" sz="1150" b="0" i="0" dirty="0">
              <a:solidFill>
                <a:srgbClr val="202124"/>
              </a:solidFill>
              <a:latin typeface="Pretendard"/>
            </a:endParaRPr>
          </a:p>
          <a:p>
            <a:pPr>
              <a:lnSpc>
                <a:spcPct val="118000"/>
              </a:lnSpc>
            </a:pPr>
            <a:endParaRPr sz="1150" b="0" i="0" dirty="0">
              <a:solidFill>
                <a:srgbClr val="202124"/>
              </a:solidFill>
              <a:latin typeface="Pretendard"/>
            </a:endParaRPr>
          </a:p>
          <a:p>
            <a:pPr>
              <a:lnSpc>
                <a:spcPct val="118000"/>
              </a:lnSpc>
            </a:pPr>
            <a:r>
              <a:rPr sz="1150" b="0" i="0" dirty="0">
                <a:solidFill>
                  <a:srgbClr val="202124"/>
                </a:solidFill>
                <a:latin typeface="Pretendard"/>
              </a:rPr>
              <a:t>• </a:t>
            </a:r>
            <a:r>
              <a:rPr sz="1150" b="0" i="0" dirty="0" err="1">
                <a:solidFill>
                  <a:srgbClr val="202124"/>
                </a:solidFill>
                <a:latin typeface="Pretendard"/>
              </a:rPr>
              <a:t>이상</a:t>
            </a:r>
            <a:r>
              <a:rPr sz="1150" b="0" i="0" dirty="0">
                <a:solidFill>
                  <a:srgbClr val="202124"/>
                </a:solidFill>
                <a:latin typeface="Pretendard"/>
              </a:rPr>
              <a:t> </a:t>
            </a:r>
            <a:r>
              <a:rPr sz="1150" b="0" i="0" dirty="0" err="1">
                <a:solidFill>
                  <a:srgbClr val="202124"/>
                </a:solidFill>
                <a:latin typeface="Pretendard"/>
              </a:rPr>
              <a:t>탐지</a:t>
            </a:r>
            <a:r>
              <a:rPr sz="1150" b="0" i="0" dirty="0">
                <a:solidFill>
                  <a:srgbClr val="202124"/>
                </a:solidFill>
                <a:latin typeface="Pretendard"/>
              </a:rPr>
              <a:t> + SHAP </a:t>
            </a:r>
            <a:r>
              <a:rPr sz="1150" b="0" i="0" dirty="0" err="1">
                <a:solidFill>
                  <a:srgbClr val="202124"/>
                </a:solidFill>
                <a:latin typeface="Pretendard"/>
              </a:rPr>
              <a:t>원인</a:t>
            </a:r>
            <a:r>
              <a:rPr sz="1150" b="0" i="0" dirty="0">
                <a:solidFill>
                  <a:srgbClr val="202124"/>
                </a:solidFill>
                <a:latin typeface="Pretendard"/>
              </a:rPr>
              <a:t> </a:t>
            </a:r>
            <a:r>
              <a:rPr sz="1150" b="0" i="0" dirty="0" err="1">
                <a:solidFill>
                  <a:srgbClr val="202124"/>
                </a:solidFill>
                <a:latin typeface="Pretendard"/>
              </a:rPr>
              <a:t>진단</a:t>
            </a:r>
            <a:r>
              <a:rPr sz="1150" b="0" i="0" dirty="0">
                <a:solidFill>
                  <a:srgbClr val="202124"/>
                </a:solidFill>
                <a:latin typeface="Pretendard"/>
              </a:rPr>
              <a:t> + </a:t>
            </a:r>
            <a:r>
              <a:rPr sz="1150" b="0" i="0" dirty="0" err="1">
                <a:solidFill>
                  <a:srgbClr val="202124"/>
                </a:solidFill>
                <a:latin typeface="Pretendard"/>
              </a:rPr>
              <a:t>처방</a:t>
            </a:r>
            <a:r>
              <a:rPr sz="1150" b="0" i="0" dirty="0">
                <a:solidFill>
                  <a:srgbClr val="202124"/>
                </a:solidFill>
                <a:latin typeface="Pretendard"/>
              </a:rPr>
              <a:t> </a:t>
            </a:r>
            <a:r>
              <a:rPr sz="1150" b="0" i="0" dirty="0" err="1">
                <a:solidFill>
                  <a:srgbClr val="202124"/>
                </a:solidFill>
                <a:latin typeface="Pretendard"/>
              </a:rPr>
              <a:t>자동</a:t>
            </a:r>
            <a:r>
              <a:rPr sz="1150" b="0" i="0" dirty="0">
                <a:solidFill>
                  <a:srgbClr val="202124"/>
                </a:solidFill>
                <a:latin typeface="Pretendard"/>
              </a:rPr>
              <a:t> </a:t>
            </a:r>
            <a:r>
              <a:rPr sz="1150" b="0" i="0" dirty="0" err="1">
                <a:solidFill>
                  <a:srgbClr val="202124"/>
                </a:solidFill>
                <a:latin typeface="Pretendard"/>
              </a:rPr>
              <a:t>출력</a:t>
            </a:r>
            <a:endParaRPr sz="1150" b="0" i="0" dirty="0">
              <a:solidFill>
                <a:srgbClr val="202124"/>
              </a:solidFill>
              <a:latin typeface="Pretendard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566928" y="4462272"/>
            <a:ext cx="101600" cy="164592"/>
          </a:xfrm>
          <a:prstGeom prst="rect">
            <a:avLst/>
          </a:prstGeom>
          <a:solidFill>
            <a:srgbClr val="3C7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31520" y="4389120"/>
            <a:ext cx="10954512" cy="21031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200" b="1" i="0">
                <a:solidFill>
                  <a:schemeClr val="tx1"/>
                </a:solidFill>
                <a:latin typeface="Pretendard"/>
              </a:rPr>
              <a:t>3. 문제 중요성 · 해결 후 기대 변화 (KPI)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" y="4773168"/>
            <a:ext cx="5285232" cy="1131379"/>
          </a:xfrm>
          <a:prstGeom prst="rect">
            <a:avLst/>
          </a:prstGeom>
          <a:solidFill>
            <a:srgbClr val="F5F8FD"/>
          </a:solidFill>
          <a:ln w="635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04088" y="4846320"/>
            <a:ext cx="5120640" cy="899798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16000"/>
              </a:lnSpc>
            </a:pPr>
            <a:r>
              <a:rPr sz="1150" b="0" i="0" dirty="0">
                <a:solidFill>
                  <a:srgbClr val="202124"/>
                </a:solidFill>
                <a:latin typeface="Pretendard"/>
              </a:rPr>
              <a:t>• </a:t>
            </a:r>
            <a:r>
              <a:rPr sz="1150" b="0" i="0" dirty="0" err="1">
                <a:solidFill>
                  <a:srgbClr val="202124"/>
                </a:solidFill>
                <a:latin typeface="Pretendard"/>
              </a:rPr>
              <a:t>불량</a:t>
            </a:r>
            <a:r>
              <a:rPr lang="ko-KR" altLang="en-US" sz="1150" dirty="0">
                <a:solidFill>
                  <a:srgbClr val="202124"/>
                </a:solidFill>
                <a:latin typeface="Pretendard"/>
              </a:rPr>
              <a:t>품의 </a:t>
            </a:r>
            <a:r>
              <a:rPr sz="1150" b="1" i="0" dirty="0" err="1">
                <a:solidFill>
                  <a:srgbClr val="202124"/>
                </a:solidFill>
                <a:latin typeface="Pretendard"/>
              </a:rPr>
              <a:t>재료+가공+폐기</a:t>
            </a:r>
            <a:r>
              <a:rPr lang="en-US" sz="1150" b="1" i="0" dirty="0">
                <a:solidFill>
                  <a:srgbClr val="202124"/>
                </a:solidFill>
                <a:latin typeface="Pretendard"/>
              </a:rPr>
              <a:t>+</a:t>
            </a:r>
            <a:r>
              <a:rPr lang="ko-KR" altLang="en-US" sz="1150" b="1" i="0" dirty="0">
                <a:solidFill>
                  <a:srgbClr val="202124"/>
                </a:solidFill>
                <a:latin typeface="Pretendard"/>
              </a:rPr>
              <a:t>프로세스 병목</a:t>
            </a:r>
            <a:r>
              <a:rPr lang="en-US" sz="1150" b="1" i="0" dirty="0">
                <a:solidFill>
                  <a:srgbClr val="202124"/>
                </a:solidFill>
                <a:latin typeface="Pretendard"/>
              </a:rPr>
              <a:t> </a:t>
            </a:r>
            <a:r>
              <a:rPr lang="ko-KR" altLang="en-US" sz="1150" b="1" i="0" dirty="0">
                <a:solidFill>
                  <a:srgbClr val="202124"/>
                </a:solidFill>
                <a:latin typeface="Pretendard"/>
              </a:rPr>
              <a:t>비용 </a:t>
            </a:r>
            <a:r>
              <a:rPr lang="ko-KR" altLang="en-US" sz="1150" b="0" i="0" dirty="0">
                <a:solidFill>
                  <a:srgbClr val="202124"/>
                </a:solidFill>
                <a:latin typeface="Pretendard"/>
              </a:rPr>
              <a:t>등</a:t>
            </a:r>
            <a:r>
              <a:rPr lang="ko-KR" altLang="en-US" sz="1150" dirty="0">
                <a:solidFill>
                  <a:srgbClr val="202124"/>
                </a:solidFill>
                <a:latin typeface="Pretendard"/>
              </a:rPr>
              <a:t>의 손실 발생</a:t>
            </a:r>
            <a:endParaRPr sz="1150" b="0" i="0" dirty="0">
              <a:solidFill>
                <a:srgbClr val="202124"/>
              </a:solidFill>
              <a:latin typeface="Pretendard"/>
            </a:endParaRPr>
          </a:p>
          <a:p>
            <a:pPr>
              <a:lnSpc>
                <a:spcPct val="116000"/>
              </a:lnSpc>
            </a:pPr>
            <a:r>
              <a:rPr lang="en-US" altLang="ko-KR" sz="1150" b="0" i="0" dirty="0">
                <a:solidFill>
                  <a:srgbClr val="202124"/>
                </a:solidFill>
                <a:latin typeface="Pretendard"/>
              </a:rPr>
              <a:t>• </a:t>
            </a:r>
            <a:r>
              <a:rPr lang="ko-KR" altLang="en-US" sz="1150" b="0" i="0" dirty="0">
                <a:solidFill>
                  <a:srgbClr val="202124"/>
                </a:solidFill>
                <a:latin typeface="Pretendard"/>
              </a:rPr>
              <a:t>사출성형 표준 벤치마크 부재</a:t>
            </a:r>
          </a:p>
          <a:p>
            <a:pPr>
              <a:lnSpc>
                <a:spcPct val="116000"/>
              </a:lnSpc>
            </a:pPr>
            <a:r>
              <a:rPr sz="1150" b="0" i="0" dirty="0">
                <a:solidFill>
                  <a:schemeClr val="tx1"/>
                </a:solidFill>
                <a:latin typeface="Pretendard"/>
              </a:rPr>
              <a:t>   </a:t>
            </a:r>
            <a:r>
              <a:rPr sz="1150" b="1" i="0" dirty="0">
                <a:solidFill>
                  <a:schemeClr val="tx1"/>
                </a:solidFill>
                <a:latin typeface="Pretendard"/>
              </a:rPr>
              <a:t>→ KAMP </a:t>
            </a:r>
            <a:r>
              <a:rPr sz="1150" b="1" i="0" dirty="0" err="1">
                <a:solidFill>
                  <a:schemeClr val="tx1"/>
                </a:solidFill>
                <a:latin typeface="Pretendard"/>
              </a:rPr>
              <a:t>공개</a:t>
            </a:r>
            <a:r>
              <a:rPr sz="1150" b="1" i="0" dirty="0">
                <a:solidFill>
                  <a:schemeClr val="tx1"/>
                </a:solidFill>
                <a:latin typeface="Pretendard"/>
              </a:rPr>
              <a:t> </a:t>
            </a:r>
            <a:r>
              <a:rPr sz="1150" b="1" i="0" dirty="0" err="1">
                <a:solidFill>
                  <a:schemeClr val="tx1"/>
                </a:solidFill>
                <a:latin typeface="Pretendard"/>
              </a:rPr>
              <a:t>데이터</a:t>
            </a:r>
            <a:r>
              <a:rPr sz="1150" b="1" i="0" dirty="0">
                <a:solidFill>
                  <a:schemeClr val="tx1"/>
                </a:solidFill>
                <a:latin typeface="Pretendard"/>
              </a:rPr>
              <a:t> </a:t>
            </a:r>
            <a:r>
              <a:rPr sz="1150" b="1" i="0" dirty="0" err="1">
                <a:solidFill>
                  <a:schemeClr val="tx1"/>
                </a:solidFill>
                <a:latin typeface="Pretendard"/>
              </a:rPr>
              <a:t>활용</a:t>
            </a:r>
            <a:r>
              <a:rPr lang="en-US" sz="1150" b="1" i="0" dirty="0">
                <a:solidFill>
                  <a:schemeClr val="tx1"/>
                </a:solidFill>
                <a:latin typeface="Pretendard"/>
              </a:rPr>
              <a:t> </a:t>
            </a:r>
            <a:r>
              <a:rPr lang="ko-KR" altLang="en-US" sz="1150" b="1" i="0" dirty="0">
                <a:solidFill>
                  <a:schemeClr val="tx1"/>
                </a:solidFill>
                <a:latin typeface="Pretendard"/>
              </a:rPr>
              <a:t>및 분석</a:t>
            </a:r>
            <a:endParaRPr lang="en-US" sz="1150" b="1" dirty="0">
              <a:solidFill>
                <a:schemeClr val="tx1"/>
              </a:solidFill>
              <a:latin typeface="Pretendard"/>
            </a:endParaRPr>
          </a:p>
          <a:p>
            <a:pPr>
              <a:lnSpc>
                <a:spcPct val="116000"/>
              </a:lnSpc>
            </a:pPr>
            <a:r>
              <a:rPr sz="1150" b="1" i="0" dirty="0">
                <a:solidFill>
                  <a:srgbClr val="3C7CDE"/>
                </a:solidFill>
                <a:latin typeface="Pretendard"/>
              </a:rPr>
              <a:t>• </a:t>
            </a:r>
            <a:r>
              <a:rPr sz="1150" b="1" i="0" dirty="0" err="1">
                <a:solidFill>
                  <a:srgbClr val="3C7CDE"/>
                </a:solidFill>
                <a:latin typeface="Pretendard"/>
              </a:rPr>
              <a:t>정부</a:t>
            </a:r>
            <a:r>
              <a:rPr sz="1150" b="1" i="0" dirty="0">
                <a:solidFill>
                  <a:srgbClr val="3C7CDE"/>
                </a:solidFill>
                <a:latin typeface="Pretendard"/>
              </a:rPr>
              <a:t> </a:t>
            </a:r>
            <a:r>
              <a:rPr sz="1150" b="1" i="0" dirty="0" err="1">
                <a:solidFill>
                  <a:srgbClr val="3C7CDE"/>
                </a:solidFill>
                <a:latin typeface="Pretendard"/>
              </a:rPr>
              <a:t>스마트공장</a:t>
            </a:r>
            <a:r>
              <a:rPr sz="1150" b="1" i="0" dirty="0">
                <a:solidFill>
                  <a:srgbClr val="3C7CDE"/>
                </a:solidFill>
                <a:latin typeface="Pretendard"/>
              </a:rPr>
              <a:t> </a:t>
            </a:r>
            <a:r>
              <a:rPr sz="1150" b="1" i="0" dirty="0" err="1">
                <a:solidFill>
                  <a:srgbClr val="3C7CDE"/>
                </a:solidFill>
                <a:latin typeface="Pretendard"/>
              </a:rPr>
              <a:t>보급</a:t>
            </a:r>
            <a:r>
              <a:rPr sz="1150" b="1" i="0" dirty="0">
                <a:solidFill>
                  <a:srgbClr val="3C7CDE"/>
                </a:solidFill>
                <a:latin typeface="Pretendard"/>
              </a:rPr>
              <a:t> 2025~2027 3만개사 </a:t>
            </a:r>
            <a:r>
              <a:rPr lang="ko-KR" altLang="en-US" sz="1150" b="1" i="0" dirty="0">
                <a:solidFill>
                  <a:srgbClr val="3C7CDE"/>
                </a:solidFill>
                <a:latin typeface="Pretendard"/>
              </a:rPr>
              <a:t>예정 </a:t>
            </a:r>
            <a:r>
              <a:rPr sz="1150" b="1" i="0" dirty="0">
                <a:solidFill>
                  <a:srgbClr val="3C7CDE"/>
                </a:solidFill>
                <a:latin typeface="Pretendard"/>
              </a:rPr>
              <a:t>→ </a:t>
            </a:r>
            <a:r>
              <a:rPr sz="1150" b="1" i="0" dirty="0" err="1">
                <a:solidFill>
                  <a:srgbClr val="3C7CDE"/>
                </a:solidFill>
                <a:latin typeface="Pretendard"/>
              </a:rPr>
              <a:t>진입</a:t>
            </a:r>
            <a:r>
              <a:rPr sz="1150" b="1" i="0" dirty="0">
                <a:solidFill>
                  <a:srgbClr val="3C7CDE"/>
                </a:solidFill>
                <a:latin typeface="Pretendard"/>
              </a:rPr>
              <a:t> </a:t>
            </a:r>
            <a:r>
              <a:rPr lang="ko-KR" altLang="en-US" sz="1150" b="1" i="0" dirty="0">
                <a:solidFill>
                  <a:srgbClr val="3C7CDE"/>
                </a:solidFill>
                <a:latin typeface="Pretendard"/>
              </a:rPr>
              <a:t>최</a:t>
            </a:r>
            <a:r>
              <a:rPr sz="1150" b="1" i="0" dirty="0" err="1">
                <a:solidFill>
                  <a:srgbClr val="3C7CDE"/>
                </a:solidFill>
                <a:latin typeface="Pretendard"/>
              </a:rPr>
              <a:t>적기</a:t>
            </a:r>
            <a:endParaRPr sz="1150" b="1" i="0" dirty="0">
              <a:solidFill>
                <a:srgbClr val="3C7CDE"/>
              </a:solidFill>
              <a:latin typeface="Pretendard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6053328" y="4773168"/>
            <a:ext cx="2697480" cy="505079"/>
          </a:xfrm>
          <a:prstGeom prst="rect">
            <a:avLst/>
          </a:prstGeom>
          <a:solidFill>
            <a:srgbClr val="F5F8FD"/>
          </a:solidFill>
          <a:ln w="635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053327" y="4773168"/>
            <a:ext cx="45719" cy="505079"/>
          </a:xfrm>
          <a:prstGeom prst="rect">
            <a:avLst/>
          </a:prstGeom>
          <a:solidFill>
            <a:srgbClr val="3C7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163056" y="4833551"/>
            <a:ext cx="2514600" cy="17184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lang="en-US" altLang="ko-KR" sz="950" b="1" i="0" dirty="0">
                <a:solidFill>
                  <a:srgbClr val="5F6668"/>
                </a:solidFill>
                <a:latin typeface="Pretendard"/>
              </a:rPr>
              <a:t>[</a:t>
            </a:r>
            <a:r>
              <a:rPr lang="ko-KR" altLang="en-US" sz="950" b="1" dirty="0">
                <a:solidFill>
                  <a:srgbClr val="5F6668"/>
                </a:solidFill>
                <a:latin typeface="Pretendard"/>
              </a:rPr>
              <a:t>구현 완료</a:t>
            </a:r>
            <a:r>
              <a:rPr lang="en-US" altLang="ko-KR" sz="950" b="1" i="0" dirty="0">
                <a:solidFill>
                  <a:srgbClr val="5F6668"/>
                </a:solidFill>
                <a:latin typeface="Pretendard"/>
              </a:rPr>
              <a:t>]</a:t>
            </a:r>
            <a:r>
              <a:rPr lang="ko-KR" altLang="en-US" sz="950" b="1" i="0" dirty="0">
                <a:solidFill>
                  <a:srgbClr val="5F6668"/>
                </a:solidFill>
                <a:latin typeface="Pretendard"/>
              </a:rPr>
              <a:t> </a:t>
            </a:r>
            <a:r>
              <a:rPr sz="950" b="1" i="0" dirty="0">
                <a:solidFill>
                  <a:srgbClr val="5F6668"/>
                </a:solidFill>
                <a:latin typeface="Pretendard"/>
              </a:rPr>
              <a:t>4 </a:t>
            </a:r>
            <a:r>
              <a:rPr lang="en-US" sz="950" b="1" i="0" dirty="0">
                <a:solidFill>
                  <a:srgbClr val="5F6668"/>
                </a:solidFill>
                <a:latin typeface="Pretendard"/>
              </a:rPr>
              <a:t>- </a:t>
            </a:r>
            <a:r>
              <a:rPr sz="950" b="1" i="0" dirty="0">
                <a:solidFill>
                  <a:srgbClr val="5F6668"/>
                </a:solidFill>
                <a:latin typeface="Pretendard"/>
              </a:rPr>
              <a:t>AI </a:t>
            </a:r>
            <a:r>
              <a:rPr sz="950" b="1" i="0" dirty="0" err="1">
                <a:solidFill>
                  <a:srgbClr val="5F6668"/>
                </a:solidFill>
                <a:latin typeface="Pretendard"/>
              </a:rPr>
              <a:t>합집합</a:t>
            </a:r>
            <a:endParaRPr sz="950" b="1" i="0" dirty="0">
              <a:solidFill>
                <a:srgbClr val="5F6668"/>
              </a:solidFill>
              <a:latin typeface="Pretendard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172888" y="5015483"/>
            <a:ext cx="2514600" cy="21031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200" b="1" i="0" dirty="0">
                <a:solidFill>
                  <a:srgbClr val="3C7CDE"/>
                </a:solidFill>
                <a:latin typeface="Pretendard"/>
              </a:rPr>
              <a:t>Recall 0.795</a:t>
            </a:r>
            <a:r>
              <a:rPr lang="en-US" sz="1200" b="1" i="0" dirty="0">
                <a:solidFill>
                  <a:srgbClr val="3C7CDE"/>
                </a:solidFill>
                <a:latin typeface="Pretendard"/>
              </a:rPr>
              <a:t>, Precision 0.8125</a:t>
            </a:r>
            <a:endParaRPr sz="1200" b="1" i="0" dirty="0">
              <a:solidFill>
                <a:srgbClr val="3C7CDE"/>
              </a:solidFill>
              <a:latin typeface="Pretendard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9002908" y="4773168"/>
            <a:ext cx="2697480" cy="497015"/>
          </a:xfrm>
          <a:prstGeom prst="rect">
            <a:avLst/>
          </a:prstGeom>
          <a:solidFill>
            <a:srgbClr val="F5F8FD"/>
          </a:solidFill>
          <a:ln w="635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116193" y="4823130"/>
            <a:ext cx="2514600" cy="2011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950" b="1" i="0" dirty="0">
                <a:solidFill>
                  <a:srgbClr val="5F6668"/>
                </a:solidFill>
                <a:latin typeface="Pretendard"/>
              </a:rPr>
              <a:t>[</a:t>
            </a:r>
            <a:r>
              <a:rPr sz="950" b="1" i="0" dirty="0" err="1">
                <a:solidFill>
                  <a:srgbClr val="5F6668"/>
                </a:solidFill>
                <a:latin typeface="Pretendard"/>
              </a:rPr>
              <a:t>추정치</a:t>
            </a:r>
            <a:r>
              <a:rPr sz="950" b="1" i="0" dirty="0">
                <a:solidFill>
                  <a:srgbClr val="5F6668"/>
                </a:solidFill>
                <a:latin typeface="Pretendard"/>
              </a:rPr>
              <a:t>] </a:t>
            </a:r>
            <a:r>
              <a:rPr sz="950" b="1" i="0" dirty="0" err="1">
                <a:solidFill>
                  <a:srgbClr val="5F6668"/>
                </a:solidFill>
                <a:latin typeface="Pretendard"/>
              </a:rPr>
              <a:t>비용</a:t>
            </a:r>
            <a:r>
              <a:rPr sz="950" b="1" i="0" dirty="0">
                <a:solidFill>
                  <a:srgbClr val="5F6668"/>
                </a:solidFill>
                <a:latin typeface="Pretendard"/>
              </a:rPr>
              <a:t> </a:t>
            </a:r>
            <a:r>
              <a:rPr sz="950" b="1" i="0" dirty="0" err="1">
                <a:solidFill>
                  <a:srgbClr val="5F6668"/>
                </a:solidFill>
                <a:latin typeface="Pretendard"/>
              </a:rPr>
              <a:t>절감</a:t>
            </a:r>
            <a:endParaRPr sz="950" b="1" i="0" dirty="0">
              <a:solidFill>
                <a:srgbClr val="5F6668"/>
              </a:solidFill>
              <a:latin typeface="Pretendard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9116193" y="5008555"/>
            <a:ext cx="2514600" cy="21031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200" b="1" i="0" dirty="0">
                <a:solidFill>
                  <a:srgbClr val="3C7CDE"/>
                </a:solidFill>
                <a:latin typeface="Pretendard"/>
              </a:rPr>
              <a:t>연 </a:t>
            </a:r>
            <a:r>
              <a:rPr lang="en-US" sz="1200" b="1" dirty="0">
                <a:solidFill>
                  <a:srgbClr val="3C7CDE"/>
                </a:solidFill>
                <a:latin typeface="Pretendard"/>
              </a:rPr>
              <a:t>1</a:t>
            </a:r>
            <a:r>
              <a:rPr lang="ko-KR" altLang="en-US" sz="1200" b="1" dirty="0">
                <a:solidFill>
                  <a:srgbClr val="3C7CDE"/>
                </a:solidFill>
                <a:latin typeface="Pretendard"/>
              </a:rPr>
              <a:t>억 이상</a:t>
            </a:r>
            <a:r>
              <a:rPr lang="en-US" altLang="ko-KR" sz="1200" b="1" dirty="0">
                <a:solidFill>
                  <a:srgbClr val="3C7CDE"/>
                </a:solidFill>
                <a:latin typeface="Pretendard"/>
              </a:rPr>
              <a:t>(</a:t>
            </a:r>
            <a:r>
              <a:rPr lang="ko-KR" altLang="en-US" sz="1200" b="1" dirty="0">
                <a:solidFill>
                  <a:srgbClr val="3C7CDE"/>
                </a:solidFill>
                <a:latin typeface="Pretendard"/>
              </a:rPr>
              <a:t>폐기</a:t>
            </a:r>
            <a:r>
              <a:rPr lang="en-US" altLang="ko-KR" sz="1200" b="1" dirty="0">
                <a:solidFill>
                  <a:srgbClr val="3C7CDE"/>
                </a:solidFill>
                <a:latin typeface="Pretendard"/>
              </a:rPr>
              <a:t>, </a:t>
            </a:r>
            <a:r>
              <a:rPr lang="ko-KR" altLang="en-US" sz="1200" b="1" dirty="0">
                <a:solidFill>
                  <a:srgbClr val="3C7CDE"/>
                </a:solidFill>
                <a:latin typeface="Pretendard"/>
              </a:rPr>
              <a:t>병목 비용 최소화</a:t>
            </a:r>
            <a:r>
              <a:rPr lang="en-US" altLang="ko-KR" sz="1200" b="1" dirty="0">
                <a:solidFill>
                  <a:srgbClr val="3C7CDE"/>
                </a:solidFill>
                <a:latin typeface="Pretendard"/>
              </a:rPr>
              <a:t>)</a:t>
            </a:r>
            <a:endParaRPr sz="1200" b="1" i="0" dirty="0">
              <a:solidFill>
                <a:srgbClr val="3C7CDE"/>
              </a:solidFill>
              <a:latin typeface="Pretendard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6053328" y="5404594"/>
            <a:ext cx="2697480" cy="499953"/>
          </a:xfrm>
          <a:prstGeom prst="rect">
            <a:avLst/>
          </a:prstGeom>
          <a:solidFill>
            <a:srgbClr val="F5F8FD"/>
          </a:solidFill>
          <a:ln w="635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6053327" y="5399468"/>
            <a:ext cx="45719" cy="505079"/>
          </a:xfrm>
          <a:prstGeom prst="rect">
            <a:avLst/>
          </a:prstGeom>
          <a:solidFill>
            <a:srgbClr val="3C7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163056" y="5450314"/>
            <a:ext cx="2514600" cy="2011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950" b="1" i="0">
                <a:solidFill>
                  <a:srgbClr val="5F6668"/>
                </a:solidFill>
                <a:latin typeface="Pretendard"/>
              </a:rPr>
              <a:t>[구현 완료]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63056" y="5646909"/>
            <a:ext cx="2514600" cy="21031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lang="ko-KR" altLang="en-US" sz="1200" b="1" dirty="0">
                <a:solidFill>
                  <a:srgbClr val="3C7CDE"/>
                </a:solidFill>
                <a:latin typeface="Pretendard"/>
              </a:rPr>
              <a:t>수 초 이내 응답</a:t>
            </a:r>
            <a:endParaRPr sz="1200" b="1" i="0" dirty="0">
              <a:solidFill>
                <a:srgbClr val="3C7CDE"/>
              </a:solidFill>
              <a:latin typeface="Pretendard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9116193" y="5464643"/>
            <a:ext cx="2514600" cy="2011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950" b="1" i="0" dirty="0">
                <a:solidFill>
                  <a:srgbClr val="5F6668"/>
                </a:solidFill>
                <a:latin typeface="Pretendard"/>
              </a:rPr>
              <a:t>[</a:t>
            </a:r>
            <a:r>
              <a:rPr sz="950" b="1" i="0" dirty="0" err="1">
                <a:solidFill>
                  <a:srgbClr val="5F6668"/>
                </a:solidFill>
                <a:latin typeface="Pretendard"/>
              </a:rPr>
              <a:t>추정치</a:t>
            </a:r>
            <a:r>
              <a:rPr sz="950" b="1" i="0" dirty="0">
                <a:solidFill>
                  <a:srgbClr val="5F6668"/>
                </a:solidFill>
                <a:latin typeface="Pretendard"/>
              </a:rPr>
              <a:t>] </a:t>
            </a:r>
            <a:r>
              <a:rPr sz="950" b="1" i="0" dirty="0" err="1">
                <a:solidFill>
                  <a:srgbClr val="5F6668"/>
                </a:solidFill>
                <a:latin typeface="Pretendard"/>
              </a:rPr>
              <a:t>회수율</a:t>
            </a:r>
            <a:endParaRPr sz="950" b="1" i="0" dirty="0">
              <a:solidFill>
                <a:srgbClr val="5F6668"/>
              </a:solidFill>
              <a:latin typeface="Pretendard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9116193" y="5652215"/>
            <a:ext cx="2514600" cy="21031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200" b="1" i="0" dirty="0">
                <a:solidFill>
                  <a:srgbClr val="3C7CDE"/>
                </a:solidFill>
                <a:latin typeface="Pretendard"/>
              </a:rPr>
              <a:t>ROI </a:t>
            </a:r>
            <a:r>
              <a:rPr lang="en-US" sz="1200" b="1" dirty="0">
                <a:solidFill>
                  <a:srgbClr val="3C7CDE"/>
                </a:solidFill>
                <a:latin typeface="Pretendard"/>
              </a:rPr>
              <a:t>5</a:t>
            </a:r>
            <a:r>
              <a:rPr sz="1200" b="1" i="0" dirty="0">
                <a:solidFill>
                  <a:srgbClr val="3C7CDE"/>
                </a:solidFill>
                <a:latin typeface="Pretendard"/>
              </a:rPr>
              <a:t>배</a:t>
            </a:r>
            <a:r>
              <a:rPr lang="en-US" sz="1200" b="1" i="0" dirty="0">
                <a:solidFill>
                  <a:srgbClr val="3C7CDE"/>
                </a:solidFill>
                <a:latin typeface="Pretendard"/>
              </a:rPr>
              <a:t> </a:t>
            </a:r>
            <a:r>
              <a:rPr lang="ko-KR" altLang="en-US" sz="1200" b="1" i="0" dirty="0">
                <a:solidFill>
                  <a:srgbClr val="3C7CDE"/>
                </a:solidFill>
                <a:latin typeface="Pretendard"/>
              </a:rPr>
              <a:t>이상</a:t>
            </a:r>
            <a:r>
              <a:rPr lang="en-US" altLang="ko-KR" sz="1200" b="1" i="0" dirty="0">
                <a:solidFill>
                  <a:srgbClr val="3C7CDE"/>
                </a:solidFill>
                <a:latin typeface="Pretendard"/>
              </a:rPr>
              <a:t>(</a:t>
            </a:r>
            <a:r>
              <a:rPr lang="ko-KR" altLang="en-US" sz="1200" b="1" dirty="0">
                <a:solidFill>
                  <a:srgbClr val="3C7CDE"/>
                </a:solidFill>
                <a:latin typeface="Pretendard"/>
              </a:rPr>
              <a:t>모델 비용 대비 절감액</a:t>
            </a:r>
            <a:r>
              <a:rPr lang="en-US" altLang="ko-KR" sz="1200" b="1" dirty="0">
                <a:solidFill>
                  <a:srgbClr val="3C7CDE"/>
                </a:solidFill>
                <a:latin typeface="Pretendard"/>
              </a:rPr>
              <a:t>)</a:t>
            </a:r>
            <a:endParaRPr sz="1200" b="1" i="0" dirty="0">
              <a:solidFill>
                <a:srgbClr val="3C7CDE"/>
              </a:solidFill>
              <a:latin typeface="Pretendard"/>
            </a:endParaRPr>
          </a:p>
        </p:txBody>
      </p:sp>
      <p:sp>
        <p:nvSpPr>
          <p:cNvPr id="9" name="Rectangle 53">
            <a:extLst>
              <a:ext uri="{FF2B5EF4-FFF2-40B4-BE49-F238E27FC236}">
                <a16:creationId xmlns:a16="http://schemas.microsoft.com/office/drawing/2014/main" id="{66BA1D83-741F-688C-0E71-145583295BDB}"/>
              </a:ext>
            </a:extLst>
          </p:cNvPr>
          <p:cNvSpPr/>
          <p:nvPr/>
        </p:nvSpPr>
        <p:spPr>
          <a:xfrm>
            <a:off x="9002908" y="5407064"/>
            <a:ext cx="45719" cy="505079"/>
          </a:xfrm>
          <a:prstGeom prst="rect">
            <a:avLst/>
          </a:prstGeom>
          <a:solidFill>
            <a:srgbClr val="3C7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53">
            <a:extLst>
              <a:ext uri="{FF2B5EF4-FFF2-40B4-BE49-F238E27FC236}">
                <a16:creationId xmlns:a16="http://schemas.microsoft.com/office/drawing/2014/main" id="{AC70EE7C-789F-873D-691F-A9D22B5D918F}"/>
              </a:ext>
            </a:extLst>
          </p:cNvPr>
          <p:cNvSpPr/>
          <p:nvPr/>
        </p:nvSpPr>
        <p:spPr>
          <a:xfrm>
            <a:off x="9002908" y="4781232"/>
            <a:ext cx="47747" cy="497015"/>
          </a:xfrm>
          <a:prstGeom prst="rect">
            <a:avLst/>
          </a:prstGeom>
          <a:solidFill>
            <a:srgbClr val="3C7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918699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2F5F4-E7D0-4278-C766-155380990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1157C7AA-BAD1-48B2-65BB-AD464A54796A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2" name="Google Shape;99;p2">
            <a:extLst>
              <a:ext uri="{FF2B5EF4-FFF2-40B4-BE49-F238E27FC236}">
                <a16:creationId xmlns:a16="http://schemas.microsoft.com/office/drawing/2014/main" id="{250B76DD-037A-6065-6C19-E692AEE22FB0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FDA78D37-3108-EE7F-CB8F-3A968C425896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– 2.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제안 솔루션 개요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(Solution Overview)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" name="Google Shape;105;p2">
            <a:extLst>
              <a:ext uri="{FF2B5EF4-FFF2-40B4-BE49-F238E27FC236}">
                <a16:creationId xmlns:a16="http://schemas.microsoft.com/office/drawing/2014/main" id="{37E35A3E-9640-A8FF-B4C4-60FCEC535100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8" name="Google Shape;92;p1">
            <a:extLst>
              <a:ext uri="{FF2B5EF4-FFF2-40B4-BE49-F238E27FC236}">
                <a16:creationId xmlns:a16="http://schemas.microsoft.com/office/drawing/2014/main" id="{AD104C8F-EA2D-31A6-F3F6-3F686D73F39D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15547"/>
            <a:ext cx="1007955" cy="35340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9CE2AEF5-243D-D469-B364-EE0084AAA103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C278FF-57A0-7C3A-21B2-B56318A47152}"/>
              </a:ext>
            </a:extLst>
          </p:cNvPr>
          <p:cNvSpPr txBox="1"/>
          <p:nvPr/>
        </p:nvSpPr>
        <p:spPr>
          <a:xfrm>
            <a:off x="939333" y="1189703"/>
            <a:ext cx="35531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2. </a:t>
            </a:r>
            <a:r>
              <a:rPr lang="ko-KR" altLang="en-US" dirty="0">
                <a:latin typeface="+mj-ea"/>
                <a:ea typeface="+mj-ea"/>
              </a:rPr>
              <a:t>제안 솔루션 개요 </a:t>
            </a:r>
            <a:r>
              <a:rPr lang="en-US" altLang="ko-KR" dirty="0">
                <a:latin typeface="+mj-ea"/>
                <a:ea typeface="+mj-ea"/>
              </a:rPr>
              <a:t>(Solution Overview)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A1628004-1AB5-0077-6D18-66ED08E03B10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차세대융합기술연구원, 반도체 부품 국산화 위한 기술 실증 지원사업 참여 기업 모집 &gt; 뉴스 | CIOCISO">
            <a:extLst>
              <a:ext uri="{FF2B5EF4-FFF2-40B4-BE49-F238E27FC236}">
                <a16:creationId xmlns:a16="http://schemas.microsoft.com/office/drawing/2014/main" id="{67E78191-AC7B-4431-6348-9F9503FA34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34" b="35256"/>
          <a:stretch>
            <a:fillRect/>
          </a:stretch>
        </p:blipFill>
        <p:spPr bwMode="auto">
          <a:xfrm>
            <a:off x="9298782" y="6434300"/>
            <a:ext cx="1555879" cy="33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Google Shape;100;p2">
            <a:extLst>
              <a:ext uri="{FF2B5EF4-FFF2-40B4-BE49-F238E27FC236}">
                <a16:creationId xmlns:a16="http://schemas.microsoft.com/office/drawing/2014/main" id="{B25F51EC-3983-E3FC-5475-1180B8764FD0}"/>
              </a:ext>
            </a:extLst>
          </p:cNvPr>
          <p:cNvSpPr txBox="1"/>
          <p:nvPr/>
        </p:nvSpPr>
        <p:spPr>
          <a:xfrm>
            <a:off x="8775865" y="229867"/>
            <a:ext cx="3044336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스마트 공장 운영 시스템 </a:t>
            </a: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MVP 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 </a:t>
            </a:r>
            <a:r>
              <a:rPr lang="ko-KR" altLang="en-US" sz="1000" b="1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해커톤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66928" y="1691640"/>
            <a:ext cx="11137392" cy="502920"/>
          </a:xfrm>
          <a:prstGeom prst="rect">
            <a:avLst/>
          </a:prstGeom>
          <a:solidFill>
            <a:srgbClr val="3C7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6928" y="1764792"/>
            <a:ext cx="11137392" cy="36576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Pretendard"/>
              </a:rPr>
              <a:t>"라인이 멈추기 전에 AI가 먼저 알린다"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423160"/>
            <a:ext cx="101600" cy="164592"/>
          </a:xfrm>
          <a:prstGeom prst="rect">
            <a:avLst/>
          </a:prstGeom>
          <a:solidFill>
            <a:srgbClr val="3C7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2350008"/>
            <a:ext cx="5120640" cy="21031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200" b="1" i="0" dirty="0">
                <a:solidFill>
                  <a:schemeClr val="tx1"/>
                </a:solidFill>
                <a:latin typeface="Pretendard"/>
              </a:rPr>
              <a:t>1. </a:t>
            </a:r>
            <a:r>
              <a:rPr sz="1200" b="1" i="0" dirty="0" err="1">
                <a:solidFill>
                  <a:schemeClr val="tx1"/>
                </a:solidFill>
                <a:latin typeface="Pretendard"/>
              </a:rPr>
              <a:t>솔루션</a:t>
            </a:r>
            <a:r>
              <a:rPr sz="1200" b="1" i="0" dirty="0">
                <a:solidFill>
                  <a:schemeClr val="tx1"/>
                </a:solidFill>
                <a:latin typeface="Pretendard"/>
              </a:rPr>
              <a:t> </a:t>
            </a:r>
            <a:r>
              <a:rPr sz="1200" b="1" i="0" dirty="0" err="1">
                <a:solidFill>
                  <a:schemeClr val="tx1"/>
                </a:solidFill>
                <a:latin typeface="Pretendard"/>
              </a:rPr>
              <a:t>개요</a:t>
            </a:r>
            <a:r>
              <a:rPr sz="1200" b="1" i="0" dirty="0">
                <a:solidFill>
                  <a:schemeClr val="tx1"/>
                </a:solidFill>
                <a:latin typeface="Pretendard"/>
              </a:rPr>
              <a:t> · </a:t>
            </a:r>
            <a:r>
              <a:rPr sz="1200" b="1" i="0" dirty="0" err="1">
                <a:solidFill>
                  <a:schemeClr val="tx1"/>
                </a:solidFill>
                <a:latin typeface="Pretendard"/>
              </a:rPr>
              <a:t>핵심</a:t>
            </a:r>
            <a:r>
              <a:rPr sz="1200" b="1" i="0" dirty="0">
                <a:solidFill>
                  <a:schemeClr val="tx1"/>
                </a:solidFill>
                <a:latin typeface="Pretendard"/>
              </a:rPr>
              <a:t> </a:t>
            </a:r>
            <a:r>
              <a:rPr sz="1200" b="1" i="0" dirty="0" err="1">
                <a:solidFill>
                  <a:schemeClr val="tx1"/>
                </a:solidFill>
                <a:latin typeface="Pretendard"/>
              </a:rPr>
              <a:t>아이디어</a:t>
            </a:r>
            <a:endParaRPr sz="1200" b="1" i="0" dirty="0">
              <a:solidFill>
                <a:schemeClr val="tx1"/>
              </a:solidFill>
              <a:latin typeface="Pretendard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66928" y="2688336"/>
            <a:ext cx="5303520" cy="1755648"/>
          </a:xfrm>
          <a:prstGeom prst="rect">
            <a:avLst/>
          </a:prstGeom>
          <a:solidFill>
            <a:srgbClr val="F5F8FD"/>
          </a:solidFill>
          <a:ln w="635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4088" y="2752344"/>
            <a:ext cx="5120640" cy="1539524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18000"/>
              </a:lnSpc>
            </a:pPr>
            <a:r>
              <a:rPr sz="1150" b="1" i="0" dirty="0" err="1">
                <a:solidFill>
                  <a:srgbClr val="3C7CDE"/>
                </a:solidFill>
                <a:latin typeface="Pretendard"/>
              </a:rPr>
              <a:t>SmartFactory</a:t>
            </a:r>
            <a:r>
              <a:rPr sz="1150" b="1" i="0" dirty="0">
                <a:solidFill>
                  <a:srgbClr val="3C7CDE"/>
                </a:solidFill>
                <a:latin typeface="Pretendard"/>
              </a:rPr>
              <a:t> XAI</a:t>
            </a:r>
          </a:p>
          <a:p>
            <a:pPr>
              <a:lnSpc>
                <a:spcPct val="118000"/>
              </a:lnSpc>
            </a:pPr>
            <a:r>
              <a:rPr sz="1150" b="0" i="0" dirty="0" err="1">
                <a:solidFill>
                  <a:srgbClr val="202124"/>
                </a:solidFill>
                <a:latin typeface="Pretendard"/>
              </a:rPr>
              <a:t>정상</a:t>
            </a:r>
            <a:r>
              <a:rPr sz="1150" b="0" i="0" dirty="0">
                <a:solidFill>
                  <a:srgbClr val="202124"/>
                </a:solidFill>
                <a:latin typeface="Pretendard"/>
              </a:rPr>
              <a:t> </a:t>
            </a:r>
            <a:r>
              <a:rPr sz="1150" b="0" i="0" dirty="0" err="1">
                <a:solidFill>
                  <a:srgbClr val="202124"/>
                </a:solidFill>
                <a:latin typeface="Pretendard"/>
              </a:rPr>
              <a:t>데이터만</a:t>
            </a:r>
            <a:r>
              <a:rPr sz="1150" b="0" i="0" dirty="0">
                <a:solidFill>
                  <a:srgbClr val="202124"/>
                </a:solidFill>
                <a:latin typeface="Pretendard"/>
              </a:rPr>
              <a:t> </a:t>
            </a:r>
            <a:r>
              <a:rPr sz="1150" b="0" i="0" dirty="0" err="1">
                <a:solidFill>
                  <a:srgbClr val="202124"/>
                </a:solidFill>
                <a:latin typeface="Pretendard"/>
              </a:rPr>
              <a:t>학습한</a:t>
            </a:r>
            <a:r>
              <a:rPr sz="1150" b="0" i="0" dirty="0">
                <a:solidFill>
                  <a:srgbClr val="202124"/>
                </a:solidFill>
                <a:latin typeface="Pretendard"/>
              </a:rPr>
              <a:t> </a:t>
            </a:r>
            <a:r>
              <a:rPr sz="1150" b="1" i="0" dirty="0">
                <a:solidFill>
                  <a:srgbClr val="202124"/>
                </a:solidFill>
                <a:latin typeface="Pretendard"/>
              </a:rPr>
              <a:t>Autoencoder + </a:t>
            </a:r>
            <a:r>
              <a:rPr sz="1150" b="1" i="0" dirty="0" err="1">
                <a:solidFill>
                  <a:srgbClr val="202124"/>
                </a:solidFill>
                <a:latin typeface="Pretendard"/>
              </a:rPr>
              <a:t>KernelSHAP</a:t>
            </a:r>
            <a:r>
              <a:rPr sz="1150" b="1" i="0" dirty="0">
                <a:solidFill>
                  <a:srgbClr val="202124"/>
                </a:solidFill>
                <a:latin typeface="Pretendard"/>
              </a:rPr>
              <a:t> </a:t>
            </a:r>
            <a:r>
              <a:rPr sz="1150" b="0" i="0" dirty="0" err="1">
                <a:solidFill>
                  <a:srgbClr val="202124"/>
                </a:solidFill>
                <a:latin typeface="Pretendard"/>
              </a:rPr>
              <a:t>기반</a:t>
            </a:r>
            <a:endParaRPr sz="1150" b="0" i="0" dirty="0">
              <a:solidFill>
                <a:srgbClr val="202124"/>
              </a:solidFill>
              <a:latin typeface="Pretendard"/>
            </a:endParaRPr>
          </a:p>
          <a:p>
            <a:pPr>
              <a:lnSpc>
                <a:spcPct val="118000"/>
              </a:lnSpc>
            </a:pPr>
            <a:r>
              <a:rPr sz="1150" b="0" i="0" dirty="0">
                <a:solidFill>
                  <a:srgbClr val="202124"/>
                </a:solidFill>
                <a:latin typeface="Pretendard"/>
              </a:rPr>
              <a:t>4</a:t>
            </a:r>
            <a:r>
              <a:rPr lang="en-US" sz="1150" b="0" i="0" dirty="0">
                <a:solidFill>
                  <a:srgbClr val="202124"/>
                </a:solidFill>
                <a:latin typeface="Pretendard"/>
              </a:rPr>
              <a:t>-</a:t>
            </a:r>
            <a:r>
              <a:rPr sz="1150" b="0" i="0" dirty="0">
                <a:solidFill>
                  <a:srgbClr val="202124"/>
                </a:solidFill>
                <a:latin typeface="Pretendard"/>
              </a:rPr>
              <a:t>AI(</a:t>
            </a:r>
            <a:r>
              <a:rPr lang="en-US" altLang="ko-KR" sz="1150" b="1" dirty="0">
                <a:latin typeface="Pretendard"/>
              </a:rPr>
              <a:t>Autoencoder + Isolation Forest + One-Class SVM + Local Outlier Factor</a:t>
            </a:r>
            <a:r>
              <a:rPr sz="1150" b="0" i="0" dirty="0">
                <a:solidFill>
                  <a:srgbClr val="202124"/>
                </a:solidFill>
                <a:latin typeface="Pretendard"/>
              </a:rPr>
              <a:t>) </a:t>
            </a:r>
            <a:endParaRPr lang="en-US" sz="1150" b="0" i="0" dirty="0">
              <a:solidFill>
                <a:srgbClr val="202124"/>
              </a:solidFill>
              <a:latin typeface="Pretendard"/>
            </a:endParaRPr>
          </a:p>
          <a:p>
            <a:pPr>
              <a:lnSpc>
                <a:spcPct val="118000"/>
              </a:lnSpc>
            </a:pPr>
            <a:r>
              <a:rPr sz="1150" b="0" i="0" dirty="0" err="1">
                <a:solidFill>
                  <a:srgbClr val="202124"/>
                </a:solidFill>
                <a:latin typeface="Pretendard"/>
              </a:rPr>
              <a:t>합의로</a:t>
            </a:r>
            <a:r>
              <a:rPr sz="1150" b="0" i="0" dirty="0">
                <a:solidFill>
                  <a:srgbClr val="202124"/>
                </a:solidFill>
                <a:latin typeface="Pretendard"/>
              </a:rPr>
              <a:t> </a:t>
            </a:r>
            <a:r>
              <a:rPr sz="1150" b="0" i="0" dirty="0" err="1">
                <a:solidFill>
                  <a:srgbClr val="202124"/>
                </a:solidFill>
                <a:latin typeface="Pretendard"/>
              </a:rPr>
              <a:t>신뢰도</a:t>
            </a:r>
            <a:r>
              <a:rPr sz="1150" b="0" i="0" dirty="0">
                <a:solidFill>
                  <a:srgbClr val="202124"/>
                </a:solidFill>
                <a:latin typeface="Pretendard"/>
              </a:rPr>
              <a:t> </a:t>
            </a:r>
            <a:r>
              <a:rPr sz="1150" b="0" i="0" dirty="0" err="1">
                <a:solidFill>
                  <a:srgbClr val="202124"/>
                </a:solidFill>
                <a:latin typeface="Pretendard"/>
              </a:rPr>
              <a:t>강화</a:t>
            </a:r>
            <a:r>
              <a:rPr lang="en-US" sz="1150" b="0" i="0" dirty="0">
                <a:solidFill>
                  <a:srgbClr val="202124"/>
                </a:solidFill>
                <a:latin typeface="Pretendard"/>
              </a:rPr>
              <a:t> </a:t>
            </a:r>
            <a:r>
              <a:rPr lang="en-US" altLang="ko-KR" sz="1150" b="1" dirty="0">
                <a:solidFill>
                  <a:srgbClr val="3C7CDE"/>
                </a:solidFill>
                <a:latin typeface="Pretendard"/>
              </a:rPr>
              <a:t>→ Recall 0.667 → 0.795</a:t>
            </a:r>
          </a:p>
          <a:p>
            <a:pPr>
              <a:lnSpc>
                <a:spcPct val="118000"/>
              </a:lnSpc>
            </a:pPr>
            <a:endParaRPr sz="1150" b="0" i="0" dirty="0">
              <a:solidFill>
                <a:srgbClr val="202124"/>
              </a:solidFill>
              <a:latin typeface="Pretendard"/>
            </a:endParaRPr>
          </a:p>
          <a:p>
            <a:pPr>
              <a:lnSpc>
                <a:spcPct val="118000"/>
              </a:lnSpc>
            </a:pPr>
            <a:r>
              <a:rPr lang="en-US" altLang="ko-KR" sz="1150" b="0" i="0" dirty="0">
                <a:solidFill>
                  <a:srgbClr val="202124"/>
                </a:solidFill>
                <a:latin typeface="Pretendard"/>
              </a:rPr>
              <a:t>• </a:t>
            </a:r>
            <a:r>
              <a:rPr lang="en-US" altLang="ko-KR" sz="1150" b="1" i="0" dirty="0">
                <a:solidFill>
                  <a:srgbClr val="202124"/>
                </a:solidFill>
                <a:latin typeface="Pretendard"/>
              </a:rPr>
              <a:t>SHAP</a:t>
            </a:r>
            <a:r>
              <a:rPr lang="en-US" altLang="ko-KR" sz="1150" b="0" i="0" dirty="0">
                <a:solidFill>
                  <a:srgbClr val="202124"/>
                </a:solidFill>
                <a:latin typeface="Pretendard"/>
              </a:rPr>
              <a:t> → 24</a:t>
            </a:r>
            <a:r>
              <a:rPr lang="ko-KR" altLang="en-US" sz="1150" b="0" i="0" dirty="0">
                <a:solidFill>
                  <a:srgbClr val="202124"/>
                </a:solidFill>
                <a:latin typeface="Pretendard"/>
              </a:rPr>
              <a:t>센서 중 어느 게 </a:t>
            </a:r>
            <a:r>
              <a:rPr lang="ko-KR" altLang="en-US" sz="1150" b="1" i="0" dirty="0">
                <a:solidFill>
                  <a:srgbClr val="202124"/>
                </a:solidFill>
                <a:latin typeface="Pretendard"/>
              </a:rPr>
              <a:t>이상 원인인지 정량 분해</a:t>
            </a:r>
          </a:p>
          <a:p>
            <a:pPr>
              <a:lnSpc>
                <a:spcPct val="118000"/>
              </a:lnSpc>
            </a:pPr>
            <a:r>
              <a:rPr lang="en-US" altLang="ko-KR" sz="1150" b="0" i="0" dirty="0">
                <a:solidFill>
                  <a:srgbClr val="202124"/>
                </a:solidFill>
                <a:latin typeface="Pretendard"/>
              </a:rPr>
              <a:t>• </a:t>
            </a:r>
            <a:r>
              <a:rPr lang="en-US" altLang="ko-KR" sz="1150" b="1" i="0" dirty="0">
                <a:solidFill>
                  <a:srgbClr val="202124"/>
                </a:solidFill>
                <a:latin typeface="Pretendard"/>
              </a:rPr>
              <a:t>LIVE </a:t>
            </a:r>
            <a:r>
              <a:rPr lang="en-US" altLang="ko-KR" sz="1150" b="1" dirty="0">
                <a:solidFill>
                  <a:srgbClr val="202124"/>
                </a:solidFill>
                <a:latin typeface="Pretendard"/>
              </a:rPr>
              <a:t>Factory </a:t>
            </a:r>
            <a:r>
              <a:rPr lang="ko-KR" altLang="en-US" sz="1150" b="1" i="0" dirty="0">
                <a:solidFill>
                  <a:srgbClr val="202124"/>
                </a:solidFill>
                <a:latin typeface="Pretendard"/>
              </a:rPr>
              <a:t>디지털 트윈</a:t>
            </a:r>
            <a:r>
              <a:rPr lang="ko-KR" altLang="en-US" sz="1150" b="0" i="0" dirty="0">
                <a:solidFill>
                  <a:srgbClr val="202124"/>
                </a:solidFill>
                <a:latin typeface="Pretendard"/>
              </a:rPr>
              <a:t> → </a:t>
            </a:r>
            <a:r>
              <a:rPr lang="ko-KR" altLang="en-US" sz="1150" b="1" dirty="0">
                <a:solidFill>
                  <a:srgbClr val="202124"/>
                </a:solidFill>
                <a:latin typeface="Pretendard"/>
              </a:rPr>
              <a:t>스트리밍</a:t>
            </a:r>
            <a:r>
              <a:rPr lang="ko-KR" altLang="en-US" sz="1150" i="0" dirty="0">
                <a:solidFill>
                  <a:srgbClr val="202124"/>
                </a:solidFill>
                <a:latin typeface="Pretendard"/>
              </a:rPr>
              <a:t> 시연 및 즉시 실행 가능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53328" y="2423160"/>
            <a:ext cx="101600" cy="164592"/>
          </a:xfrm>
          <a:prstGeom prst="rect">
            <a:avLst/>
          </a:prstGeom>
          <a:solidFill>
            <a:srgbClr val="3C7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17920" y="2350008"/>
            <a:ext cx="5468112" cy="21031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200" b="1" i="0" dirty="0">
                <a:solidFill>
                  <a:schemeClr val="tx1"/>
                </a:solidFill>
                <a:latin typeface="Pretendard"/>
              </a:rPr>
              <a:t>2. 4단계 </a:t>
            </a:r>
            <a:r>
              <a:rPr sz="1200" b="1" i="0" dirty="0" err="1">
                <a:solidFill>
                  <a:schemeClr val="tx1"/>
                </a:solidFill>
                <a:latin typeface="Pretendard"/>
              </a:rPr>
              <a:t>운영</a:t>
            </a:r>
            <a:r>
              <a:rPr sz="1200" b="1" i="0" dirty="0">
                <a:solidFill>
                  <a:schemeClr val="tx1"/>
                </a:solidFill>
                <a:latin typeface="Pretendard"/>
              </a:rPr>
              <a:t> </a:t>
            </a:r>
            <a:r>
              <a:rPr sz="1200" b="1" i="0" dirty="0" err="1">
                <a:solidFill>
                  <a:schemeClr val="tx1"/>
                </a:solidFill>
                <a:latin typeface="Pretendard"/>
              </a:rPr>
              <a:t>자동화</a:t>
            </a:r>
            <a:r>
              <a:rPr sz="1200" b="1" i="0" dirty="0">
                <a:solidFill>
                  <a:schemeClr val="tx1"/>
                </a:solidFill>
                <a:latin typeface="Pretendard"/>
              </a:rPr>
              <a:t> + Feedback Loop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53328" y="2734056"/>
            <a:ext cx="5650992" cy="329184"/>
          </a:xfrm>
          <a:prstGeom prst="rect">
            <a:avLst/>
          </a:prstGeom>
          <a:solidFill>
            <a:srgbClr val="F5F8FD"/>
          </a:solidFill>
          <a:ln w="508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26480" y="2770632"/>
            <a:ext cx="685800" cy="2560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100" b="1" i="0">
                <a:solidFill>
                  <a:srgbClr val="3C7CDE"/>
                </a:solidFill>
                <a:latin typeface="Pretendard"/>
              </a:rPr>
              <a:t>① 탐지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30568" y="2805032"/>
            <a:ext cx="4846320" cy="187231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050" b="0" i="0" dirty="0">
                <a:solidFill>
                  <a:srgbClr val="202124"/>
                </a:solidFill>
                <a:latin typeface="Pretendard"/>
              </a:rPr>
              <a:t>Autoencoder 24→16→8→16→24 </a:t>
            </a:r>
            <a:r>
              <a:rPr sz="1050" b="0" i="0" dirty="0" err="1">
                <a:solidFill>
                  <a:srgbClr val="202124"/>
                </a:solidFill>
                <a:latin typeface="Pretendard"/>
              </a:rPr>
              <a:t>복원오차</a:t>
            </a:r>
            <a:r>
              <a:rPr lang="en-US" sz="1050" b="0" i="0" dirty="0">
                <a:solidFill>
                  <a:srgbClr val="202124"/>
                </a:solidFill>
                <a:latin typeface="Pretendard"/>
              </a:rPr>
              <a:t> =&gt; </a:t>
            </a:r>
            <a:r>
              <a:rPr lang="ko-KR" altLang="en-US" sz="1050" b="1" dirty="0">
                <a:solidFill>
                  <a:srgbClr val="202124"/>
                </a:solidFill>
                <a:latin typeface="Pretendard"/>
              </a:rPr>
              <a:t>이상치 탐지를 위한 </a:t>
            </a:r>
            <a:r>
              <a:rPr lang="ko-KR" altLang="en-US" sz="1050" b="1" dirty="0" err="1">
                <a:solidFill>
                  <a:srgbClr val="202124"/>
                </a:solidFill>
                <a:latin typeface="Pretendard"/>
              </a:rPr>
              <a:t>임계값</a:t>
            </a:r>
            <a:r>
              <a:rPr lang="ko-KR" altLang="en-US" sz="1050" b="1" dirty="0">
                <a:solidFill>
                  <a:srgbClr val="202124"/>
                </a:solidFill>
                <a:latin typeface="Pretendard"/>
              </a:rPr>
              <a:t> </a:t>
            </a:r>
            <a:r>
              <a:rPr lang="ko-KR" altLang="en-US" sz="1050" dirty="0">
                <a:solidFill>
                  <a:srgbClr val="202124"/>
                </a:solidFill>
                <a:latin typeface="Pretendard"/>
              </a:rPr>
              <a:t>도출</a:t>
            </a:r>
            <a:endParaRPr sz="1050" b="0" i="0" dirty="0">
              <a:solidFill>
                <a:srgbClr val="202124"/>
              </a:solidFill>
              <a:latin typeface="Pretendard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053328" y="3099816"/>
            <a:ext cx="5650992" cy="329184"/>
          </a:xfrm>
          <a:prstGeom prst="rect">
            <a:avLst/>
          </a:prstGeom>
          <a:solidFill>
            <a:srgbClr val="F5F8FD"/>
          </a:solidFill>
          <a:ln w="508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26480" y="3136392"/>
            <a:ext cx="685800" cy="2560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100" b="1" i="0">
                <a:solidFill>
                  <a:srgbClr val="3C7CDE"/>
                </a:solidFill>
                <a:latin typeface="Pretendard"/>
              </a:rPr>
              <a:t>② 진단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0568" y="3170792"/>
            <a:ext cx="4846320" cy="187231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050" b="1" i="0" dirty="0" err="1">
                <a:solidFill>
                  <a:srgbClr val="202124"/>
                </a:solidFill>
                <a:latin typeface="Pretendard"/>
              </a:rPr>
              <a:t>KernelSHAP</a:t>
            </a:r>
            <a:r>
              <a:rPr lang="en-US" sz="1050" b="1" i="0" dirty="0">
                <a:solidFill>
                  <a:srgbClr val="202124"/>
                </a:solidFill>
                <a:latin typeface="Pretendard"/>
              </a:rPr>
              <a:t> +</a:t>
            </a:r>
            <a:r>
              <a:rPr sz="1050" b="1" i="0" dirty="0">
                <a:solidFill>
                  <a:srgbClr val="202124"/>
                </a:solidFill>
                <a:latin typeface="Pretendard"/>
              </a:rPr>
              <a:t> K-Means</a:t>
            </a:r>
            <a:r>
              <a:rPr lang="en-US" sz="1050" b="1" i="0" dirty="0">
                <a:solidFill>
                  <a:srgbClr val="202124"/>
                </a:solidFill>
                <a:latin typeface="Pretendard"/>
              </a:rPr>
              <a:t> 50 </a:t>
            </a:r>
            <a:r>
              <a:rPr sz="1050" b="0" i="0" dirty="0">
                <a:solidFill>
                  <a:srgbClr val="202124"/>
                </a:solidFill>
                <a:latin typeface="Pretendard"/>
              </a:rPr>
              <a:t>→ 24센서 </a:t>
            </a:r>
            <a:r>
              <a:rPr sz="1050" b="0" i="0" dirty="0" err="1">
                <a:solidFill>
                  <a:srgbClr val="202124"/>
                </a:solidFill>
                <a:latin typeface="Pretendard"/>
              </a:rPr>
              <a:t>기여도</a:t>
            </a:r>
            <a:endParaRPr sz="1050" b="0" i="0" dirty="0">
              <a:solidFill>
                <a:srgbClr val="202124"/>
              </a:solidFill>
              <a:latin typeface="Pretendard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053328" y="3465576"/>
            <a:ext cx="5650992" cy="329184"/>
          </a:xfrm>
          <a:prstGeom prst="rect">
            <a:avLst/>
          </a:prstGeom>
          <a:solidFill>
            <a:srgbClr val="F5F8FD"/>
          </a:solidFill>
          <a:ln w="508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126480" y="3502152"/>
            <a:ext cx="685800" cy="2560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100" b="1" i="0">
                <a:solidFill>
                  <a:srgbClr val="3C7CDE"/>
                </a:solidFill>
                <a:latin typeface="Pretendard"/>
              </a:rPr>
              <a:t>③ 처방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0568" y="3536552"/>
            <a:ext cx="4846320" cy="187231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050" b="0" i="0">
                <a:solidFill>
                  <a:srgbClr val="202124"/>
                </a:solidFill>
                <a:latin typeface="Pretendard"/>
              </a:rPr>
              <a:t>센서별 24개 처방 카드 · 심각도 3단계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53328" y="3831336"/>
            <a:ext cx="5650992" cy="329184"/>
          </a:xfrm>
          <a:prstGeom prst="rect">
            <a:avLst/>
          </a:prstGeom>
          <a:solidFill>
            <a:srgbClr val="F5F8FD"/>
          </a:solidFill>
          <a:ln w="508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126480" y="3867912"/>
            <a:ext cx="685800" cy="2560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100" b="1" i="0">
                <a:solidFill>
                  <a:srgbClr val="3C7CDE"/>
                </a:solidFill>
                <a:latin typeface="Pretendard"/>
              </a:rPr>
              <a:t>④ 추적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30568" y="3902312"/>
            <a:ext cx="4846320" cy="187231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050" b="0" i="0">
                <a:solidFill>
                  <a:srgbClr val="202124"/>
                </a:solidFill>
                <a:latin typeface="Pretendard"/>
              </a:rPr>
              <a:t>이력 50건 + JSON 영속 + 일일 리포트 MD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53328" y="4197096"/>
            <a:ext cx="5650992" cy="292608"/>
          </a:xfrm>
          <a:prstGeom prst="rect">
            <a:avLst/>
          </a:prstGeom>
          <a:noFill/>
          <a:ln w="19050">
            <a:solidFill>
              <a:srgbClr val="3C7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144768" y="4257479"/>
            <a:ext cx="5468112" cy="17184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950" b="1" i="0" dirty="0">
                <a:solidFill>
                  <a:srgbClr val="3C7CDE"/>
                </a:solidFill>
                <a:latin typeface="Pretendard"/>
              </a:rPr>
              <a:t>↺ Feedback Loop · ④ </a:t>
            </a:r>
            <a:r>
              <a:rPr sz="950" b="1" i="0" dirty="0" err="1">
                <a:solidFill>
                  <a:srgbClr val="3C7CDE"/>
                </a:solidFill>
                <a:latin typeface="Pretendard"/>
              </a:rPr>
              <a:t>추적</a:t>
            </a:r>
            <a:r>
              <a:rPr sz="950" b="1" i="0" dirty="0">
                <a:solidFill>
                  <a:srgbClr val="3C7CDE"/>
                </a:solidFill>
                <a:latin typeface="Pretendard"/>
              </a:rPr>
              <a:t> </a:t>
            </a:r>
            <a:r>
              <a:rPr sz="950" b="1" i="0" dirty="0" err="1">
                <a:solidFill>
                  <a:srgbClr val="3C7CDE"/>
                </a:solidFill>
                <a:latin typeface="Pretendard"/>
              </a:rPr>
              <a:t>데이터</a:t>
            </a:r>
            <a:r>
              <a:rPr sz="950" b="1" i="0" dirty="0">
                <a:solidFill>
                  <a:srgbClr val="3C7CDE"/>
                </a:solidFill>
                <a:latin typeface="Pretendard"/>
              </a:rPr>
              <a:t> → ① </a:t>
            </a:r>
            <a:r>
              <a:rPr sz="950" b="1" i="0" dirty="0" err="1">
                <a:solidFill>
                  <a:srgbClr val="3C7CDE"/>
                </a:solidFill>
                <a:latin typeface="Pretendard"/>
              </a:rPr>
              <a:t>모델</a:t>
            </a:r>
            <a:r>
              <a:rPr sz="950" b="1" i="0" dirty="0">
                <a:solidFill>
                  <a:srgbClr val="3C7CDE"/>
                </a:solidFill>
                <a:latin typeface="Pretendard"/>
              </a:rPr>
              <a:t> </a:t>
            </a:r>
            <a:r>
              <a:rPr sz="950" b="1" i="0" dirty="0" err="1">
                <a:solidFill>
                  <a:srgbClr val="3C7CDE"/>
                </a:solidFill>
                <a:latin typeface="Pretendard"/>
              </a:rPr>
              <a:t>재학습</a:t>
            </a:r>
            <a:r>
              <a:rPr sz="950" b="1" i="0" dirty="0">
                <a:solidFill>
                  <a:srgbClr val="3C7CDE"/>
                </a:solidFill>
                <a:latin typeface="Pretendard"/>
              </a:rPr>
              <a:t> (Active Learning, </a:t>
            </a:r>
            <a:r>
              <a:rPr sz="950" b="1" i="0" dirty="0" err="1">
                <a:solidFill>
                  <a:srgbClr val="3C7CDE"/>
                </a:solidFill>
                <a:latin typeface="Pretendard"/>
              </a:rPr>
              <a:t>라벨</a:t>
            </a:r>
            <a:r>
              <a:rPr sz="950" b="1" i="0" dirty="0">
                <a:solidFill>
                  <a:srgbClr val="3C7CDE"/>
                </a:solidFill>
                <a:latin typeface="Pretendard"/>
              </a:rPr>
              <a:t> </a:t>
            </a:r>
            <a:r>
              <a:rPr sz="950" b="1" i="0" dirty="0" err="1">
                <a:solidFill>
                  <a:srgbClr val="3C7CDE"/>
                </a:solidFill>
                <a:latin typeface="Pretendard"/>
              </a:rPr>
              <a:t>누적</a:t>
            </a:r>
            <a:r>
              <a:rPr sz="950" b="1" i="0" dirty="0">
                <a:solidFill>
                  <a:srgbClr val="3C7CDE"/>
                </a:solidFill>
                <a:latin typeface="Pretendard"/>
              </a:rPr>
              <a:t>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4663440"/>
            <a:ext cx="101600" cy="164592"/>
          </a:xfrm>
          <a:prstGeom prst="rect">
            <a:avLst/>
          </a:prstGeom>
          <a:solidFill>
            <a:srgbClr val="3C7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31520" y="4590288"/>
            <a:ext cx="10954512" cy="21031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200" b="1" i="0" dirty="0">
                <a:solidFill>
                  <a:schemeClr val="tx1"/>
                </a:solidFill>
                <a:latin typeface="Pretendard"/>
              </a:rPr>
              <a:t>3. </a:t>
            </a:r>
            <a:r>
              <a:rPr sz="1200" b="1" i="0" dirty="0" err="1">
                <a:solidFill>
                  <a:schemeClr val="tx1"/>
                </a:solidFill>
                <a:latin typeface="Pretendard"/>
              </a:rPr>
              <a:t>플랫폼</a:t>
            </a:r>
            <a:r>
              <a:rPr sz="1200" b="1" i="0" dirty="0">
                <a:solidFill>
                  <a:schemeClr val="tx1"/>
                </a:solidFill>
                <a:latin typeface="Pretendard"/>
              </a:rPr>
              <a:t> </a:t>
            </a:r>
            <a:r>
              <a:rPr sz="1200" b="1" i="0" dirty="0" err="1">
                <a:solidFill>
                  <a:schemeClr val="tx1"/>
                </a:solidFill>
                <a:latin typeface="Pretendard"/>
              </a:rPr>
              <a:t>제공</a:t>
            </a:r>
            <a:r>
              <a:rPr sz="1200" b="1" i="0" dirty="0">
                <a:solidFill>
                  <a:schemeClr val="tx1"/>
                </a:solidFill>
                <a:latin typeface="Pretendard"/>
              </a:rPr>
              <a:t> </a:t>
            </a:r>
            <a:r>
              <a:rPr sz="1200" b="1" i="0" dirty="0" err="1">
                <a:solidFill>
                  <a:schemeClr val="tx1"/>
                </a:solidFill>
                <a:latin typeface="Pretendard"/>
              </a:rPr>
              <a:t>가치</a:t>
            </a:r>
            <a:r>
              <a:rPr sz="1200" b="1" i="0" dirty="0">
                <a:solidFill>
                  <a:schemeClr val="tx1"/>
                </a:solidFill>
                <a:latin typeface="Pretendard"/>
              </a:rPr>
              <a:t> + </a:t>
            </a:r>
            <a:r>
              <a:rPr sz="1200" b="1" i="0" dirty="0" err="1">
                <a:solidFill>
                  <a:schemeClr val="tx1"/>
                </a:solidFill>
                <a:latin typeface="Pretendard"/>
              </a:rPr>
              <a:t>시연</a:t>
            </a:r>
            <a:r>
              <a:rPr sz="1200" b="1" i="0" dirty="0">
                <a:solidFill>
                  <a:schemeClr val="tx1"/>
                </a:solidFill>
                <a:latin typeface="Pretendard"/>
              </a:rPr>
              <a:t> </a:t>
            </a:r>
            <a:r>
              <a:rPr sz="1200" b="1" i="0" dirty="0" err="1">
                <a:solidFill>
                  <a:schemeClr val="tx1"/>
                </a:solidFill>
                <a:latin typeface="Pretendard"/>
              </a:rPr>
              <a:t>화면</a:t>
            </a:r>
            <a:endParaRPr sz="1200" b="1" i="0" dirty="0">
              <a:solidFill>
                <a:schemeClr val="tx1"/>
              </a:solidFill>
              <a:latin typeface="Pretendard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566928" y="4974336"/>
            <a:ext cx="1281537" cy="777240"/>
          </a:xfrm>
          <a:prstGeom prst="rect">
            <a:avLst/>
          </a:prstGeom>
          <a:solidFill>
            <a:srgbClr val="F5F8FD"/>
          </a:solidFill>
          <a:ln w="635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66928" y="4974336"/>
            <a:ext cx="38100" cy="777240"/>
          </a:xfrm>
          <a:prstGeom prst="rect">
            <a:avLst/>
          </a:prstGeom>
          <a:solidFill>
            <a:srgbClr val="3C7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76656" y="5034719"/>
            <a:ext cx="1417320" cy="17184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950" b="1" i="0" dirty="0" err="1">
                <a:solidFill>
                  <a:schemeClr val="tx1"/>
                </a:solidFill>
                <a:latin typeface="Pretendard"/>
              </a:rPr>
              <a:t>실시간</a:t>
            </a:r>
            <a:r>
              <a:rPr sz="950" b="1" i="0" dirty="0">
                <a:solidFill>
                  <a:schemeClr val="tx1"/>
                </a:solidFill>
                <a:latin typeface="Pretendard"/>
              </a:rPr>
              <a:t> </a:t>
            </a:r>
            <a:r>
              <a:rPr sz="950" b="1" i="0" dirty="0" err="1">
                <a:solidFill>
                  <a:schemeClr val="tx1"/>
                </a:solidFill>
                <a:latin typeface="Pretendard"/>
              </a:rPr>
              <a:t>탐지</a:t>
            </a:r>
            <a:endParaRPr sz="950" b="1" i="0" dirty="0">
              <a:solidFill>
                <a:schemeClr val="tx1"/>
              </a:solidFill>
              <a:latin typeface="Pretendard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76656" y="5221224"/>
            <a:ext cx="1417320" cy="2834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200" b="1" i="0">
                <a:solidFill>
                  <a:srgbClr val="3C7CDE"/>
                </a:solidFill>
                <a:latin typeface="Pretendard"/>
              </a:rPr>
              <a:t>ROC-AUC 0.9254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6656" y="5527045"/>
            <a:ext cx="1417320" cy="156453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850" b="0" i="0" dirty="0">
                <a:solidFill>
                  <a:srgbClr val="202124"/>
                </a:solidFill>
                <a:latin typeface="Pretendard"/>
              </a:rPr>
              <a:t>[</a:t>
            </a:r>
            <a:r>
              <a:rPr lang="ko-KR" altLang="en-US" sz="850" b="0" i="0" dirty="0">
                <a:solidFill>
                  <a:srgbClr val="202124"/>
                </a:solidFill>
                <a:latin typeface="Pretendard"/>
              </a:rPr>
              <a:t>구현 완료</a:t>
            </a:r>
            <a:r>
              <a:rPr sz="850" b="0" i="0" dirty="0">
                <a:solidFill>
                  <a:srgbClr val="202124"/>
                </a:solidFill>
                <a:latin typeface="Pretendard"/>
              </a:rPr>
              <a:t>]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258568" y="4974336"/>
            <a:ext cx="1281537" cy="777240"/>
          </a:xfrm>
          <a:prstGeom prst="rect">
            <a:avLst/>
          </a:prstGeom>
          <a:solidFill>
            <a:srgbClr val="F5F8FD"/>
          </a:solidFill>
          <a:ln w="635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2258568" y="4974336"/>
            <a:ext cx="38100" cy="777240"/>
          </a:xfrm>
          <a:prstGeom prst="rect">
            <a:avLst/>
          </a:prstGeom>
          <a:solidFill>
            <a:srgbClr val="3C7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368296" y="5034719"/>
            <a:ext cx="1417320" cy="17184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950" b="1" i="0">
                <a:solidFill>
                  <a:schemeClr val="tx1"/>
                </a:solidFill>
                <a:latin typeface="Pretendard"/>
              </a:rPr>
              <a:t>원인 자동 진단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68296" y="5221224"/>
            <a:ext cx="1417320" cy="2834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200" b="1" i="0">
                <a:solidFill>
                  <a:srgbClr val="3C7CDE"/>
                </a:solidFill>
                <a:latin typeface="Pretendard"/>
              </a:rPr>
              <a:t>SHAP 24센서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368296" y="5504688"/>
            <a:ext cx="1417320" cy="2011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850" b="0" i="0">
                <a:solidFill>
                  <a:srgbClr val="202124"/>
                </a:solidFill>
                <a:latin typeface="Pretendard"/>
              </a:rPr>
              <a:t>기여도 분해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950208" y="4974336"/>
            <a:ext cx="1281537" cy="777240"/>
          </a:xfrm>
          <a:prstGeom prst="rect">
            <a:avLst/>
          </a:prstGeom>
          <a:solidFill>
            <a:srgbClr val="F5F8FD"/>
          </a:solidFill>
          <a:ln w="635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3950208" y="4974336"/>
            <a:ext cx="38100" cy="777240"/>
          </a:xfrm>
          <a:prstGeom prst="rect">
            <a:avLst/>
          </a:prstGeom>
          <a:solidFill>
            <a:srgbClr val="3C7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059936" y="5034719"/>
            <a:ext cx="1417320" cy="17184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950" b="1" i="0">
                <a:solidFill>
                  <a:schemeClr val="tx1"/>
                </a:solidFill>
                <a:latin typeface="Pretendard"/>
              </a:rPr>
              <a:t>처방 자동화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059936" y="5221224"/>
            <a:ext cx="1417320" cy="2834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200" b="1" i="0">
                <a:solidFill>
                  <a:srgbClr val="3C7CDE"/>
                </a:solidFill>
                <a:latin typeface="Pretendard"/>
              </a:rPr>
              <a:t>24개 처방 카드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59936" y="5504688"/>
            <a:ext cx="1417320" cy="2011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850" b="0" i="0">
                <a:solidFill>
                  <a:srgbClr val="202124"/>
                </a:solidFill>
                <a:latin typeface="Pretendard"/>
              </a:rPr>
              <a:t>조작/정비 자동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41848" y="4974336"/>
            <a:ext cx="1281537" cy="777240"/>
          </a:xfrm>
          <a:prstGeom prst="rect">
            <a:avLst/>
          </a:prstGeom>
          <a:solidFill>
            <a:srgbClr val="F5F8FD"/>
          </a:solidFill>
          <a:ln w="635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5641848" y="4974336"/>
            <a:ext cx="38100" cy="777240"/>
          </a:xfrm>
          <a:prstGeom prst="rect">
            <a:avLst/>
          </a:prstGeom>
          <a:solidFill>
            <a:srgbClr val="3C7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751576" y="5034719"/>
            <a:ext cx="1417320" cy="17184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950" b="1" i="0">
                <a:solidFill>
                  <a:schemeClr val="tx1"/>
                </a:solidFill>
                <a:latin typeface="Pretendard"/>
              </a:rPr>
              <a:t>이력 표준화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751576" y="5257799"/>
            <a:ext cx="1417320" cy="21031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200" b="1" i="0" dirty="0">
                <a:solidFill>
                  <a:srgbClr val="3C7CDE"/>
                </a:solidFill>
                <a:latin typeface="Pretendard"/>
              </a:rPr>
              <a:t>CSV / MD</a:t>
            </a:r>
            <a:r>
              <a:rPr lang="en-US" sz="1200" b="1" i="0" dirty="0">
                <a:solidFill>
                  <a:srgbClr val="3C7CDE"/>
                </a:solidFill>
                <a:latin typeface="Pretendard"/>
              </a:rPr>
              <a:t> </a:t>
            </a:r>
            <a:r>
              <a:rPr lang="ko-KR" altLang="en-US" sz="1200" b="1" i="0" dirty="0">
                <a:solidFill>
                  <a:srgbClr val="3C7CDE"/>
                </a:solidFill>
                <a:latin typeface="Pretendard"/>
              </a:rPr>
              <a:t>추출 </a:t>
            </a:r>
            <a:endParaRPr sz="1200" b="1" i="0" dirty="0">
              <a:solidFill>
                <a:srgbClr val="3C7CDE"/>
              </a:solidFill>
              <a:latin typeface="Pretendard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5751576" y="5527045"/>
            <a:ext cx="1417320" cy="156453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850" b="0" i="0" dirty="0" err="1">
                <a:solidFill>
                  <a:srgbClr val="202124"/>
                </a:solidFill>
                <a:latin typeface="Pretendard"/>
              </a:rPr>
              <a:t>교대</a:t>
            </a:r>
            <a:r>
              <a:rPr sz="850" b="0" i="0" dirty="0">
                <a:solidFill>
                  <a:srgbClr val="202124"/>
                </a:solidFill>
                <a:latin typeface="Pretendard"/>
              </a:rPr>
              <a:t> </a:t>
            </a:r>
            <a:r>
              <a:rPr lang="ko-KR" altLang="en-US" sz="850" b="0" i="0" dirty="0">
                <a:solidFill>
                  <a:srgbClr val="202124"/>
                </a:solidFill>
                <a:latin typeface="Pretendard"/>
              </a:rPr>
              <a:t>및 </a:t>
            </a:r>
            <a:r>
              <a:rPr sz="850" b="0" i="0" dirty="0" err="1">
                <a:solidFill>
                  <a:srgbClr val="202124"/>
                </a:solidFill>
                <a:latin typeface="Pretendard"/>
              </a:rPr>
              <a:t>인수인계</a:t>
            </a:r>
            <a:r>
              <a:rPr lang="ko-KR" altLang="en-US" sz="850" dirty="0">
                <a:solidFill>
                  <a:srgbClr val="202124"/>
                </a:solidFill>
                <a:latin typeface="Pretendard"/>
              </a:rPr>
              <a:t>에 활용</a:t>
            </a:r>
            <a:endParaRPr sz="850" b="0" i="0" dirty="0">
              <a:solidFill>
                <a:srgbClr val="202124"/>
              </a:solidFill>
              <a:latin typeface="Pretendard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7488936" y="4932548"/>
            <a:ext cx="4187952" cy="1325880"/>
          </a:xfrm>
          <a:prstGeom prst="rect">
            <a:avLst/>
          </a:prstGeom>
          <a:solidFill>
            <a:srgbClr val="FAFBFC"/>
          </a:solidFill>
          <a:ln w="12700">
            <a:solidFill>
              <a:srgbClr val="5F666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516368" y="5500116"/>
            <a:ext cx="4187952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/>
            <a:r>
              <a:rPr sz="1100" b="0" i="1" dirty="0">
                <a:solidFill>
                  <a:srgbClr val="5F6668"/>
                </a:solidFill>
                <a:latin typeface="Pretendard"/>
              </a:rPr>
              <a:t>[</a:t>
            </a:r>
            <a:r>
              <a:rPr sz="1100" b="0" i="1" dirty="0" err="1">
                <a:solidFill>
                  <a:srgbClr val="5F6668"/>
                </a:solidFill>
                <a:latin typeface="Pretendard"/>
              </a:rPr>
              <a:t>스크린샷</a:t>
            </a:r>
            <a:r>
              <a:rPr sz="1100" b="0" i="1" dirty="0">
                <a:solidFill>
                  <a:srgbClr val="5F6668"/>
                </a:solidFill>
                <a:latin typeface="Pretendard"/>
              </a:rPr>
              <a:t>: '</a:t>
            </a:r>
            <a:r>
              <a:rPr sz="1100" b="0" i="1" dirty="0" err="1">
                <a:solidFill>
                  <a:srgbClr val="5F6668"/>
                </a:solidFill>
                <a:latin typeface="Pretendard"/>
              </a:rPr>
              <a:t>실시간</a:t>
            </a:r>
            <a:r>
              <a:rPr sz="1100" b="0" i="1" dirty="0">
                <a:solidFill>
                  <a:srgbClr val="5F6668"/>
                </a:solidFill>
                <a:latin typeface="Pretendard"/>
              </a:rPr>
              <a:t> </a:t>
            </a:r>
            <a:r>
              <a:rPr sz="1100" b="0" i="1" dirty="0" err="1">
                <a:solidFill>
                  <a:srgbClr val="5F6668"/>
                </a:solidFill>
                <a:latin typeface="Pretendard"/>
              </a:rPr>
              <a:t>진단</a:t>
            </a:r>
            <a:r>
              <a:rPr sz="1100" b="0" i="1" dirty="0">
                <a:solidFill>
                  <a:srgbClr val="5F6668"/>
                </a:solidFill>
                <a:latin typeface="Pretendard"/>
              </a:rPr>
              <a:t>' 탭 — '</a:t>
            </a:r>
            <a:r>
              <a:rPr sz="1100" b="0" i="1" dirty="0" err="1">
                <a:solidFill>
                  <a:srgbClr val="5F6668"/>
                </a:solidFill>
                <a:latin typeface="Pretendard"/>
              </a:rPr>
              <a:t>판정</a:t>
            </a:r>
            <a:r>
              <a:rPr sz="1100" b="0" i="1" dirty="0">
                <a:solidFill>
                  <a:srgbClr val="5F6668"/>
                </a:solidFill>
                <a:latin typeface="Pretendard"/>
              </a:rPr>
              <a:t> </a:t>
            </a:r>
            <a:r>
              <a:rPr sz="1100" b="0" i="1" dirty="0" err="1">
                <a:solidFill>
                  <a:srgbClr val="5F6668"/>
                </a:solidFill>
                <a:latin typeface="Pretendard"/>
              </a:rPr>
              <a:t>결과</a:t>
            </a:r>
            <a:r>
              <a:rPr sz="1100" b="0" i="1" dirty="0">
                <a:solidFill>
                  <a:srgbClr val="5F6668"/>
                </a:solidFill>
                <a:latin typeface="Pretendard"/>
              </a:rPr>
              <a:t>' </a:t>
            </a:r>
            <a:r>
              <a:rPr sz="1100" b="0" i="1" dirty="0" err="1">
                <a:solidFill>
                  <a:srgbClr val="5F6668"/>
                </a:solidFill>
                <a:latin typeface="Pretendard"/>
              </a:rPr>
              <a:t>박스</a:t>
            </a:r>
            <a:r>
              <a:rPr sz="1100" b="0" i="1" dirty="0">
                <a:solidFill>
                  <a:srgbClr val="5F6668"/>
                </a:solidFill>
                <a:latin typeface="Pretendard"/>
              </a:rPr>
              <a:t> (</a:t>
            </a:r>
            <a:r>
              <a:rPr sz="1100" b="0" i="1" dirty="0" err="1">
                <a:solidFill>
                  <a:srgbClr val="5F6668"/>
                </a:solidFill>
                <a:latin typeface="Pretendard"/>
              </a:rPr>
              <a:t>위험</a:t>
            </a:r>
            <a:r>
              <a:rPr sz="1100" b="0" i="1" dirty="0">
                <a:solidFill>
                  <a:srgbClr val="5F6668"/>
                </a:solidFill>
                <a:latin typeface="Pretendard"/>
              </a:rPr>
              <a:t> DANGER </a:t>
            </a:r>
            <a:r>
              <a:rPr sz="1100" b="0" i="1" dirty="0" err="1">
                <a:solidFill>
                  <a:srgbClr val="5F6668"/>
                </a:solidFill>
                <a:latin typeface="Pretendard"/>
              </a:rPr>
              <a:t>빨간</a:t>
            </a:r>
            <a:r>
              <a:rPr sz="1100" b="0" i="1" dirty="0">
                <a:solidFill>
                  <a:srgbClr val="5F6668"/>
                </a:solidFill>
                <a:latin typeface="Pretendard"/>
              </a:rPr>
              <a:t> </a:t>
            </a:r>
            <a:r>
              <a:rPr sz="1100" b="0" i="1" dirty="0" err="1">
                <a:solidFill>
                  <a:srgbClr val="5F6668"/>
                </a:solidFill>
                <a:latin typeface="Pretendard"/>
              </a:rPr>
              <a:t>배너</a:t>
            </a:r>
            <a:r>
              <a:rPr sz="1100" b="0" i="1" dirty="0">
                <a:solidFill>
                  <a:srgbClr val="5F6668"/>
                </a:solidFill>
                <a:latin typeface="Pretendard"/>
              </a:rPr>
              <a:t>) + </a:t>
            </a:r>
            <a:r>
              <a:rPr sz="1100" b="0" i="1" dirty="0" err="1">
                <a:solidFill>
                  <a:srgbClr val="5F6668"/>
                </a:solidFill>
                <a:latin typeface="Pretendard"/>
              </a:rPr>
              <a:t>다중</a:t>
            </a:r>
            <a:r>
              <a:rPr sz="1100" b="0" i="1" dirty="0">
                <a:solidFill>
                  <a:srgbClr val="5F6668"/>
                </a:solidFill>
                <a:latin typeface="Pretendard"/>
              </a:rPr>
              <a:t> AI </a:t>
            </a:r>
            <a:r>
              <a:rPr sz="1100" b="0" i="1" dirty="0" err="1">
                <a:solidFill>
                  <a:srgbClr val="5F6668"/>
                </a:solidFill>
                <a:latin typeface="Pretendard"/>
              </a:rPr>
              <a:t>합의</a:t>
            </a:r>
            <a:r>
              <a:rPr sz="1100" b="0" i="1" dirty="0">
                <a:solidFill>
                  <a:srgbClr val="5F6668"/>
                </a:solidFill>
                <a:latin typeface="Pretendard"/>
              </a:rPr>
              <a:t> </a:t>
            </a:r>
            <a:r>
              <a:rPr sz="1100" b="0" i="1" dirty="0" err="1">
                <a:solidFill>
                  <a:srgbClr val="5F6668"/>
                </a:solidFill>
                <a:latin typeface="Pretendard"/>
              </a:rPr>
              <a:t>미터</a:t>
            </a:r>
            <a:r>
              <a:rPr sz="1100" b="0" i="1" dirty="0">
                <a:solidFill>
                  <a:srgbClr val="5F6668"/>
                </a:solidFill>
                <a:latin typeface="Pretendard"/>
              </a:rPr>
              <a:t> + </a:t>
            </a:r>
            <a:r>
              <a:rPr sz="1100" b="0" i="1" dirty="0" err="1">
                <a:solidFill>
                  <a:srgbClr val="5F6668"/>
                </a:solidFill>
                <a:latin typeface="Pretendard"/>
              </a:rPr>
              <a:t>대응</a:t>
            </a:r>
            <a:r>
              <a:rPr sz="1100" b="0" i="1" dirty="0">
                <a:solidFill>
                  <a:srgbClr val="5F6668"/>
                </a:solidFill>
                <a:latin typeface="Pretendard"/>
              </a:rPr>
              <a:t> </a:t>
            </a:r>
            <a:r>
              <a:rPr sz="1100" b="0" i="1" dirty="0" err="1">
                <a:solidFill>
                  <a:srgbClr val="5F6668"/>
                </a:solidFill>
                <a:latin typeface="Pretendard"/>
              </a:rPr>
              <a:t>권고</a:t>
            </a:r>
            <a:r>
              <a:rPr sz="1100" b="0" i="1" dirty="0">
                <a:solidFill>
                  <a:srgbClr val="5F6668"/>
                </a:solidFill>
                <a:latin typeface="Pretendard"/>
              </a:rPr>
              <a:t> </a:t>
            </a:r>
            <a:r>
              <a:rPr sz="1100" b="0" i="1" dirty="0" err="1">
                <a:solidFill>
                  <a:srgbClr val="5F6668"/>
                </a:solidFill>
                <a:latin typeface="Pretendard"/>
              </a:rPr>
              <a:t>카드</a:t>
            </a:r>
            <a:r>
              <a:rPr sz="1100" b="0" i="1" dirty="0">
                <a:solidFill>
                  <a:srgbClr val="5F6668"/>
                </a:solidFill>
                <a:latin typeface="Pretendard"/>
              </a:rPr>
              <a:t>]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F95B0BC-0E7C-6459-6953-94A8475EFD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9243" y="4508456"/>
            <a:ext cx="4588321" cy="1879662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F18AA866-EDCD-DFF0-8D15-35AC0785EACF}"/>
              </a:ext>
            </a:extLst>
          </p:cNvPr>
          <p:cNvSpPr txBox="1"/>
          <p:nvPr/>
        </p:nvSpPr>
        <p:spPr>
          <a:xfrm>
            <a:off x="1558821" y="6126508"/>
            <a:ext cx="561007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</a:rPr>
              <a:t>실시간 진단 — AI 4단계 판정 · 다중 AI 다수결 · </a:t>
            </a:r>
            <a:r>
              <a:rPr lang="ko-KR" altLang="en-US" sz="1100" dirty="0" err="1">
                <a:solidFill>
                  <a:schemeClr val="tx2">
                    <a:lumMod val="50000"/>
                  </a:schemeClr>
                </a:solidFill>
              </a:rPr>
              <a:t>임계값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</a:rPr>
              <a:t> 게이지를 한 화면에서 동시 확인</a:t>
            </a:r>
          </a:p>
        </p:txBody>
      </p:sp>
    </p:spTree>
    <p:extLst>
      <p:ext uri="{BB962C8B-B14F-4D97-AF65-F5344CB8AC3E}">
        <p14:creationId xmlns:p14="http://schemas.microsoft.com/office/powerpoint/2010/main" val="4027285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7D086-7FAD-83A2-673F-CD401C76F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oogle Shape;99;p2">
            <a:extLst>
              <a:ext uri="{FF2B5EF4-FFF2-40B4-BE49-F238E27FC236}">
                <a16:creationId xmlns:a16="http://schemas.microsoft.com/office/drawing/2014/main" id="{AF58BFF4-5D90-B7BB-A5FB-15DD1784476A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B3D6440B-E8F0-1E73-E5FF-72737DFD9199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– 3.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주요 기능 정의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(Key Features)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" name="Google Shape;105;p2">
            <a:extLst>
              <a:ext uri="{FF2B5EF4-FFF2-40B4-BE49-F238E27FC236}">
                <a16:creationId xmlns:a16="http://schemas.microsoft.com/office/drawing/2014/main" id="{CBEF9D9D-82FE-E102-BEBE-5DB9646F8C7D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8" name="Google Shape;92;p1">
            <a:extLst>
              <a:ext uri="{FF2B5EF4-FFF2-40B4-BE49-F238E27FC236}">
                <a16:creationId xmlns:a16="http://schemas.microsoft.com/office/drawing/2014/main" id="{9F24ED86-00F9-D00A-872B-AD59A51EEFD0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15547"/>
            <a:ext cx="1007955" cy="35340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AD1E7A96-4C68-6800-DC19-6EFB0D02D277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A7EE83-FB83-19B0-F1B4-CECFF9D828FF}"/>
              </a:ext>
            </a:extLst>
          </p:cNvPr>
          <p:cNvSpPr txBox="1"/>
          <p:nvPr/>
        </p:nvSpPr>
        <p:spPr>
          <a:xfrm>
            <a:off x="939333" y="1189703"/>
            <a:ext cx="3433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3. </a:t>
            </a:r>
            <a:r>
              <a:rPr lang="ko-KR" altLang="en-US" dirty="0">
                <a:latin typeface="+mj-ea"/>
                <a:ea typeface="+mj-ea"/>
              </a:rPr>
              <a:t>주요 기능 정의 </a:t>
            </a:r>
            <a:r>
              <a:rPr lang="en-US" altLang="ko-KR" dirty="0">
                <a:latin typeface="+mj-ea"/>
                <a:ea typeface="+mj-ea"/>
              </a:rPr>
              <a:t>(Key Features)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DB46F3FE-8810-F742-96B1-76FE8CAEE9B6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차세대융합기술연구원, 반도체 부품 국산화 위한 기술 실증 지원사업 참여 기업 모집 &gt; 뉴스 | CIOCISO">
            <a:extLst>
              <a:ext uri="{FF2B5EF4-FFF2-40B4-BE49-F238E27FC236}">
                <a16:creationId xmlns:a16="http://schemas.microsoft.com/office/drawing/2014/main" id="{65C56526-1A7E-EE3B-1FB2-69A678931E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34" b="35256"/>
          <a:stretch>
            <a:fillRect/>
          </a:stretch>
        </p:blipFill>
        <p:spPr bwMode="auto">
          <a:xfrm>
            <a:off x="9298782" y="6434300"/>
            <a:ext cx="1555879" cy="33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Google Shape;100;p2">
            <a:extLst>
              <a:ext uri="{FF2B5EF4-FFF2-40B4-BE49-F238E27FC236}">
                <a16:creationId xmlns:a16="http://schemas.microsoft.com/office/drawing/2014/main" id="{F184EC9F-8B26-D1F2-0ED1-8EC31B8C41EE}"/>
              </a:ext>
            </a:extLst>
          </p:cNvPr>
          <p:cNvSpPr txBox="1"/>
          <p:nvPr/>
        </p:nvSpPr>
        <p:spPr>
          <a:xfrm>
            <a:off x="8775865" y="229867"/>
            <a:ext cx="3044336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스마트 공장 운영 시스템 </a:t>
            </a: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MVP 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 </a:t>
            </a:r>
            <a:r>
              <a:rPr lang="ko-KR" altLang="en-US" sz="1000" b="1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해커톤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66928" y="1764792"/>
            <a:ext cx="101600" cy="164592"/>
          </a:xfrm>
          <a:prstGeom prst="rect">
            <a:avLst/>
          </a:prstGeom>
          <a:solidFill>
            <a:srgbClr val="3C7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1691640"/>
            <a:ext cx="5303520" cy="21031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200" b="1" i="0" dirty="0">
                <a:solidFill>
                  <a:schemeClr val="tx1"/>
                </a:solidFill>
                <a:latin typeface="Pretendard"/>
              </a:rPr>
              <a:t>MVP </a:t>
            </a:r>
            <a:r>
              <a:rPr sz="1200" b="1" i="0" dirty="0" err="1">
                <a:solidFill>
                  <a:schemeClr val="tx1"/>
                </a:solidFill>
                <a:latin typeface="Pretendard"/>
              </a:rPr>
              <a:t>핵심</a:t>
            </a:r>
            <a:r>
              <a:rPr sz="1200" b="1" i="0" dirty="0">
                <a:solidFill>
                  <a:schemeClr val="tx1"/>
                </a:solidFill>
                <a:latin typeface="Pretendard"/>
              </a:rPr>
              <a:t> 5기능 (F1~F5) — </a:t>
            </a:r>
            <a:r>
              <a:rPr sz="1200" b="1" i="0" dirty="0" err="1">
                <a:solidFill>
                  <a:schemeClr val="tx1"/>
                </a:solidFill>
                <a:latin typeface="Pretendard"/>
              </a:rPr>
              <a:t>예선</a:t>
            </a:r>
            <a:r>
              <a:rPr sz="1200" b="1" i="0" dirty="0">
                <a:solidFill>
                  <a:schemeClr val="tx1"/>
                </a:solidFill>
                <a:latin typeface="Pretendard"/>
              </a:rPr>
              <a:t> </a:t>
            </a:r>
            <a:r>
              <a:rPr sz="1200" b="1" i="0" dirty="0" err="1">
                <a:solidFill>
                  <a:schemeClr val="tx1"/>
                </a:solidFill>
                <a:latin typeface="Pretendard"/>
              </a:rPr>
              <a:t>단계</a:t>
            </a:r>
            <a:r>
              <a:rPr sz="1200" b="1" i="0" dirty="0">
                <a:solidFill>
                  <a:schemeClr val="tx1"/>
                </a:solidFill>
                <a:latin typeface="Pretendard"/>
              </a:rPr>
              <a:t> </a:t>
            </a:r>
            <a:r>
              <a:rPr sz="1200" b="1" i="0" dirty="0" err="1">
                <a:solidFill>
                  <a:schemeClr val="tx1"/>
                </a:solidFill>
                <a:latin typeface="Pretendard"/>
              </a:rPr>
              <a:t>모두</a:t>
            </a:r>
            <a:r>
              <a:rPr sz="1200" b="1" i="0" dirty="0">
                <a:solidFill>
                  <a:schemeClr val="tx1"/>
                </a:solidFill>
                <a:latin typeface="Pretendard"/>
              </a:rPr>
              <a:t> </a:t>
            </a:r>
            <a:r>
              <a:rPr sz="1200" b="1" i="0" dirty="0" err="1">
                <a:solidFill>
                  <a:schemeClr val="tx1"/>
                </a:solidFill>
                <a:latin typeface="Pretendard"/>
              </a:rPr>
              <a:t>구현</a:t>
            </a:r>
            <a:r>
              <a:rPr sz="1200" b="1" i="0" dirty="0">
                <a:solidFill>
                  <a:schemeClr val="tx1"/>
                </a:solidFill>
                <a:latin typeface="Pretendard"/>
              </a:rPr>
              <a:t> </a:t>
            </a:r>
            <a:r>
              <a:rPr sz="1200" b="1" i="0" dirty="0" err="1">
                <a:solidFill>
                  <a:schemeClr val="tx1"/>
                </a:solidFill>
                <a:latin typeface="Pretendard"/>
              </a:rPr>
              <a:t>완료</a:t>
            </a:r>
            <a:endParaRPr sz="1200" b="1" i="0" dirty="0">
              <a:solidFill>
                <a:schemeClr val="tx1"/>
              </a:solidFill>
              <a:latin typeface="Pretendard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66928" y="2093976"/>
            <a:ext cx="640080" cy="777240"/>
          </a:xfrm>
          <a:prstGeom prst="rect">
            <a:avLst/>
          </a:prstGeom>
          <a:solidFill>
            <a:srgbClr val="3C7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6928" y="2093976"/>
            <a:ext cx="640080" cy="7772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Pretendard"/>
              </a:rPr>
              <a:t>F1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80160" y="2093976"/>
            <a:ext cx="4009595" cy="777240"/>
          </a:xfrm>
          <a:prstGeom prst="rect">
            <a:avLst/>
          </a:prstGeom>
          <a:solidFill>
            <a:srgbClr val="F5F8FD"/>
          </a:solidFill>
          <a:ln w="508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426464" y="2185416"/>
            <a:ext cx="4590288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300" b="1" i="0" dirty="0">
                <a:solidFill>
                  <a:srgbClr val="202124"/>
                </a:solidFill>
                <a:latin typeface="Pretendard"/>
              </a:rPr>
              <a:t>AI </a:t>
            </a:r>
            <a:r>
              <a:rPr sz="1300" b="1" i="0" dirty="0" err="1">
                <a:solidFill>
                  <a:srgbClr val="202124"/>
                </a:solidFill>
                <a:latin typeface="Pretendard"/>
              </a:rPr>
              <a:t>자동</a:t>
            </a:r>
            <a:r>
              <a:rPr sz="1300" b="1" i="0" dirty="0">
                <a:solidFill>
                  <a:srgbClr val="202124"/>
                </a:solidFill>
                <a:latin typeface="Pretendard"/>
              </a:rPr>
              <a:t> </a:t>
            </a:r>
            <a:r>
              <a:rPr sz="1300" b="1" i="0" dirty="0" err="1">
                <a:solidFill>
                  <a:srgbClr val="202124"/>
                </a:solidFill>
                <a:latin typeface="Pretendard"/>
              </a:rPr>
              <a:t>이상탐지</a:t>
            </a:r>
            <a:endParaRPr sz="1300" b="1" i="0" dirty="0">
              <a:solidFill>
                <a:srgbClr val="202124"/>
              </a:solidFill>
              <a:latin typeface="Pretendard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426464" y="2478024"/>
            <a:ext cx="4590288" cy="21031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200" b="0" i="0" dirty="0">
                <a:solidFill>
                  <a:schemeClr val="tx1"/>
                </a:solidFill>
                <a:latin typeface="Pretendard"/>
              </a:rPr>
              <a:t>Autoencoder · ROC-AUC 0.9254 · F1 0.7324 [</a:t>
            </a:r>
            <a:r>
              <a:rPr sz="1200" b="0" i="0" dirty="0" err="1">
                <a:solidFill>
                  <a:schemeClr val="tx1"/>
                </a:solidFill>
                <a:latin typeface="Pretendard"/>
              </a:rPr>
              <a:t>실측</a:t>
            </a:r>
            <a:r>
              <a:rPr sz="1200" b="0" i="0" dirty="0">
                <a:solidFill>
                  <a:schemeClr val="tx1"/>
                </a:solidFill>
                <a:latin typeface="Pretendard"/>
              </a:rPr>
              <a:t>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2935224"/>
            <a:ext cx="640080" cy="777240"/>
          </a:xfrm>
          <a:prstGeom prst="rect">
            <a:avLst/>
          </a:prstGeom>
          <a:solidFill>
            <a:srgbClr val="3C7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66928" y="2935224"/>
            <a:ext cx="640080" cy="7772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Pretendard"/>
              </a:rPr>
              <a:t>F2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80160" y="2935224"/>
            <a:ext cx="4009595" cy="777240"/>
          </a:xfrm>
          <a:prstGeom prst="rect">
            <a:avLst/>
          </a:prstGeom>
          <a:solidFill>
            <a:srgbClr val="F5F8FD"/>
          </a:solidFill>
          <a:ln w="508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426464" y="3026664"/>
            <a:ext cx="4590288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300" b="1" i="0">
                <a:solidFill>
                  <a:srgbClr val="202124"/>
                </a:solidFill>
                <a:latin typeface="Pretendard"/>
              </a:rPr>
              <a:t>SHAP 24센서 원인 진단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26464" y="3319272"/>
            <a:ext cx="4590288" cy="21031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200" b="0" i="0" dirty="0" err="1">
                <a:solidFill>
                  <a:schemeClr val="tx1"/>
                </a:solidFill>
                <a:latin typeface="Pretendard"/>
              </a:rPr>
              <a:t>KernelSHAP</a:t>
            </a:r>
            <a:r>
              <a:rPr sz="1200" b="0" i="0" dirty="0">
                <a:solidFill>
                  <a:schemeClr val="tx1"/>
                </a:solidFill>
                <a:latin typeface="Pretendard"/>
              </a:rPr>
              <a:t> · Top-5 </a:t>
            </a:r>
            <a:r>
              <a:rPr sz="1200" b="0" i="0" dirty="0" err="1">
                <a:solidFill>
                  <a:schemeClr val="tx1"/>
                </a:solidFill>
                <a:latin typeface="Pretendard"/>
              </a:rPr>
              <a:t>자동</a:t>
            </a:r>
            <a:r>
              <a:rPr sz="1200" b="0" i="0" dirty="0">
                <a:solidFill>
                  <a:schemeClr val="tx1"/>
                </a:solidFill>
                <a:latin typeface="Pretendard"/>
              </a:rPr>
              <a:t> </a:t>
            </a:r>
            <a:r>
              <a:rPr sz="1200" b="0" i="0" dirty="0" err="1">
                <a:solidFill>
                  <a:schemeClr val="tx1"/>
                </a:solidFill>
                <a:latin typeface="Pretendard"/>
              </a:rPr>
              <a:t>도출</a:t>
            </a:r>
            <a:r>
              <a:rPr sz="1200" b="0" i="0" dirty="0">
                <a:solidFill>
                  <a:schemeClr val="tx1"/>
                </a:solidFill>
                <a:latin typeface="Pretendard"/>
              </a:rPr>
              <a:t> · </a:t>
            </a:r>
            <a:r>
              <a:rPr sz="1200" b="0" i="0" dirty="0" err="1">
                <a:solidFill>
                  <a:schemeClr val="tx1"/>
                </a:solidFill>
                <a:latin typeface="Pretendard"/>
              </a:rPr>
              <a:t>실시간</a:t>
            </a:r>
            <a:r>
              <a:rPr sz="1200" b="0" i="0" dirty="0">
                <a:solidFill>
                  <a:schemeClr val="tx1"/>
                </a:solidFill>
                <a:latin typeface="Pretendard"/>
              </a:rPr>
              <a:t> </a:t>
            </a:r>
            <a:r>
              <a:rPr sz="1200" b="0" i="0" dirty="0" err="1">
                <a:solidFill>
                  <a:schemeClr val="tx1"/>
                </a:solidFill>
                <a:latin typeface="Pretendard"/>
              </a:rPr>
              <a:t>기여도</a:t>
            </a:r>
            <a:r>
              <a:rPr sz="1200" b="0" i="0" dirty="0">
                <a:solidFill>
                  <a:schemeClr val="tx1"/>
                </a:solidFill>
                <a:latin typeface="Pretendard"/>
              </a:rPr>
              <a:t> </a:t>
            </a:r>
            <a:r>
              <a:rPr sz="1200" b="0" i="0" dirty="0" err="1">
                <a:solidFill>
                  <a:schemeClr val="tx1"/>
                </a:solidFill>
                <a:latin typeface="Pretendard"/>
              </a:rPr>
              <a:t>분해</a:t>
            </a:r>
            <a:endParaRPr sz="1200" b="0" i="0" dirty="0">
              <a:solidFill>
                <a:schemeClr val="tx1"/>
              </a:solidFill>
              <a:latin typeface="Pretendard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66928" y="3776472"/>
            <a:ext cx="640080" cy="777240"/>
          </a:xfrm>
          <a:prstGeom prst="rect">
            <a:avLst/>
          </a:prstGeom>
          <a:solidFill>
            <a:srgbClr val="3C7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66928" y="3776472"/>
            <a:ext cx="640080" cy="7772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Pretendard"/>
              </a:rPr>
              <a:t>F3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280160" y="3776472"/>
            <a:ext cx="4009595" cy="777240"/>
          </a:xfrm>
          <a:prstGeom prst="rect">
            <a:avLst/>
          </a:prstGeom>
          <a:solidFill>
            <a:srgbClr val="F5F8FD"/>
          </a:solidFill>
          <a:ln w="508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426464" y="3867912"/>
            <a:ext cx="4590288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300" b="1" i="0">
                <a:solidFill>
                  <a:srgbClr val="202124"/>
                </a:solidFill>
                <a:latin typeface="Pretendard"/>
              </a:rPr>
              <a:t>처방 카드 24개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26464" y="4160520"/>
            <a:ext cx="4590288" cy="21031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200" b="0" i="0">
                <a:solidFill>
                  <a:schemeClr val="tx1"/>
                </a:solidFill>
                <a:latin typeface="Pretendard"/>
              </a:rPr>
              <a:t>센서별 처방 · 조작 가능 / 정비 필요 자동 분류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617720"/>
            <a:ext cx="640080" cy="777240"/>
          </a:xfrm>
          <a:prstGeom prst="rect">
            <a:avLst/>
          </a:prstGeom>
          <a:solidFill>
            <a:srgbClr val="3C7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66928" y="4617720"/>
            <a:ext cx="640080" cy="7772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Pretendard"/>
              </a:rPr>
              <a:t>F4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80160" y="4617720"/>
            <a:ext cx="4009595" cy="777240"/>
          </a:xfrm>
          <a:prstGeom prst="rect">
            <a:avLst/>
          </a:prstGeom>
          <a:solidFill>
            <a:srgbClr val="F5F8FD"/>
          </a:solidFill>
          <a:ln w="508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426464" y="4709160"/>
            <a:ext cx="4590288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300" b="1" i="0">
                <a:solidFill>
                  <a:srgbClr val="202124"/>
                </a:solidFill>
                <a:latin typeface="Pretendard"/>
              </a:rPr>
              <a:t>심각도 3단계 + 알람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26464" y="5001768"/>
            <a:ext cx="4590288" cy="21031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200" b="0" i="0">
                <a:solidFill>
                  <a:schemeClr val="tx1"/>
                </a:solidFill>
                <a:latin typeface="Pretendard"/>
              </a:rPr>
              <a:t>경고/위험/긴급 · 작업자 → 반장 → 부서장 에스컬레이션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5458968"/>
            <a:ext cx="640080" cy="777240"/>
          </a:xfrm>
          <a:prstGeom prst="rect">
            <a:avLst/>
          </a:prstGeom>
          <a:solidFill>
            <a:srgbClr val="3C7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66928" y="5458968"/>
            <a:ext cx="640080" cy="7772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Pretendard"/>
              </a:rPr>
              <a:t>F5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80160" y="5458968"/>
            <a:ext cx="4009595" cy="777240"/>
          </a:xfrm>
          <a:prstGeom prst="rect">
            <a:avLst/>
          </a:prstGeom>
          <a:solidFill>
            <a:srgbClr val="F5F8FD"/>
          </a:solidFill>
          <a:ln w="508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426464" y="5550408"/>
            <a:ext cx="4590288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300" b="1" i="0">
                <a:solidFill>
                  <a:srgbClr val="202124"/>
                </a:solidFill>
                <a:latin typeface="Pretendard"/>
              </a:rPr>
              <a:t>교대 인수인계 자동화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26464" y="5843016"/>
            <a:ext cx="4590288" cy="21031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200" b="0" i="0" dirty="0" err="1">
                <a:solidFill>
                  <a:schemeClr val="tx1"/>
                </a:solidFill>
                <a:latin typeface="Pretendard"/>
              </a:rPr>
              <a:t>이상</a:t>
            </a:r>
            <a:r>
              <a:rPr sz="1200" b="0" i="0" dirty="0">
                <a:solidFill>
                  <a:schemeClr val="tx1"/>
                </a:solidFill>
                <a:latin typeface="Pretendard"/>
              </a:rPr>
              <a:t> </a:t>
            </a:r>
            <a:r>
              <a:rPr sz="1200" b="0" i="0" dirty="0" err="1">
                <a:solidFill>
                  <a:schemeClr val="tx1"/>
                </a:solidFill>
                <a:latin typeface="Pretendard"/>
              </a:rPr>
              <a:t>이력</a:t>
            </a:r>
            <a:r>
              <a:rPr sz="1200" b="0" i="0" dirty="0">
                <a:solidFill>
                  <a:schemeClr val="tx1"/>
                </a:solidFill>
                <a:latin typeface="Pretendard"/>
              </a:rPr>
              <a:t> 50건 + CSV·MD </a:t>
            </a:r>
            <a:r>
              <a:rPr sz="1200" b="0" i="0" dirty="0" err="1">
                <a:solidFill>
                  <a:schemeClr val="tx1"/>
                </a:solidFill>
                <a:latin typeface="Pretendard"/>
              </a:rPr>
              <a:t>다운로드</a:t>
            </a:r>
            <a:r>
              <a:rPr sz="1200" b="0" i="0" dirty="0">
                <a:solidFill>
                  <a:schemeClr val="tx1"/>
                </a:solidFill>
                <a:latin typeface="Pretendard"/>
              </a:rPr>
              <a:t> + JSON </a:t>
            </a:r>
            <a:r>
              <a:rPr sz="1200" b="0" i="0" dirty="0" err="1">
                <a:solidFill>
                  <a:schemeClr val="tx1"/>
                </a:solidFill>
                <a:latin typeface="Pretendard"/>
              </a:rPr>
              <a:t>영속</a:t>
            </a:r>
            <a:endParaRPr sz="1200" b="0" i="0" dirty="0">
              <a:solidFill>
                <a:schemeClr val="tx1"/>
              </a:solidFill>
              <a:latin typeface="Pretendard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6217920" y="1737359"/>
            <a:ext cx="5486400" cy="2148741"/>
          </a:xfrm>
          <a:prstGeom prst="rect">
            <a:avLst/>
          </a:prstGeom>
          <a:solidFill>
            <a:srgbClr val="FAFBFC"/>
          </a:solidFill>
          <a:ln w="12700">
            <a:solidFill>
              <a:srgbClr val="5F666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217920" y="2628900"/>
            <a:ext cx="5486400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/>
            <a:r>
              <a:rPr sz="1100" b="0" i="1" dirty="0">
                <a:solidFill>
                  <a:srgbClr val="5F6668"/>
                </a:solidFill>
                <a:latin typeface="Pretendard"/>
              </a:rPr>
              <a:t>[</a:t>
            </a:r>
            <a:r>
              <a:rPr sz="1100" b="0" i="1" dirty="0" err="1">
                <a:solidFill>
                  <a:srgbClr val="5F6668"/>
                </a:solidFill>
                <a:latin typeface="Pretendard"/>
              </a:rPr>
              <a:t>스크린샷</a:t>
            </a:r>
            <a:r>
              <a:rPr sz="1100" b="0" i="1" dirty="0">
                <a:solidFill>
                  <a:srgbClr val="5F6668"/>
                </a:solidFill>
                <a:latin typeface="Pretendard"/>
              </a:rPr>
              <a:t>: '</a:t>
            </a:r>
            <a:r>
              <a:rPr sz="1100" b="0" i="1" dirty="0" err="1">
                <a:solidFill>
                  <a:srgbClr val="5F6668"/>
                </a:solidFill>
                <a:latin typeface="Pretendard"/>
              </a:rPr>
              <a:t>불량</a:t>
            </a:r>
            <a:r>
              <a:rPr sz="1100" b="0" i="1" dirty="0">
                <a:solidFill>
                  <a:srgbClr val="5F6668"/>
                </a:solidFill>
                <a:latin typeface="Pretendard"/>
              </a:rPr>
              <a:t> </a:t>
            </a:r>
            <a:r>
              <a:rPr sz="1100" b="0" i="1" dirty="0" err="1">
                <a:solidFill>
                  <a:srgbClr val="5F6668"/>
                </a:solidFill>
                <a:latin typeface="Pretendard"/>
              </a:rPr>
              <a:t>원인</a:t>
            </a:r>
            <a:r>
              <a:rPr sz="1100" b="0" i="1" dirty="0">
                <a:solidFill>
                  <a:srgbClr val="5F6668"/>
                </a:solidFill>
                <a:latin typeface="Pretendard"/>
              </a:rPr>
              <a:t> </a:t>
            </a:r>
            <a:r>
              <a:rPr sz="1100" b="0" i="1" dirty="0" err="1">
                <a:solidFill>
                  <a:srgbClr val="5F6668"/>
                </a:solidFill>
                <a:latin typeface="Pretendard"/>
              </a:rPr>
              <a:t>분석</a:t>
            </a:r>
            <a:r>
              <a:rPr sz="1100" b="0" i="1" dirty="0">
                <a:solidFill>
                  <a:srgbClr val="5F6668"/>
                </a:solidFill>
                <a:latin typeface="Pretendard"/>
              </a:rPr>
              <a:t>' 탭 — </a:t>
            </a:r>
            <a:r>
              <a:rPr sz="1100" b="0" i="1" dirty="0" err="1">
                <a:solidFill>
                  <a:srgbClr val="5F6668"/>
                </a:solidFill>
                <a:latin typeface="Pretendard"/>
              </a:rPr>
              <a:t>센서별</a:t>
            </a:r>
            <a:r>
              <a:rPr sz="1100" b="0" i="1" dirty="0">
                <a:solidFill>
                  <a:srgbClr val="5F6668"/>
                </a:solidFill>
                <a:latin typeface="Pretendard"/>
              </a:rPr>
              <a:t> </a:t>
            </a:r>
            <a:r>
              <a:rPr sz="1100" b="0" i="1" dirty="0" err="1">
                <a:solidFill>
                  <a:srgbClr val="5F6668"/>
                </a:solidFill>
                <a:latin typeface="Pretendard"/>
              </a:rPr>
              <a:t>평균</a:t>
            </a:r>
            <a:r>
              <a:rPr sz="1100" b="0" i="1" dirty="0">
                <a:solidFill>
                  <a:srgbClr val="5F6668"/>
                </a:solidFill>
                <a:latin typeface="Pretendard"/>
              </a:rPr>
              <a:t> SHAP </a:t>
            </a:r>
            <a:r>
              <a:rPr sz="1100" b="0" i="1" dirty="0" err="1">
                <a:solidFill>
                  <a:srgbClr val="5F6668"/>
                </a:solidFill>
                <a:latin typeface="Pretendard"/>
              </a:rPr>
              <a:t>기여도</a:t>
            </a:r>
            <a:r>
              <a:rPr sz="1100" b="0" i="1" dirty="0">
                <a:solidFill>
                  <a:srgbClr val="5F6668"/>
                </a:solidFill>
                <a:latin typeface="Pretendard"/>
              </a:rPr>
              <a:t> </a:t>
            </a:r>
            <a:r>
              <a:rPr sz="1100" b="0" i="1" dirty="0" err="1">
                <a:solidFill>
                  <a:srgbClr val="5F6668"/>
                </a:solidFill>
                <a:latin typeface="Pretendard"/>
              </a:rPr>
              <a:t>막대</a:t>
            </a:r>
            <a:r>
              <a:rPr sz="1100" b="0" i="1" dirty="0">
                <a:solidFill>
                  <a:srgbClr val="5F6668"/>
                </a:solidFill>
                <a:latin typeface="Pretendard"/>
              </a:rPr>
              <a:t> </a:t>
            </a:r>
            <a:r>
              <a:rPr sz="1100" b="0" i="1" dirty="0" err="1">
                <a:solidFill>
                  <a:srgbClr val="5F6668"/>
                </a:solidFill>
                <a:latin typeface="Pretendard"/>
              </a:rPr>
              <a:t>차트</a:t>
            </a:r>
            <a:r>
              <a:rPr sz="1100" b="0" i="1" dirty="0">
                <a:solidFill>
                  <a:srgbClr val="5F6668"/>
                </a:solidFill>
                <a:latin typeface="Pretendard"/>
              </a:rPr>
              <a:t> (Top-5 </a:t>
            </a:r>
            <a:r>
              <a:rPr sz="1100" b="0" i="1" dirty="0" err="1">
                <a:solidFill>
                  <a:srgbClr val="5F6668"/>
                </a:solidFill>
                <a:latin typeface="Pretendard"/>
              </a:rPr>
              <a:t>빨강</a:t>
            </a:r>
            <a:r>
              <a:rPr sz="1100" b="0" i="1" dirty="0">
                <a:solidFill>
                  <a:srgbClr val="5F6668"/>
                </a:solidFill>
                <a:latin typeface="Pretendard"/>
              </a:rPr>
              <a:t> </a:t>
            </a:r>
            <a:r>
              <a:rPr sz="1100" b="0" i="1" dirty="0" err="1">
                <a:solidFill>
                  <a:srgbClr val="5F6668"/>
                </a:solidFill>
                <a:latin typeface="Pretendard"/>
              </a:rPr>
              <a:t>강조</a:t>
            </a:r>
            <a:r>
              <a:rPr sz="1100" b="0" i="1" dirty="0">
                <a:solidFill>
                  <a:srgbClr val="5F6668"/>
                </a:solidFill>
                <a:latin typeface="Pretendard"/>
              </a:rPr>
              <a:t>) + </a:t>
            </a:r>
            <a:r>
              <a:rPr sz="1100" b="0" i="1" dirty="0" err="1">
                <a:solidFill>
                  <a:srgbClr val="5F6668"/>
                </a:solidFill>
                <a:latin typeface="Pretendard"/>
              </a:rPr>
              <a:t>인과</a:t>
            </a:r>
            <a:r>
              <a:rPr sz="1100" b="0" i="1" dirty="0">
                <a:solidFill>
                  <a:srgbClr val="5F6668"/>
                </a:solidFill>
                <a:latin typeface="Pretendard"/>
              </a:rPr>
              <a:t> </a:t>
            </a:r>
            <a:r>
              <a:rPr sz="1100" b="0" i="1" dirty="0" err="1">
                <a:solidFill>
                  <a:srgbClr val="5F6668"/>
                </a:solidFill>
                <a:latin typeface="Pretendard"/>
              </a:rPr>
              <a:t>그래프</a:t>
            </a:r>
            <a:r>
              <a:rPr sz="1100" b="0" i="1" dirty="0">
                <a:solidFill>
                  <a:srgbClr val="5F6668"/>
                </a:solidFill>
                <a:latin typeface="Pretendard"/>
              </a:rPr>
              <a:t>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55030" y="6103343"/>
            <a:ext cx="3494433" cy="194925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/>
            <a:r>
              <a:rPr sz="1100" b="0" i="1" dirty="0" err="1">
                <a:solidFill>
                  <a:srgbClr val="5F6668"/>
                </a:solidFill>
                <a:latin typeface="Pretendard"/>
              </a:rPr>
              <a:t>대응</a:t>
            </a:r>
            <a:r>
              <a:rPr sz="1100" b="0" i="1" dirty="0">
                <a:solidFill>
                  <a:srgbClr val="5F6668"/>
                </a:solidFill>
                <a:latin typeface="Pretendard"/>
              </a:rPr>
              <a:t> </a:t>
            </a:r>
            <a:r>
              <a:rPr sz="1100" b="0" i="1" dirty="0" err="1">
                <a:solidFill>
                  <a:srgbClr val="5F6668"/>
                </a:solidFill>
                <a:latin typeface="Pretendard"/>
              </a:rPr>
              <a:t>권고</a:t>
            </a:r>
            <a:r>
              <a:rPr sz="1100" b="0" i="1" dirty="0">
                <a:solidFill>
                  <a:srgbClr val="5F6668"/>
                </a:solidFill>
                <a:latin typeface="Pretendard"/>
              </a:rPr>
              <a:t> </a:t>
            </a:r>
            <a:r>
              <a:rPr sz="1100" b="0" i="1" dirty="0" err="1">
                <a:solidFill>
                  <a:srgbClr val="5F6668"/>
                </a:solidFill>
                <a:latin typeface="Pretendard"/>
              </a:rPr>
              <a:t>처방</a:t>
            </a:r>
            <a:r>
              <a:rPr sz="1100" b="0" i="1" dirty="0">
                <a:solidFill>
                  <a:srgbClr val="5F6668"/>
                </a:solidFill>
                <a:latin typeface="Pretendard"/>
              </a:rPr>
              <a:t> </a:t>
            </a:r>
            <a:r>
              <a:rPr sz="1100" b="0" i="1" dirty="0" err="1">
                <a:solidFill>
                  <a:srgbClr val="5F6668"/>
                </a:solidFill>
                <a:latin typeface="Pretendard"/>
              </a:rPr>
              <a:t>카드</a:t>
            </a:r>
            <a:r>
              <a:rPr sz="1100" b="0" i="1" dirty="0">
                <a:solidFill>
                  <a:srgbClr val="5F6668"/>
                </a:solidFill>
                <a:latin typeface="Pretendard"/>
              </a:rPr>
              <a:t> + </a:t>
            </a:r>
            <a:r>
              <a:rPr sz="1100" b="0" i="1" dirty="0" err="1">
                <a:solidFill>
                  <a:srgbClr val="5F6668"/>
                </a:solidFill>
                <a:latin typeface="Pretendard"/>
              </a:rPr>
              <a:t>심각도</a:t>
            </a:r>
            <a:r>
              <a:rPr sz="1100" b="0" i="1" dirty="0">
                <a:solidFill>
                  <a:srgbClr val="5F6668"/>
                </a:solidFill>
                <a:latin typeface="Pretendard"/>
              </a:rPr>
              <a:t> 3</a:t>
            </a:r>
            <a:r>
              <a:rPr lang="ko-KR" altLang="en-US" sz="1100" i="1" dirty="0">
                <a:solidFill>
                  <a:srgbClr val="5F6668"/>
                </a:solidFill>
                <a:latin typeface="Pretendard"/>
              </a:rPr>
              <a:t>단계 중 경고 배너</a:t>
            </a:r>
            <a:endParaRPr sz="1100" b="0" i="1" dirty="0">
              <a:solidFill>
                <a:srgbClr val="5F6668"/>
              </a:solidFill>
              <a:latin typeface="Pretendard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6A5E3AF-E844-0CBB-6DD0-8B596A2108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6059" y="1736147"/>
            <a:ext cx="6264328" cy="2472494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C96EBB21-1919-BC62-B210-51CDDEAD540A}"/>
              </a:ext>
            </a:extLst>
          </p:cNvPr>
          <p:cNvSpPr txBox="1"/>
          <p:nvPr/>
        </p:nvSpPr>
        <p:spPr>
          <a:xfrm>
            <a:off x="8052470" y="4267416"/>
            <a:ext cx="5486400" cy="194925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/>
            <a:r>
              <a:rPr lang="en-US" sz="1100" b="0" i="1" dirty="0">
                <a:solidFill>
                  <a:srgbClr val="5F6668"/>
                </a:solidFill>
                <a:latin typeface="Pretendard"/>
              </a:rPr>
              <a:t>SHAP </a:t>
            </a:r>
            <a:r>
              <a:rPr lang="ko-KR" altLang="en-US" sz="1100" b="0" i="1" dirty="0">
                <a:solidFill>
                  <a:srgbClr val="5F6668"/>
                </a:solidFill>
                <a:latin typeface="Pretendard"/>
              </a:rPr>
              <a:t>분석 </a:t>
            </a:r>
            <a:r>
              <a:rPr lang="en-US" altLang="ko-KR" sz="1100" b="0" i="1" dirty="0">
                <a:solidFill>
                  <a:srgbClr val="5F6668"/>
                </a:solidFill>
                <a:latin typeface="Pretendard"/>
              </a:rPr>
              <a:t>– 24</a:t>
            </a:r>
            <a:r>
              <a:rPr lang="ko-KR" altLang="en-US" sz="1100" i="1" dirty="0">
                <a:solidFill>
                  <a:srgbClr val="5F6668"/>
                </a:solidFill>
                <a:latin typeface="Pretendard"/>
              </a:rPr>
              <a:t>개 센서 분석</a:t>
            </a:r>
            <a:endParaRPr sz="1100" b="0" i="1" dirty="0">
              <a:solidFill>
                <a:srgbClr val="5F6668"/>
              </a:solidFill>
              <a:latin typeface="Pretendard"/>
            </a:endParaRPr>
          </a:p>
        </p:txBody>
      </p:sp>
      <p:pic>
        <p:nvPicPr>
          <p:cNvPr id="49" name="그림 48">
            <a:extLst>
              <a:ext uri="{FF2B5EF4-FFF2-40B4-BE49-F238E27FC236}">
                <a16:creationId xmlns:a16="http://schemas.microsoft.com/office/drawing/2014/main" id="{D7035186-9368-EA39-C0ED-9584A29920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1606" y="4469050"/>
            <a:ext cx="3238781" cy="1851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705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822BAF9-7DA8-2CEB-0389-8E3F6CFC4B2D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2" name="Google Shape;99;p2">
            <a:extLst>
              <a:ext uri="{FF2B5EF4-FFF2-40B4-BE49-F238E27FC236}">
                <a16:creationId xmlns:a16="http://schemas.microsoft.com/office/drawing/2014/main" id="{AF58BFF4-5D90-B7BB-A5FB-15DD1784476A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B3D6440B-E8F0-1E73-E5FF-72737DFD9199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– 3.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주요 기능 정의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(Key Features)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" name="Google Shape;105;p2">
            <a:extLst>
              <a:ext uri="{FF2B5EF4-FFF2-40B4-BE49-F238E27FC236}">
                <a16:creationId xmlns:a16="http://schemas.microsoft.com/office/drawing/2014/main" id="{CBEF9D9D-82FE-E102-BEBE-5DB9646F8C7D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5670" y="6415547"/>
            <a:ext cx="1007955" cy="353407"/>
          </a:xfrm>
          <a:prstGeom prst="rect">
            <a:avLst/>
          </a:prstGeom>
        </p:spPr>
      </p:pic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AD1E7A96-4C68-6800-DC19-6EFB0D02D277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A7EE83-FB83-19B0-F1B4-CECFF9D828FF}"/>
              </a:ext>
            </a:extLst>
          </p:cNvPr>
          <p:cNvSpPr txBox="1"/>
          <p:nvPr/>
        </p:nvSpPr>
        <p:spPr>
          <a:xfrm>
            <a:off x="939333" y="1189703"/>
            <a:ext cx="3433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3. </a:t>
            </a:r>
            <a:r>
              <a:rPr lang="ko-KR" altLang="en-US" dirty="0">
                <a:latin typeface="+mj-ea"/>
                <a:ea typeface="+mj-ea"/>
              </a:rPr>
              <a:t>주요 기능 정의 </a:t>
            </a:r>
            <a:r>
              <a:rPr lang="en-US" altLang="ko-KR" dirty="0">
                <a:latin typeface="+mj-ea"/>
                <a:ea typeface="+mj-ea"/>
              </a:rPr>
              <a:t>(Key Features)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DB46F3FE-8810-F742-96B1-76FE8CAEE9B6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8782" y="6434300"/>
            <a:ext cx="1555879" cy="335564"/>
          </a:xfrm>
          <a:prstGeom prst="rect">
            <a:avLst/>
          </a:prstGeom>
        </p:spPr>
      </p:pic>
      <p:sp>
        <p:nvSpPr>
          <p:cNvPr id="9" name="Google Shape;100;p2">
            <a:extLst>
              <a:ext uri="{FF2B5EF4-FFF2-40B4-BE49-F238E27FC236}">
                <a16:creationId xmlns:a16="http://schemas.microsoft.com/office/drawing/2014/main" id="{F184EC9F-8B26-D1F2-0ED1-8EC31B8C41EE}"/>
              </a:ext>
            </a:extLst>
          </p:cNvPr>
          <p:cNvSpPr txBox="1"/>
          <p:nvPr/>
        </p:nvSpPr>
        <p:spPr>
          <a:xfrm>
            <a:off x="8775865" y="229867"/>
            <a:ext cx="3044336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스마트 공장 운영 시스템 </a:t>
            </a: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MVP 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 </a:t>
            </a:r>
            <a:r>
              <a:rPr lang="ko-KR" altLang="en-US" sz="1000" b="1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해커톤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66928" y="1764792"/>
            <a:ext cx="101600" cy="164592"/>
          </a:xfrm>
          <a:prstGeom prst="rect">
            <a:avLst/>
          </a:prstGeom>
          <a:solidFill>
            <a:srgbClr val="3C7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1691640"/>
            <a:ext cx="5303520" cy="21031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200" b="1" i="0" dirty="0" err="1">
                <a:solidFill>
                  <a:schemeClr val="tx1"/>
                </a:solidFill>
                <a:latin typeface="Pretendard"/>
              </a:rPr>
              <a:t>차별화</a:t>
            </a:r>
            <a:r>
              <a:rPr sz="1200" b="1" i="0" dirty="0">
                <a:solidFill>
                  <a:schemeClr val="tx1"/>
                </a:solidFill>
                <a:latin typeface="Pretendard"/>
              </a:rPr>
              <a:t> 5기능 (F6~F10) — </a:t>
            </a:r>
            <a:r>
              <a:rPr sz="1200" b="1" i="0" dirty="0" err="1">
                <a:solidFill>
                  <a:schemeClr val="tx1"/>
                </a:solidFill>
                <a:latin typeface="Pretendard"/>
              </a:rPr>
              <a:t>다중</a:t>
            </a:r>
            <a:r>
              <a:rPr sz="1200" b="1" i="0" dirty="0">
                <a:solidFill>
                  <a:schemeClr val="tx1"/>
                </a:solidFill>
                <a:latin typeface="Pretendard"/>
              </a:rPr>
              <a:t> AI · LIVE · What-if · NL · Active Learning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093976"/>
            <a:ext cx="640080" cy="777240"/>
          </a:xfrm>
          <a:prstGeom prst="rect">
            <a:avLst/>
          </a:prstGeom>
          <a:solidFill>
            <a:srgbClr val="3C7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66928" y="2093976"/>
            <a:ext cx="640080" cy="7772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Pretendard"/>
              </a:rPr>
              <a:t>F6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80160" y="2093976"/>
            <a:ext cx="3311505" cy="777240"/>
          </a:xfrm>
          <a:prstGeom prst="rect">
            <a:avLst/>
          </a:prstGeom>
          <a:solidFill>
            <a:srgbClr val="F5F8FD"/>
          </a:solidFill>
          <a:ln w="508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426464" y="2185416"/>
            <a:ext cx="4590288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300" b="1" i="0">
                <a:solidFill>
                  <a:srgbClr val="202124"/>
                </a:solidFill>
                <a:latin typeface="Pretendard"/>
              </a:rPr>
              <a:t>다중 AI 합의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26464" y="2478024"/>
            <a:ext cx="4590288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950" b="0" i="0">
                <a:solidFill>
                  <a:srgbClr val="5F6668"/>
                </a:solidFill>
                <a:latin typeface="Pretendard"/>
              </a:rPr>
              <a:t>Autoencoder + IF + OCSVM + LOF · Recall 0.667→0.795 [실측]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2935224"/>
            <a:ext cx="640080" cy="777240"/>
          </a:xfrm>
          <a:prstGeom prst="rect">
            <a:avLst/>
          </a:prstGeom>
          <a:solidFill>
            <a:srgbClr val="3C7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8" y="2935224"/>
            <a:ext cx="640080" cy="7772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Pretendard"/>
              </a:rPr>
              <a:t>F7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80160" y="2935224"/>
            <a:ext cx="3311505" cy="777240"/>
          </a:xfrm>
          <a:prstGeom prst="rect">
            <a:avLst/>
          </a:prstGeom>
          <a:solidFill>
            <a:srgbClr val="F5F8FD"/>
          </a:solidFill>
          <a:ln w="508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426464" y="3026664"/>
            <a:ext cx="4590288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300" b="1" i="0">
                <a:solidFill>
                  <a:srgbClr val="202124"/>
                </a:solidFill>
                <a:latin typeface="Pretendard"/>
              </a:rPr>
              <a:t>LIVE 디지털 트윈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26464" y="3319272"/>
            <a:ext cx="4590288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950" b="0" i="0">
                <a:solidFill>
                  <a:srgbClr val="5F6668"/>
                </a:solidFill>
                <a:latin typeface="Pretendard"/>
              </a:rPr>
              <a:t>검증셋 1,379건 자동 스트리밍 · OPC-UA 동치 시연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3776472"/>
            <a:ext cx="640080" cy="777240"/>
          </a:xfrm>
          <a:prstGeom prst="rect">
            <a:avLst/>
          </a:prstGeom>
          <a:solidFill>
            <a:srgbClr val="3C7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6928" y="3776472"/>
            <a:ext cx="640080" cy="7772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Pretendard"/>
              </a:rPr>
              <a:t>F8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80160" y="3776472"/>
            <a:ext cx="3311505" cy="777240"/>
          </a:xfrm>
          <a:prstGeom prst="rect">
            <a:avLst/>
          </a:prstGeom>
          <a:solidFill>
            <a:srgbClr val="F5F8FD"/>
          </a:solidFill>
          <a:ln w="508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426464" y="3867912"/>
            <a:ext cx="4590288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300" b="1" i="0">
                <a:solidFill>
                  <a:srgbClr val="202124"/>
                </a:solidFill>
                <a:latin typeface="Pretendard"/>
              </a:rPr>
              <a:t>What-if 시뮬레이터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26464" y="4160520"/>
            <a:ext cx="4590288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950" b="0" i="0">
                <a:solidFill>
                  <a:srgbClr val="5F6668"/>
                </a:solidFill>
                <a:latin typeface="Pretendard"/>
              </a:rPr>
              <a:t>Counterfactual · "얼마나 고쳐야 정상이 되나" 자동 계산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4617720"/>
            <a:ext cx="640080" cy="777240"/>
          </a:xfrm>
          <a:prstGeom prst="rect">
            <a:avLst/>
          </a:prstGeom>
          <a:solidFill>
            <a:srgbClr val="3C7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66928" y="4617720"/>
            <a:ext cx="640080" cy="7772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Pretendard"/>
              </a:rPr>
              <a:t>F9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80160" y="4617720"/>
            <a:ext cx="3311505" cy="777240"/>
          </a:xfrm>
          <a:prstGeom prst="rect">
            <a:avLst/>
          </a:prstGeom>
          <a:solidFill>
            <a:srgbClr val="F5F8FD"/>
          </a:solidFill>
          <a:ln w="508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426464" y="4709160"/>
            <a:ext cx="4590288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300" b="1" i="0">
                <a:solidFill>
                  <a:srgbClr val="202124"/>
                </a:solidFill>
                <a:latin typeface="Pretendard"/>
              </a:rPr>
              <a:t>AI 자연어 진단 보고서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26464" y="5001768"/>
            <a:ext cx="4590288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950" b="0" i="0">
                <a:solidFill>
                  <a:srgbClr val="5F6668"/>
                </a:solidFill>
                <a:latin typeface="Pretendard"/>
              </a:rPr>
              <a:t>부서장·반장 보고용 Markdown 자동 생성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5458968"/>
            <a:ext cx="640080" cy="777240"/>
          </a:xfrm>
          <a:prstGeom prst="rect">
            <a:avLst/>
          </a:prstGeom>
          <a:solidFill>
            <a:srgbClr val="3C7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66928" y="5458968"/>
            <a:ext cx="640080" cy="7772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Pretendard"/>
              </a:rPr>
              <a:t>F10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80160" y="5458968"/>
            <a:ext cx="3311505" cy="777240"/>
          </a:xfrm>
          <a:prstGeom prst="rect">
            <a:avLst/>
          </a:prstGeom>
          <a:solidFill>
            <a:srgbClr val="F5F8FD"/>
          </a:solidFill>
          <a:ln w="508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426464" y="5550408"/>
            <a:ext cx="4590288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300" b="1" i="0">
                <a:solidFill>
                  <a:srgbClr val="202124"/>
                </a:solidFill>
                <a:latin typeface="Pretendard"/>
              </a:rPr>
              <a:t>Active Learning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26464" y="5843016"/>
            <a:ext cx="4590288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950" b="0" i="0">
                <a:solidFill>
                  <a:srgbClr val="5F6668"/>
                </a:solidFill>
                <a:latin typeface="Pretendard"/>
              </a:rPr>
              <a:t>라벨 30건 누적 시 모델 재학습 트리거 (Feedback Loop)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67784" y="5988418"/>
            <a:ext cx="4417873" cy="194925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r>
              <a:rPr lang="ko-KR" altLang="en-US" sz="1100" dirty="0" err="1">
                <a:solidFill>
                  <a:schemeClr val="tx2">
                    <a:lumMod val="50000"/>
                  </a:schemeClr>
                </a:solidFill>
                <a:latin typeface="Pretendard"/>
              </a:rPr>
              <a:t>Active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Pretendard"/>
              </a:rPr>
              <a:t> </a:t>
            </a:r>
            <a:r>
              <a:rPr lang="ko-KR" altLang="en-US" sz="1100" dirty="0" err="1">
                <a:solidFill>
                  <a:schemeClr val="tx2">
                    <a:lumMod val="50000"/>
                  </a:schemeClr>
                </a:solidFill>
                <a:latin typeface="Pretendard"/>
              </a:rPr>
              <a:t>Learning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Pretendard"/>
              </a:rPr>
              <a:t> </a:t>
            </a:r>
            <a:r>
              <a:rPr lang="ko-KR" altLang="en-US" sz="1100" dirty="0" err="1">
                <a:solidFill>
                  <a:schemeClr val="tx2">
                    <a:lumMod val="50000"/>
                  </a:schemeClr>
                </a:solidFill>
                <a:latin typeface="Pretendard"/>
              </a:rPr>
              <a:t>라벨링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Pretendard"/>
              </a:rPr>
              <a:t> + 알람 에스컬레이션 + CSV/MD 다운로드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F1A67A7-17C8-DCD9-01AC-95C286A662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9766" y="1686179"/>
            <a:ext cx="6020621" cy="42229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486CC-5FEA-6E0F-6607-8B8860B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C0319987-BCA9-9ED0-C4BE-D430B5A78B71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2" name="Google Shape;99;p2">
            <a:extLst>
              <a:ext uri="{FF2B5EF4-FFF2-40B4-BE49-F238E27FC236}">
                <a16:creationId xmlns:a16="http://schemas.microsoft.com/office/drawing/2014/main" id="{0A304978-B91A-D0F9-08E5-E6BCC204DD04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EED7841F-3F32-3698-0915-523541292295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4.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및 기술 활용 계획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(Data &amp; Tech Plan)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" name="Google Shape;105;p2">
            <a:extLst>
              <a:ext uri="{FF2B5EF4-FFF2-40B4-BE49-F238E27FC236}">
                <a16:creationId xmlns:a16="http://schemas.microsoft.com/office/drawing/2014/main" id="{21B79617-C1F0-52D3-B070-B0E157FFF20E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8" name="Google Shape;92;p1">
            <a:extLst>
              <a:ext uri="{FF2B5EF4-FFF2-40B4-BE49-F238E27FC236}">
                <a16:creationId xmlns:a16="http://schemas.microsoft.com/office/drawing/2014/main" id="{E96B855B-7B6A-B904-E1A4-9B512CAD7D88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15547"/>
            <a:ext cx="1007955" cy="35340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E28D85C7-9402-2E2D-12C4-AE1F84F09912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5A748C-1CE4-5657-178F-716B4A80432A}"/>
              </a:ext>
            </a:extLst>
          </p:cNvPr>
          <p:cNvSpPr txBox="1"/>
          <p:nvPr/>
        </p:nvSpPr>
        <p:spPr>
          <a:xfrm>
            <a:off x="939332" y="1189703"/>
            <a:ext cx="40699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4. </a:t>
            </a:r>
            <a:r>
              <a:rPr lang="ko-KR" altLang="en-US" dirty="0">
                <a:latin typeface="+mj-ea"/>
                <a:ea typeface="+mj-ea"/>
              </a:rPr>
              <a:t>데이터 및 기술 활용 계획 </a:t>
            </a:r>
            <a:r>
              <a:rPr lang="en-US" altLang="ko-KR" dirty="0">
                <a:latin typeface="+mj-ea"/>
                <a:ea typeface="+mj-ea"/>
              </a:rPr>
              <a:t>(Data &amp; Tech Plan)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74598198-5F31-F6FA-47DC-AA9059C06E01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차세대융합기술연구원, 반도체 부품 국산화 위한 기술 실증 지원사업 참여 기업 모집 &gt; 뉴스 | CIOCISO">
            <a:extLst>
              <a:ext uri="{FF2B5EF4-FFF2-40B4-BE49-F238E27FC236}">
                <a16:creationId xmlns:a16="http://schemas.microsoft.com/office/drawing/2014/main" id="{C3D6C61D-BBDC-1167-190C-BD4CD9BF21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34" b="35256"/>
          <a:stretch>
            <a:fillRect/>
          </a:stretch>
        </p:blipFill>
        <p:spPr bwMode="auto">
          <a:xfrm>
            <a:off x="9298782" y="6434300"/>
            <a:ext cx="1555879" cy="33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Google Shape;100;p2">
            <a:extLst>
              <a:ext uri="{FF2B5EF4-FFF2-40B4-BE49-F238E27FC236}">
                <a16:creationId xmlns:a16="http://schemas.microsoft.com/office/drawing/2014/main" id="{A5283CA2-90DA-09BA-1082-399479A662C8}"/>
              </a:ext>
            </a:extLst>
          </p:cNvPr>
          <p:cNvSpPr txBox="1"/>
          <p:nvPr/>
        </p:nvSpPr>
        <p:spPr>
          <a:xfrm>
            <a:off x="8775865" y="229867"/>
            <a:ext cx="3044336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스마트 공장 운영 시스템 </a:t>
            </a: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MVP 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 </a:t>
            </a:r>
            <a:r>
              <a:rPr lang="ko-KR" altLang="en-US" sz="1000" b="1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해커톤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66928" y="1764792"/>
            <a:ext cx="101600" cy="164592"/>
          </a:xfrm>
          <a:prstGeom prst="rect">
            <a:avLst/>
          </a:prstGeom>
          <a:solidFill>
            <a:srgbClr val="3C7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1691640"/>
            <a:ext cx="5303520" cy="21031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200" b="1" i="0" dirty="0">
                <a:solidFill>
                  <a:schemeClr val="tx1"/>
                </a:solidFill>
                <a:latin typeface="Pretendard"/>
              </a:rPr>
              <a:t>1. </a:t>
            </a:r>
            <a:r>
              <a:rPr sz="1200" b="1" i="0" dirty="0" err="1">
                <a:solidFill>
                  <a:schemeClr val="tx1"/>
                </a:solidFill>
                <a:latin typeface="Pretendard"/>
              </a:rPr>
              <a:t>활용</a:t>
            </a:r>
            <a:r>
              <a:rPr sz="1200" b="1" i="0" dirty="0">
                <a:solidFill>
                  <a:schemeClr val="tx1"/>
                </a:solidFill>
                <a:latin typeface="Pretendard"/>
              </a:rPr>
              <a:t> </a:t>
            </a:r>
            <a:r>
              <a:rPr sz="1200" b="1" i="0" dirty="0" err="1">
                <a:solidFill>
                  <a:schemeClr val="tx1"/>
                </a:solidFill>
                <a:latin typeface="Pretendard"/>
              </a:rPr>
              <a:t>데이터</a:t>
            </a:r>
            <a:r>
              <a:rPr sz="1200" b="1" i="0" dirty="0">
                <a:solidFill>
                  <a:schemeClr val="tx1"/>
                </a:solidFill>
                <a:latin typeface="Pretendard"/>
              </a:rPr>
              <a:t> · KAMP </a:t>
            </a:r>
            <a:r>
              <a:rPr sz="1200" b="1" i="0" dirty="0" err="1">
                <a:solidFill>
                  <a:schemeClr val="tx1"/>
                </a:solidFill>
                <a:latin typeface="Pretendard"/>
              </a:rPr>
              <a:t>공공데이터포털</a:t>
            </a:r>
            <a:endParaRPr sz="1200" b="1" i="0" dirty="0">
              <a:solidFill>
                <a:schemeClr val="tx1"/>
              </a:solidFill>
              <a:latin typeface="Pretendard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58368" y="2002536"/>
            <a:ext cx="5029200" cy="20116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950" b="0" i="1">
                <a:solidFill>
                  <a:srgbClr val="5F6668"/>
                </a:solidFill>
                <a:latin typeface="Pretendard"/>
              </a:rPr>
              <a:t>출처: data.go.kr/data/15089213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276856"/>
            <a:ext cx="1975104" cy="292608"/>
          </a:xfrm>
          <a:prstGeom prst="rect">
            <a:avLst/>
          </a:prstGeom>
          <a:solidFill>
            <a:srgbClr val="F5F8FD"/>
          </a:solidFill>
          <a:ln w="508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2648" y="2313432"/>
            <a:ext cx="1901952" cy="2194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900" b="1" i="0">
                <a:solidFill>
                  <a:srgbClr val="3C7CDE"/>
                </a:solidFill>
                <a:latin typeface="Pretendard"/>
              </a:rPr>
              <a:t>데이터셋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42032" y="2276856"/>
            <a:ext cx="1865376" cy="292608"/>
          </a:xfrm>
          <a:prstGeom prst="rect">
            <a:avLst/>
          </a:prstGeom>
          <a:solidFill>
            <a:srgbClr val="F5F8FD"/>
          </a:solidFill>
          <a:ln w="508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587752" y="2313432"/>
            <a:ext cx="1792224" cy="2194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900" b="1" i="0">
                <a:solidFill>
                  <a:srgbClr val="3C7CDE"/>
                </a:solidFill>
                <a:latin typeface="Pretendard"/>
              </a:rPr>
              <a:t>행 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07408" y="2276856"/>
            <a:ext cx="1645920" cy="292608"/>
          </a:xfrm>
          <a:prstGeom prst="rect">
            <a:avLst/>
          </a:prstGeom>
          <a:solidFill>
            <a:srgbClr val="F5F8FD"/>
          </a:solidFill>
          <a:ln w="508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53128" y="2313432"/>
            <a:ext cx="1572768" cy="2194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900" b="1" i="0">
                <a:solidFill>
                  <a:srgbClr val="3C7CDE"/>
                </a:solidFill>
                <a:latin typeface="Pretendard"/>
              </a:rPr>
              <a:t>용도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2569464"/>
            <a:ext cx="1975104" cy="292608"/>
          </a:xfrm>
          <a:prstGeom prst="rect">
            <a:avLst/>
          </a:prstGeom>
          <a:noFill/>
          <a:ln w="508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2648" y="2606040"/>
            <a:ext cx="1901952" cy="2194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900" b="0" i="0">
                <a:solidFill>
                  <a:srgbClr val="202124"/>
                </a:solidFill>
                <a:latin typeface="Pretendard"/>
              </a:rPr>
              <a:t>supervised_label_cn7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42032" y="2569464"/>
            <a:ext cx="1865376" cy="292608"/>
          </a:xfrm>
          <a:prstGeom prst="rect">
            <a:avLst/>
          </a:prstGeom>
          <a:noFill/>
          <a:ln w="508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587752" y="2606040"/>
            <a:ext cx="1792224" cy="2194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900" b="0" i="0">
                <a:solidFill>
                  <a:srgbClr val="202124"/>
                </a:solidFill>
                <a:latin typeface="Pretendard"/>
              </a:rPr>
              <a:t>6,736 (정상 6,697 + 불량 39)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07408" y="2569464"/>
            <a:ext cx="1645920" cy="292608"/>
          </a:xfrm>
          <a:prstGeom prst="rect">
            <a:avLst/>
          </a:prstGeom>
          <a:noFill/>
          <a:ln w="508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453128" y="2606040"/>
            <a:ext cx="1572768" cy="2194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900" b="0" i="0">
                <a:solidFill>
                  <a:srgbClr val="202124"/>
                </a:solidFill>
                <a:latin typeface="Pretendard"/>
              </a:rPr>
              <a:t>학습 + 검증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2862072"/>
            <a:ext cx="1975104" cy="292608"/>
          </a:xfrm>
          <a:prstGeom prst="rect">
            <a:avLst/>
          </a:prstGeom>
          <a:noFill/>
          <a:ln w="508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2648" y="2898648"/>
            <a:ext cx="1901952" cy="2194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900" b="0" i="0">
                <a:solidFill>
                  <a:srgbClr val="202124"/>
                </a:solidFill>
                <a:latin typeface="Pretendard"/>
              </a:rPr>
              <a:t>moldset_labeled_cn7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42032" y="2862072"/>
            <a:ext cx="1865376" cy="292608"/>
          </a:xfrm>
          <a:prstGeom prst="rect">
            <a:avLst/>
          </a:prstGeom>
          <a:noFill/>
          <a:ln w="508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587752" y="2898648"/>
            <a:ext cx="1792224" cy="2194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900" b="0" i="0">
                <a:solidFill>
                  <a:srgbClr val="202124"/>
                </a:solidFill>
                <a:latin typeface="Pretendard"/>
              </a:rPr>
              <a:t>1,211 (불량 17)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07408" y="2862072"/>
            <a:ext cx="1645920" cy="292608"/>
          </a:xfrm>
          <a:prstGeom prst="rect">
            <a:avLst/>
          </a:prstGeom>
          <a:noFill/>
          <a:ln w="508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453128" y="2898648"/>
            <a:ext cx="1572768" cy="2194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900" b="0" i="0">
                <a:solidFill>
                  <a:srgbClr val="202124"/>
                </a:solidFill>
                <a:latin typeface="Pretendard"/>
              </a:rPr>
              <a:t>외부 검증 (CN7)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3154680"/>
            <a:ext cx="1975104" cy="292608"/>
          </a:xfrm>
          <a:prstGeom prst="rect">
            <a:avLst/>
          </a:prstGeom>
          <a:noFill/>
          <a:ln w="508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12648" y="3191256"/>
            <a:ext cx="1901952" cy="2194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900" b="0" i="0">
                <a:solidFill>
                  <a:srgbClr val="202124"/>
                </a:solidFill>
                <a:latin typeface="Pretendard"/>
              </a:rPr>
              <a:t>moldset_labeled_rg3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42032" y="3154680"/>
            <a:ext cx="1865376" cy="292608"/>
          </a:xfrm>
          <a:prstGeom prst="rect">
            <a:avLst/>
          </a:prstGeom>
          <a:noFill/>
          <a:ln w="508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587752" y="3191256"/>
            <a:ext cx="1792224" cy="2194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900" b="0" i="0">
                <a:solidFill>
                  <a:srgbClr val="202124"/>
                </a:solidFill>
                <a:latin typeface="Pretendard"/>
              </a:rPr>
              <a:t>1,182 (불량 25)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407408" y="3154680"/>
            <a:ext cx="1645920" cy="292608"/>
          </a:xfrm>
          <a:prstGeom prst="rect">
            <a:avLst/>
          </a:prstGeom>
          <a:noFill/>
          <a:ln w="508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453128" y="3191256"/>
            <a:ext cx="1572768" cy="2194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900" b="0" i="0">
                <a:solidFill>
                  <a:srgbClr val="202124"/>
                </a:solidFill>
                <a:latin typeface="Pretendard"/>
              </a:rPr>
              <a:t>외부 검증 (RG3)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3447288"/>
            <a:ext cx="1975104" cy="292608"/>
          </a:xfrm>
          <a:prstGeom prst="rect">
            <a:avLst/>
          </a:prstGeom>
          <a:noFill/>
          <a:ln w="508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12648" y="3483864"/>
            <a:ext cx="1901952" cy="2194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900" b="0" i="0">
                <a:solidFill>
                  <a:srgbClr val="202124"/>
                </a:solidFill>
                <a:latin typeface="Pretendard"/>
              </a:rPr>
              <a:t>labeled_data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542032" y="3447288"/>
            <a:ext cx="1865376" cy="292608"/>
          </a:xfrm>
          <a:prstGeom prst="rect">
            <a:avLst/>
          </a:prstGeom>
          <a:noFill/>
          <a:ln w="508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587752" y="3483864"/>
            <a:ext cx="1792224" cy="2194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900" b="0" i="0">
                <a:solidFill>
                  <a:srgbClr val="202124"/>
                </a:solidFill>
                <a:latin typeface="Pretendard"/>
              </a:rPr>
              <a:t>7,996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407408" y="3447288"/>
            <a:ext cx="1645920" cy="292608"/>
          </a:xfrm>
          <a:prstGeom prst="rect">
            <a:avLst/>
          </a:prstGeom>
          <a:noFill/>
          <a:ln w="508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453128" y="3483864"/>
            <a:ext cx="1572768" cy="2194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900" b="0" i="0">
                <a:solidFill>
                  <a:srgbClr val="202124"/>
                </a:solidFill>
                <a:latin typeface="Pretendard"/>
              </a:rPr>
              <a:t>Scaler raw 학습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" y="3977640"/>
            <a:ext cx="5486400" cy="1321325"/>
          </a:xfrm>
          <a:prstGeom prst="rect">
            <a:avLst/>
          </a:prstGeom>
          <a:solidFill>
            <a:srgbClr val="F5F8FD"/>
          </a:solidFill>
          <a:ln w="15240">
            <a:solidFill>
              <a:srgbClr val="D4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26948" y="4093184"/>
            <a:ext cx="5166360" cy="1090235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8000"/>
              </a:lnSpc>
            </a:pPr>
            <a:r>
              <a:rPr sz="900" b="1" i="0" dirty="0" err="1">
                <a:solidFill>
                  <a:srgbClr val="202124"/>
                </a:solidFill>
                <a:latin typeface="Pretendard"/>
              </a:rPr>
              <a:t>문제</a:t>
            </a:r>
            <a:r>
              <a:rPr sz="900" b="1" i="0" dirty="0">
                <a:solidFill>
                  <a:srgbClr val="202124"/>
                </a:solidFill>
                <a:latin typeface="Pretendard"/>
              </a:rPr>
              <a:t> — </a:t>
            </a:r>
            <a:r>
              <a:rPr sz="900" b="1" i="0" dirty="0" err="1">
                <a:solidFill>
                  <a:srgbClr val="202124"/>
                </a:solidFill>
                <a:latin typeface="Pretendard"/>
              </a:rPr>
              <a:t>지도학습</a:t>
            </a:r>
            <a:r>
              <a:rPr sz="900" b="1" i="0" dirty="0">
                <a:solidFill>
                  <a:srgbClr val="202124"/>
                </a:solidFill>
                <a:latin typeface="Pretendard"/>
              </a:rPr>
              <a:t> trivial </a:t>
            </a:r>
            <a:r>
              <a:rPr sz="900" b="1" i="0" dirty="0" err="1">
                <a:solidFill>
                  <a:srgbClr val="202124"/>
                </a:solidFill>
                <a:latin typeface="Pretendard"/>
              </a:rPr>
              <a:t>함정</a:t>
            </a:r>
            <a:r>
              <a:rPr sz="900" b="1" i="0" dirty="0">
                <a:solidFill>
                  <a:srgbClr val="202124"/>
                </a:solidFill>
                <a:latin typeface="Pretendard"/>
              </a:rPr>
              <a:t>:</a:t>
            </a:r>
          </a:p>
          <a:p>
            <a:pPr>
              <a:lnSpc>
                <a:spcPct val="108000"/>
              </a:lnSpc>
            </a:pPr>
            <a:r>
              <a:rPr sz="850" b="0" i="0" dirty="0">
                <a:solidFill>
                  <a:srgbClr val="202124"/>
                </a:solidFill>
                <a:latin typeface="Pretendard"/>
              </a:rPr>
              <a:t>• </a:t>
            </a:r>
            <a:r>
              <a:rPr sz="850" b="0" i="0" dirty="0" err="1">
                <a:solidFill>
                  <a:srgbClr val="202124"/>
                </a:solidFill>
                <a:latin typeface="Pretendard"/>
              </a:rPr>
              <a:t>불량</a:t>
            </a:r>
            <a:r>
              <a:rPr sz="850" b="0" i="0" dirty="0">
                <a:solidFill>
                  <a:srgbClr val="202124"/>
                </a:solidFill>
                <a:latin typeface="Pretendard"/>
              </a:rPr>
              <a:t> 0.58% </a:t>
            </a:r>
            <a:r>
              <a:rPr sz="850" b="0" i="0" dirty="0" err="1">
                <a:solidFill>
                  <a:srgbClr val="202124"/>
                </a:solidFill>
                <a:latin typeface="Pretendard"/>
              </a:rPr>
              <a:t>환경에서</a:t>
            </a:r>
            <a:r>
              <a:rPr sz="850" b="0" i="0" dirty="0">
                <a:solidFill>
                  <a:srgbClr val="202124"/>
                </a:solidFill>
                <a:latin typeface="Pretendard"/>
              </a:rPr>
              <a:t> "</a:t>
            </a:r>
            <a:r>
              <a:rPr sz="850" b="0" i="0" dirty="0" err="1">
                <a:solidFill>
                  <a:srgbClr val="202124"/>
                </a:solidFill>
                <a:latin typeface="Pretendard"/>
              </a:rPr>
              <a:t>항상</a:t>
            </a:r>
            <a:r>
              <a:rPr sz="850" b="0" i="0" dirty="0">
                <a:solidFill>
                  <a:srgbClr val="202124"/>
                </a:solidFill>
                <a:latin typeface="Pretendard"/>
              </a:rPr>
              <a:t> </a:t>
            </a:r>
            <a:r>
              <a:rPr sz="850" b="0" i="0" dirty="0" err="1">
                <a:solidFill>
                  <a:srgbClr val="202124"/>
                </a:solidFill>
                <a:latin typeface="Pretendard"/>
              </a:rPr>
              <a:t>정상"만</a:t>
            </a:r>
            <a:r>
              <a:rPr sz="850" b="0" i="0" dirty="0">
                <a:solidFill>
                  <a:srgbClr val="202124"/>
                </a:solidFill>
                <a:latin typeface="Pretendard"/>
              </a:rPr>
              <a:t> </a:t>
            </a:r>
            <a:r>
              <a:rPr sz="850" b="0" i="0" dirty="0" err="1">
                <a:solidFill>
                  <a:srgbClr val="202124"/>
                </a:solidFill>
                <a:latin typeface="Pretendard"/>
              </a:rPr>
              <a:t>예측해도</a:t>
            </a:r>
            <a:r>
              <a:rPr sz="850" b="0" i="0" dirty="0">
                <a:solidFill>
                  <a:srgbClr val="202124"/>
                </a:solidFill>
                <a:latin typeface="Pretendard"/>
              </a:rPr>
              <a:t> </a:t>
            </a:r>
            <a:r>
              <a:rPr sz="850" b="0" i="0" dirty="0" err="1">
                <a:solidFill>
                  <a:srgbClr val="202124"/>
                </a:solidFill>
                <a:latin typeface="Pretendard"/>
              </a:rPr>
              <a:t>정확도</a:t>
            </a:r>
            <a:r>
              <a:rPr sz="850" b="0" i="0" dirty="0">
                <a:solidFill>
                  <a:srgbClr val="202124"/>
                </a:solidFill>
                <a:latin typeface="Pretendard"/>
              </a:rPr>
              <a:t> 99% [</a:t>
            </a:r>
            <a:r>
              <a:rPr sz="850" b="0" i="0" dirty="0" err="1">
                <a:solidFill>
                  <a:srgbClr val="202124"/>
                </a:solidFill>
                <a:latin typeface="Pretendard"/>
              </a:rPr>
              <a:t>실측</a:t>
            </a:r>
            <a:r>
              <a:rPr sz="850" b="0" i="0" dirty="0">
                <a:solidFill>
                  <a:srgbClr val="202124"/>
                </a:solidFill>
                <a:latin typeface="Pretendard"/>
              </a:rPr>
              <a:t>]</a:t>
            </a:r>
          </a:p>
          <a:p>
            <a:pPr>
              <a:lnSpc>
                <a:spcPct val="108000"/>
              </a:lnSpc>
            </a:pPr>
            <a:r>
              <a:rPr sz="850" b="0" i="0" dirty="0">
                <a:solidFill>
                  <a:srgbClr val="202124"/>
                </a:solidFill>
                <a:latin typeface="Pretendard"/>
              </a:rPr>
              <a:t>• </a:t>
            </a:r>
            <a:r>
              <a:rPr sz="850" b="0" i="0" dirty="0" err="1">
                <a:solidFill>
                  <a:srgbClr val="202124"/>
                </a:solidFill>
                <a:latin typeface="Pretendard"/>
              </a:rPr>
              <a:t>불량</a:t>
            </a:r>
            <a:r>
              <a:rPr sz="850" b="0" i="0" dirty="0">
                <a:solidFill>
                  <a:srgbClr val="202124"/>
                </a:solidFill>
                <a:latin typeface="Pretendard"/>
              </a:rPr>
              <a:t> 39건만으로 </a:t>
            </a:r>
            <a:r>
              <a:rPr sz="850" b="0" i="0" dirty="0" err="1">
                <a:solidFill>
                  <a:srgbClr val="202124"/>
                </a:solidFill>
                <a:latin typeface="Pretendard"/>
              </a:rPr>
              <a:t>결정</a:t>
            </a:r>
            <a:r>
              <a:rPr sz="850" b="0" i="0" dirty="0">
                <a:solidFill>
                  <a:srgbClr val="202124"/>
                </a:solidFill>
                <a:latin typeface="Pretendard"/>
              </a:rPr>
              <a:t> </a:t>
            </a:r>
            <a:r>
              <a:rPr sz="850" b="0" i="0" dirty="0" err="1">
                <a:solidFill>
                  <a:srgbClr val="202124"/>
                </a:solidFill>
                <a:latin typeface="Pretendard"/>
              </a:rPr>
              <a:t>경계</a:t>
            </a:r>
            <a:r>
              <a:rPr sz="850" b="0" i="0" dirty="0">
                <a:solidFill>
                  <a:srgbClr val="202124"/>
                </a:solidFill>
                <a:latin typeface="Pretendard"/>
              </a:rPr>
              <a:t> </a:t>
            </a:r>
            <a:r>
              <a:rPr sz="850" b="0" i="0" dirty="0" err="1">
                <a:solidFill>
                  <a:srgbClr val="202124"/>
                </a:solidFill>
                <a:latin typeface="Pretendard"/>
              </a:rPr>
              <a:t>학습</a:t>
            </a:r>
            <a:r>
              <a:rPr sz="850" b="0" i="0" dirty="0">
                <a:solidFill>
                  <a:srgbClr val="202124"/>
                </a:solidFill>
                <a:latin typeface="Pretendard"/>
              </a:rPr>
              <a:t> </a:t>
            </a:r>
            <a:r>
              <a:rPr sz="850" b="0" i="0" dirty="0" err="1">
                <a:solidFill>
                  <a:srgbClr val="202124"/>
                </a:solidFill>
                <a:latin typeface="Pretendard"/>
              </a:rPr>
              <a:t>불가능</a:t>
            </a:r>
            <a:r>
              <a:rPr sz="850" b="0" i="0" dirty="0">
                <a:solidFill>
                  <a:srgbClr val="202124"/>
                </a:solidFill>
                <a:latin typeface="Pretendard"/>
              </a:rPr>
              <a:t> → </a:t>
            </a:r>
            <a:r>
              <a:rPr sz="850" b="0" i="0" dirty="0" err="1">
                <a:solidFill>
                  <a:srgbClr val="202124"/>
                </a:solidFill>
                <a:latin typeface="Pretendard"/>
              </a:rPr>
              <a:t>패턴</a:t>
            </a:r>
            <a:r>
              <a:rPr sz="850" b="0" i="0" dirty="0">
                <a:solidFill>
                  <a:srgbClr val="202124"/>
                </a:solidFill>
                <a:latin typeface="Pretendard"/>
              </a:rPr>
              <a:t> </a:t>
            </a:r>
            <a:r>
              <a:rPr sz="850" b="0" i="0" dirty="0" err="1">
                <a:solidFill>
                  <a:srgbClr val="202124"/>
                </a:solidFill>
                <a:latin typeface="Pretendard"/>
              </a:rPr>
              <a:t>일반화</a:t>
            </a:r>
            <a:r>
              <a:rPr sz="850" b="0" i="0" dirty="0">
                <a:solidFill>
                  <a:srgbClr val="202124"/>
                </a:solidFill>
                <a:latin typeface="Pretendard"/>
              </a:rPr>
              <a:t> </a:t>
            </a:r>
            <a:r>
              <a:rPr sz="850" b="0" i="0" dirty="0" err="1">
                <a:solidFill>
                  <a:srgbClr val="202124"/>
                </a:solidFill>
                <a:latin typeface="Pretendard"/>
              </a:rPr>
              <a:t>실패</a:t>
            </a:r>
            <a:endParaRPr lang="en-US" sz="850" b="0" i="0" dirty="0">
              <a:solidFill>
                <a:srgbClr val="202124"/>
              </a:solidFill>
              <a:latin typeface="Pretendard"/>
            </a:endParaRPr>
          </a:p>
          <a:p>
            <a:pPr>
              <a:lnSpc>
                <a:spcPct val="108000"/>
              </a:lnSpc>
            </a:pPr>
            <a:endParaRPr sz="850" b="0" i="0" dirty="0">
              <a:solidFill>
                <a:srgbClr val="202124"/>
              </a:solidFill>
              <a:latin typeface="Pretendard"/>
            </a:endParaRPr>
          </a:p>
          <a:p>
            <a:pPr>
              <a:lnSpc>
                <a:spcPct val="108000"/>
              </a:lnSpc>
            </a:pPr>
            <a:r>
              <a:rPr sz="900" b="1" i="0" dirty="0" err="1">
                <a:solidFill>
                  <a:srgbClr val="3C7CDE"/>
                </a:solidFill>
                <a:latin typeface="Pretendard"/>
              </a:rPr>
              <a:t>해결</a:t>
            </a:r>
            <a:r>
              <a:rPr sz="900" b="1" i="0" dirty="0">
                <a:solidFill>
                  <a:srgbClr val="3C7CDE"/>
                </a:solidFill>
                <a:latin typeface="Pretendard"/>
              </a:rPr>
              <a:t> — </a:t>
            </a:r>
            <a:r>
              <a:rPr sz="900" b="1" i="0" dirty="0" err="1">
                <a:solidFill>
                  <a:srgbClr val="3C7CDE"/>
                </a:solidFill>
                <a:latin typeface="Pretendard"/>
              </a:rPr>
              <a:t>반지도학습</a:t>
            </a:r>
            <a:r>
              <a:rPr sz="900" b="1" i="0" dirty="0">
                <a:solidFill>
                  <a:srgbClr val="3C7CDE"/>
                </a:solidFill>
                <a:latin typeface="Pretendard"/>
              </a:rPr>
              <a:t> (Autoencoder):</a:t>
            </a:r>
          </a:p>
          <a:p>
            <a:pPr>
              <a:lnSpc>
                <a:spcPct val="108000"/>
              </a:lnSpc>
            </a:pPr>
            <a:r>
              <a:rPr sz="850" b="0" i="0" dirty="0">
                <a:solidFill>
                  <a:srgbClr val="202124"/>
                </a:solidFill>
                <a:latin typeface="Pretendard"/>
              </a:rPr>
              <a:t>• </a:t>
            </a:r>
            <a:r>
              <a:rPr sz="850" b="0" i="0" dirty="0" err="1">
                <a:solidFill>
                  <a:srgbClr val="202124"/>
                </a:solidFill>
                <a:latin typeface="Pretendard"/>
              </a:rPr>
              <a:t>정상</a:t>
            </a:r>
            <a:r>
              <a:rPr sz="850" b="0" i="0" dirty="0">
                <a:solidFill>
                  <a:srgbClr val="202124"/>
                </a:solidFill>
                <a:latin typeface="Pretendard"/>
              </a:rPr>
              <a:t> 5,357건만 </a:t>
            </a:r>
            <a:r>
              <a:rPr sz="850" b="0" i="0" dirty="0" err="1">
                <a:solidFill>
                  <a:srgbClr val="202124"/>
                </a:solidFill>
                <a:latin typeface="Pretendard"/>
              </a:rPr>
              <a:t>학습</a:t>
            </a:r>
            <a:r>
              <a:rPr sz="850" b="0" i="0" dirty="0">
                <a:solidFill>
                  <a:srgbClr val="202124"/>
                </a:solidFill>
                <a:latin typeface="Pretendard"/>
              </a:rPr>
              <a:t> → </a:t>
            </a:r>
            <a:r>
              <a:rPr sz="850" b="0" i="0" dirty="0" err="1">
                <a:solidFill>
                  <a:srgbClr val="202124"/>
                </a:solidFill>
                <a:latin typeface="Pretendard"/>
              </a:rPr>
              <a:t>분포</a:t>
            </a:r>
            <a:r>
              <a:rPr sz="850" b="0" i="0" dirty="0">
                <a:solidFill>
                  <a:srgbClr val="202124"/>
                </a:solidFill>
                <a:latin typeface="Pretendard"/>
              </a:rPr>
              <a:t> </a:t>
            </a:r>
            <a:r>
              <a:rPr sz="850" b="0" i="0" dirty="0" err="1">
                <a:solidFill>
                  <a:srgbClr val="202124"/>
                </a:solidFill>
                <a:latin typeface="Pretendard"/>
              </a:rPr>
              <a:t>압축·복원</a:t>
            </a:r>
            <a:r>
              <a:rPr sz="850" b="0" i="0" dirty="0">
                <a:solidFill>
                  <a:srgbClr val="202124"/>
                </a:solidFill>
                <a:latin typeface="Pretendard"/>
              </a:rPr>
              <a:t> (24→16→8→16→24)</a:t>
            </a:r>
          </a:p>
          <a:p>
            <a:pPr>
              <a:lnSpc>
                <a:spcPct val="108000"/>
              </a:lnSpc>
            </a:pPr>
            <a:r>
              <a:rPr sz="850" b="0" i="0" dirty="0">
                <a:solidFill>
                  <a:srgbClr val="202124"/>
                </a:solidFill>
                <a:latin typeface="Pretendard"/>
              </a:rPr>
              <a:t>• </a:t>
            </a:r>
            <a:r>
              <a:rPr sz="850" b="0" i="0" dirty="0" err="1">
                <a:solidFill>
                  <a:srgbClr val="202124"/>
                </a:solidFill>
                <a:latin typeface="Pretendard"/>
              </a:rPr>
              <a:t>학습</a:t>
            </a:r>
            <a:r>
              <a:rPr sz="850" b="0" i="0" dirty="0">
                <a:solidFill>
                  <a:srgbClr val="202124"/>
                </a:solidFill>
                <a:latin typeface="Pretendard"/>
              </a:rPr>
              <a:t> </a:t>
            </a:r>
            <a:r>
              <a:rPr sz="850" b="0" i="0" dirty="0" err="1">
                <a:solidFill>
                  <a:srgbClr val="202124"/>
                </a:solidFill>
                <a:latin typeface="Pretendard"/>
              </a:rPr>
              <a:t>못한</a:t>
            </a:r>
            <a:r>
              <a:rPr sz="850" b="0" i="0" dirty="0">
                <a:solidFill>
                  <a:srgbClr val="202124"/>
                </a:solidFill>
                <a:latin typeface="Pretendard"/>
              </a:rPr>
              <a:t> </a:t>
            </a:r>
            <a:r>
              <a:rPr sz="850" b="0" i="0" dirty="0" err="1">
                <a:solidFill>
                  <a:srgbClr val="202124"/>
                </a:solidFill>
                <a:latin typeface="Pretendard"/>
              </a:rPr>
              <a:t>입력</a:t>
            </a:r>
            <a:r>
              <a:rPr sz="850" b="0" i="0" dirty="0">
                <a:solidFill>
                  <a:srgbClr val="202124"/>
                </a:solidFill>
                <a:latin typeface="Pretendard"/>
              </a:rPr>
              <a:t> = </a:t>
            </a:r>
            <a:r>
              <a:rPr sz="850" b="0" i="0" dirty="0" err="1">
                <a:solidFill>
                  <a:srgbClr val="202124"/>
                </a:solidFill>
                <a:latin typeface="Pretendard"/>
              </a:rPr>
              <a:t>복원</a:t>
            </a:r>
            <a:r>
              <a:rPr sz="850" b="0" i="0" dirty="0">
                <a:solidFill>
                  <a:srgbClr val="202124"/>
                </a:solidFill>
                <a:latin typeface="Pretendard"/>
              </a:rPr>
              <a:t> </a:t>
            </a:r>
            <a:r>
              <a:rPr sz="850" b="0" i="0" dirty="0" err="1">
                <a:solidFill>
                  <a:srgbClr val="202124"/>
                </a:solidFill>
                <a:latin typeface="Pretendard"/>
              </a:rPr>
              <a:t>오차</a:t>
            </a:r>
            <a:r>
              <a:rPr sz="850" b="0" i="0" dirty="0">
                <a:solidFill>
                  <a:srgbClr val="202124"/>
                </a:solidFill>
                <a:latin typeface="Pretendard"/>
              </a:rPr>
              <a:t> 큼 → </a:t>
            </a:r>
            <a:r>
              <a:rPr sz="850" b="0" i="0" dirty="0" err="1">
                <a:solidFill>
                  <a:srgbClr val="202124"/>
                </a:solidFill>
                <a:latin typeface="Pretendard"/>
              </a:rPr>
              <a:t>임계값</a:t>
            </a:r>
            <a:r>
              <a:rPr sz="850" b="0" i="0" dirty="0">
                <a:solidFill>
                  <a:srgbClr val="202124"/>
                </a:solidFill>
                <a:latin typeface="Pretendard"/>
              </a:rPr>
              <a:t> 0.3198 </a:t>
            </a:r>
            <a:r>
              <a:rPr sz="850" b="0" i="0" dirty="0" err="1">
                <a:solidFill>
                  <a:srgbClr val="202124"/>
                </a:solidFill>
                <a:latin typeface="Pretendard"/>
              </a:rPr>
              <a:t>초과</a:t>
            </a:r>
            <a:r>
              <a:rPr sz="850" b="0" i="0" dirty="0">
                <a:solidFill>
                  <a:srgbClr val="202124"/>
                </a:solidFill>
                <a:latin typeface="Pretendard"/>
              </a:rPr>
              <a:t> 시 '</a:t>
            </a:r>
            <a:r>
              <a:rPr sz="850" b="0" i="0" dirty="0" err="1">
                <a:solidFill>
                  <a:srgbClr val="202124"/>
                </a:solidFill>
                <a:latin typeface="Pretendard"/>
              </a:rPr>
              <a:t>이상</a:t>
            </a:r>
            <a:r>
              <a:rPr sz="850" b="0" i="0" dirty="0">
                <a:solidFill>
                  <a:srgbClr val="202124"/>
                </a:solidFill>
                <a:latin typeface="Pretendard"/>
              </a:rPr>
              <a:t>' </a:t>
            </a:r>
            <a:r>
              <a:rPr sz="850" b="0" i="0" dirty="0" err="1">
                <a:solidFill>
                  <a:srgbClr val="202124"/>
                </a:solidFill>
                <a:latin typeface="Pretendard"/>
              </a:rPr>
              <a:t>판정</a:t>
            </a:r>
            <a:endParaRPr sz="850" b="0" i="0" dirty="0">
              <a:solidFill>
                <a:srgbClr val="202124"/>
              </a:solidFill>
              <a:latin typeface="Pretendard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6217920" y="1764792"/>
            <a:ext cx="101600" cy="164592"/>
          </a:xfrm>
          <a:prstGeom prst="rect">
            <a:avLst/>
          </a:prstGeom>
          <a:solidFill>
            <a:srgbClr val="3C7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382512" y="1691640"/>
            <a:ext cx="5303520" cy="21031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200" b="1" i="0">
                <a:solidFill>
                  <a:schemeClr val="tx1"/>
                </a:solidFill>
                <a:latin typeface="Pretendard"/>
              </a:rPr>
              <a:t>2. 검증셋 구성 (1,379건)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17920" y="2075688"/>
            <a:ext cx="2651760" cy="960120"/>
          </a:xfrm>
          <a:prstGeom prst="rect">
            <a:avLst/>
          </a:prstGeom>
          <a:solidFill>
            <a:srgbClr val="F5F8FD"/>
          </a:solidFill>
          <a:ln w="635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6217920" y="2075688"/>
            <a:ext cx="38100" cy="960120"/>
          </a:xfrm>
          <a:prstGeom prst="rect">
            <a:avLst/>
          </a:prstGeom>
          <a:solidFill>
            <a:srgbClr val="3C7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327648" y="2121408"/>
            <a:ext cx="2468880" cy="2011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950" b="1" i="0">
                <a:solidFill>
                  <a:srgbClr val="5F6668"/>
                </a:solidFill>
                <a:latin typeface="Pretendard"/>
              </a:rPr>
              <a:t>정상 샘플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27648" y="2322576"/>
            <a:ext cx="2468880" cy="46634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800" b="1" i="0">
                <a:solidFill>
                  <a:srgbClr val="3C7CDE"/>
                </a:solidFill>
                <a:latin typeface="Pretendard"/>
              </a:rPr>
              <a:t>1,340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27648" y="2788920"/>
            <a:ext cx="2468880" cy="2011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850" b="0" i="0">
                <a:solidFill>
                  <a:srgbClr val="202124"/>
                </a:solidFill>
                <a:latin typeface="Pretendard"/>
              </a:rPr>
              <a:t>97.2% · 검증셋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961120" y="2075688"/>
            <a:ext cx="2743200" cy="960120"/>
          </a:xfrm>
          <a:prstGeom prst="rect">
            <a:avLst/>
          </a:prstGeom>
          <a:solidFill>
            <a:srgbClr val="F5F8FD"/>
          </a:solidFill>
          <a:ln w="635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8961120" y="2075688"/>
            <a:ext cx="38100" cy="960120"/>
          </a:xfrm>
          <a:prstGeom prst="rect">
            <a:avLst/>
          </a:prstGeom>
          <a:solidFill>
            <a:srgbClr val="D4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070848" y="2121408"/>
            <a:ext cx="2560320" cy="2011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950" b="1" i="0">
                <a:solidFill>
                  <a:srgbClr val="5F6668"/>
                </a:solidFill>
                <a:latin typeface="Pretendard"/>
              </a:rPr>
              <a:t>불량 샘플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70848" y="2322576"/>
            <a:ext cx="2560320" cy="46634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800" b="1" i="0">
                <a:solidFill>
                  <a:srgbClr val="D42121"/>
                </a:solidFill>
                <a:latin typeface="Pretendard"/>
              </a:rPr>
              <a:t>39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70848" y="2811277"/>
            <a:ext cx="2560320" cy="156453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850" b="0" i="0" dirty="0">
                <a:solidFill>
                  <a:srgbClr val="202124"/>
                </a:solidFill>
                <a:latin typeface="Pretendard"/>
              </a:rPr>
              <a:t>2.8% · </a:t>
            </a:r>
            <a:r>
              <a:rPr sz="850" b="0" i="0" dirty="0" err="1">
                <a:solidFill>
                  <a:srgbClr val="202124"/>
                </a:solidFill>
                <a:latin typeface="Pretendard"/>
              </a:rPr>
              <a:t>검증셋</a:t>
            </a:r>
            <a:endParaRPr sz="850" b="0" i="0" dirty="0">
              <a:solidFill>
                <a:srgbClr val="202124"/>
              </a:solidFill>
              <a:latin typeface="Pretendard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6217920" y="3136392"/>
            <a:ext cx="1865376" cy="292608"/>
          </a:xfrm>
          <a:prstGeom prst="rect">
            <a:avLst/>
          </a:prstGeom>
          <a:solidFill>
            <a:srgbClr val="F5F8FD"/>
          </a:solidFill>
          <a:ln w="508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263640" y="3172968"/>
            <a:ext cx="1792224" cy="2194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900" b="1" i="0">
                <a:solidFill>
                  <a:srgbClr val="3C7CDE"/>
                </a:solidFill>
                <a:latin typeface="Pretendard"/>
              </a:rPr>
              <a:t>구분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083296" y="3136392"/>
            <a:ext cx="1810512" cy="292608"/>
          </a:xfrm>
          <a:prstGeom prst="rect">
            <a:avLst/>
          </a:prstGeom>
          <a:solidFill>
            <a:srgbClr val="F5F8FD"/>
          </a:solidFill>
          <a:ln w="508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129016" y="3172968"/>
            <a:ext cx="1737360" cy="2194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900" b="1" i="0">
                <a:solidFill>
                  <a:srgbClr val="3C7CDE"/>
                </a:solidFill>
                <a:latin typeface="Pretendard"/>
              </a:rPr>
              <a:t>행 수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893808" y="3136392"/>
            <a:ext cx="1810512" cy="292608"/>
          </a:xfrm>
          <a:prstGeom prst="rect">
            <a:avLst/>
          </a:prstGeom>
          <a:solidFill>
            <a:srgbClr val="F5F8FD"/>
          </a:solidFill>
          <a:ln w="508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939528" y="3172968"/>
            <a:ext cx="1737360" cy="2194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900" b="1" i="0">
                <a:solidFill>
                  <a:srgbClr val="3C7CDE"/>
                </a:solidFill>
                <a:latin typeface="Pretendard"/>
              </a:rPr>
              <a:t>라벨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217920" y="3429000"/>
            <a:ext cx="1865376" cy="292608"/>
          </a:xfrm>
          <a:prstGeom prst="rect">
            <a:avLst/>
          </a:prstGeom>
          <a:noFill/>
          <a:ln w="508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263640" y="3465576"/>
            <a:ext cx="1792224" cy="2194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900" b="0" i="0">
                <a:solidFill>
                  <a:srgbClr val="202124"/>
                </a:solidFill>
                <a:latin typeface="Pretendard"/>
              </a:rPr>
              <a:t>학습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083296" y="3429000"/>
            <a:ext cx="1810512" cy="292608"/>
          </a:xfrm>
          <a:prstGeom prst="rect">
            <a:avLst/>
          </a:prstGeom>
          <a:noFill/>
          <a:ln w="508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8129016" y="3465576"/>
            <a:ext cx="1737360" cy="2194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900" b="0" i="0">
                <a:solidFill>
                  <a:srgbClr val="202124"/>
                </a:solidFill>
                <a:latin typeface="Pretendard"/>
              </a:rPr>
              <a:t>5,357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893808" y="3429000"/>
            <a:ext cx="1810512" cy="292608"/>
          </a:xfrm>
          <a:prstGeom prst="rect">
            <a:avLst/>
          </a:prstGeom>
          <a:noFill/>
          <a:ln w="508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9939528" y="3465576"/>
            <a:ext cx="1737360" cy="2194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900" b="0" i="0">
                <a:solidFill>
                  <a:srgbClr val="202124"/>
                </a:solidFill>
                <a:latin typeface="Pretendard"/>
              </a:rPr>
              <a:t>정상 only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217920" y="3721608"/>
            <a:ext cx="1865376" cy="292608"/>
          </a:xfrm>
          <a:prstGeom prst="rect">
            <a:avLst/>
          </a:prstGeom>
          <a:noFill/>
          <a:ln w="508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6263640" y="3758184"/>
            <a:ext cx="1792224" cy="2194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900" b="0" i="0">
                <a:solidFill>
                  <a:srgbClr val="202124"/>
                </a:solidFill>
                <a:latin typeface="Pretendard"/>
              </a:rPr>
              <a:t>검증 정상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083296" y="3721608"/>
            <a:ext cx="1810512" cy="292608"/>
          </a:xfrm>
          <a:prstGeom prst="rect">
            <a:avLst/>
          </a:prstGeom>
          <a:noFill/>
          <a:ln w="508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8129016" y="3758184"/>
            <a:ext cx="1737360" cy="2194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900" b="0" i="0">
                <a:solidFill>
                  <a:srgbClr val="202124"/>
                </a:solidFill>
                <a:latin typeface="Pretendard"/>
              </a:rPr>
              <a:t>1,340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893808" y="3721608"/>
            <a:ext cx="1810512" cy="292608"/>
          </a:xfrm>
          <a:prstGeom prst="rect">
            <a:avLst/>
          </a:prstGeom>
          <a:noFill/>
          <a:ln w="508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9939528" y="3758184"/>
            <a:ext cx="1737360" cy="2194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900" b="0" i="0">
                <a:solidFill>
                  <a:srgbClr val="202124"/>
                </a:solidFill>
                <a:latin typeface="Pretendard"/>
              </a:rPr>
              <a:t>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217920" y="4014216"/>
            <a:ext cx="1865376" cy="292608"/>
          </a:xfrm>
          <a:prstGeom prst="rect">
            <a:avLst/>
          </a:prstGeom>
          <a:noFill/>
          <a:ln w="508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6263640" y="4050792"/>
            <a:ext cx="1792224" cy="2194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900" b="0" i="0">
                <a:solidFill>
                  <a:srgbClr val="202124"/>
                </a:solidFill>
                <a:latin typeface="Pretendard"/>
              </a:rPr>
              <a:t>검증 불량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083296" y="4014216"/>
            <a:ext cx="1810512" cy="292608"/>
          </a:xfrm>
          <a:prstGeom prst="rect">
            <a:avLst/>
          </a:prstGeom>
          <a:noFill/>
          <a:ln w="508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8129016" y="4050792"/>
            <a:ext cx="1737360" cy="2194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900" b="0" i="0">
                <a:solidFill>
                  <a:srgbClr val="202124"/>
                </a:solidFill>
                <a:latin typeface="Pretendard"/>
              </a:rPr>
              <a:t>39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893808" y="4014216"/>
            <a:ext cx="1810512" cy="292608"/>
          </a:xfrm>
          <a:prstGeom prst="rect">
            <a:avLst/>
          </a:prstGeom>
          <a:noFill/>
          <a:ln w="508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9939528" y="4050792"/>
            <a:ext cx="1737360" cy="2194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900" b="0" i="0">
                <a:solidFill>
                  <a:srgbClr val="202124"/>
                </a:solidFill>
                <a:latin typeface="Pretendard"/>
              </a:rPr>
              <a:t>1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217920" y="4306824"/>
            <a:ext cx="1865376" cy="292608"/>
          </a:xfrm>
          <a:prstGeom prst="rect">
            <a:avLst/>
          </a:prstGeom>
          <a:noFill/>
          <a:ln w="508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6263640" y="4343400"/>
            <a:ext cx="1792224" cy="2194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900" b="0" i="0">
                <a:solidFill>
                  <a:srgbClr val="202124"/>
                </a:solidFill>
                <a:latin typeface="Pretendard"/>
              </a:rPr>
              <a:t>합계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083296" y="4306824"/>
            <a:ext cx="1810512" cy="292608"/>
          </a:xfrm>
          <a:prstGeom prst="rect">
            <a:avLst/>
          </a:prstGeom>
          <a:noFill/>
          <a:ln w="508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8129016" y="4343400"/>
            <a:ext cx="1737360" cy="2194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900" b="0" i="0">
                <a:solidFill>
                  <a:srgbClr val="202124"/>
                </a:solidFill>
                <a:latin typeface="Pretendard"/>
              </a:rPr>
              <a:t>6,736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893808" y="4306824"/>
            <a:ext cx="1810512" cy="292608"/>
          </a:xfrm>
          <a:prstGeom prst="rect">
            <a:avLst/>
          </a:prstGeom>
          <a:noFill/>
          <a:ln w="508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9939528" y="4343400"/>
            <a:ext cx="1737360" cy="2194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900" b="0" i="0">
                <a:solidFill>
                  <a:srgbClr val="202124"/>
                </a:solidFill>
                <a:latin typeface="Pretendard"/>
              </a:rPr>
              <a:t>—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66928" y="5513831"/>
            <a:ext cx="101600" cy="164592"/>
          </a:xfrm>
          <a:prstGeom prst="rect">
            <a:avLst/>
          </a:prstGeom>
          <a:solidFill>
            <a:srgbClr val="3C7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731520" y="5440679"/>
            <a:ext cx="10954512" cy="21031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200" b="1" i="0" dirty="0">
                <a:solidFill>
                  <a:schemeClr val="tx1"/>
                </a:solidFill>
                <a:latin typeface="Pretendard"/>
              </a:rPr>
              <a:t>3. </a:t>
            </a:r>
            <a:r>
              <a:rPr sz="1200" b="1" i="0" dirty="0" err="1">
                <a:solidFill>
                  <a:schemeClr val="tx1"/>
                </a:solidFill>
                <a:latin typeface="Pretendard"/>
              </a:rPr>
              <a:t>데이터</a:t>
            </a:r>
            <a:r>
              <a:rPr sz="1200" b="1" i="0" dirty="0">
                <a:solidFill>
                  <a:schemeClr val="tx1"/>
                </a:solidFill>
                <a:latin typeface="Pretendard"/>
              </a:rPr>
              <a:t> </a:t>
            </a:r>
            <a:r>
              <a:rPr sz="1200" b="1" i="0" dirty="0" err="1">
                <a:solidFill>
                  <a:schemeClr val="tx1"/>
                </a:solidFill>
                <a:latin typeface="Pretendard"/>
              </a:rPr>
              <a:t>처리</a:t>
            </a:r>
            <a:r>
              <a:rPr sz="1200" b="1" i="0" dirty="0">
                <a:solidFill>
                  <a:schemeClr val="tx1"/>
                </a:solidFill>
                <a:latin typeface="Pretendard"/>
              </a:rPr>
              <a:t> </a:t>
            </a:r>
            <a:r>
              <a:rPr sz="1200" b="1" i="0" dirty="0" err="1">
                <a:solidFill>
                  <a:schemeClr val="tx1"/>
                </a:solidFill>
                <a:latin typeface="Pretendard"/>
              </a:rPr>
              <a:t>방식</a:t>
            </a:r>
            <a:r>
              <a:rPr sz="1200" b="1" i="0" dirty="0">
                <a:solidFill>
                  <a:schemeClr val="tx1"/>
                </a:solidFill>
                <a:latin typeface="Pretendard"/>
              </a:rPr>
              <a:t> · 6단계 </a:t>
            </a:r>
            <a:r>
              <a:rPr sz="1200" b="1" i="0" dirty="0" err="1">
                <a:solidFill>
                  <a:schemeClr val="tx1"/>
                </a:solidFill>
                <a:latin typeface="Pretendard"/>
              </a:rPr>
              <a:t>검증</a:t>
            </a:r>
            <a:r>
              <a:rPr sz="1200" b="1" i="0" dirty="0">
                <a:solidFill>
                  <a:schemeClr val="tx1"/>
                </a:solidFill>
                <a:latin typeface="Pretendard"/>
              </a:rPr>
              <a:t> </a:t>
            </a:r>
            <a:r>
              <a:rPr sz="1200" b="1" i="0" dirty="0" err="1">
                <a:solidFill>
                  <a:schemeClr val="tx1"/>
                </a:solidFill>
                <a:latin typeface="Pretendard"/>
              </a:rPr>
              <a:t>방법론</a:t>
            </a:r>
            <a:endParaRPr sz="1200" b="1" i="0" dirty="0">
              <a:solidFill>
                <a:schemeClr val="tx1"/>
              </a:solidFill>
              <a:latin typeface="Pretendard"/>
            </a:endParaRPr>
          </a:p>
        </p:txBody>
      </p:sp>
      <p:sp>
        <p:nvSpPr>
          <p:cNvPr id="95" name="Rectangle 94"/>
          <p:cNvSpPr/>
          <p:nvPr/>
        </p:nvSpPr>
        <p:spPr>
          <a:xfrm>
            <a:off x="566928" y="5788151"/>
            <a:ext cx="1783080" cy="566928"/>
          </a:xfrm>
          <a:prstGeom prst="rect">
            <a:avLst/>
          </a:prstGeom>
          <a:solidFill>
            <a:srgbClr val="F5F8FD"/>
          </a:solidFill>
          <a:ln w="635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612648" y="5806439"/>
            <a:ext cx="365760" cy="23774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300" b="1" i="0">
                <a:solidFill>
                  <a:srgbClr val="3C7CDE"/>
                </a:solidFill>
                <a:latin typeface="Pretendard"/>
              </a:rPr>
              <a:t>①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78408" y="5824727"/>
            <a:ext cx="1325880" cy="21945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900" b="1" i="0">
                <a:solidFill>
                  <a:srgbClr val="202124"/>
                </a:solidFill>
                <a:latin typeface="Pretendard"/>
              </a:rPr>
              <a:t>StandardScaler train fit only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68477" y="6141227"/>
            <a:ext cx="1325880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800" b="0" i="0" dirty="0">
                <a:solidFill>
                  <a:srgbClr val="5F6668"/>
                </a:solidFill>
                <a:latin typeface="Pretendard"/>
              </a:rPr>
              <a:t>data leakage </a:t>
            </a:r>
            <a:r>
              <a:rPr sz="800" b="0" i="0" dirty="0" err="1">
                <a:solidFill>
                  <a:srgbClr val="5F6668"/>
                </a:solidFill>
                <a:latin typeface="Pretendard"/>
              </a:rPr>
              <a:t>방지</a:t>
            </a:r>
            <a:endParaRPr sz="800" b="0" i="0" dirty="0">
              <a:solidFill>
                <a:srgbClr val="5F6668"/>
              </a:solidFill>
              <a:latin typeface="Pretendard"/>
            </a:endParaRPr>
          </a:p>
        </p:txBody>
      </p:sp>
      <p:sp>
        <p:nvSpPr>
          <p:cNvPr id="99" name="Rectangle 98"/>
          <p:cNvSpPr/>
          <p:nvPr/>
        </p:nvSpPr>
        <p:spPr>
          <a:xfrm>
            <a:off x="2395728" y="5788151"/>
            <a:ext cx="1783080" cy="566928"/>
          </a:xfrm>
          <a:prstGeom prst="rect">
            <a:avLst/>
          </a:prstGeom>
          <a:solidFill>
            <a:srgbClr val="F5F8FD"/>
          </a:solidFill>
          <a:ln w="635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2441448" y="5806439"/>
            <a:ext cx="365760" cy="23774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300" b="1" i="0">
                <a:solidFill>
                  <a:srgbClr val="3C7CDE"/>
                </a:solidFill>
                <a:latin typeface="Pretendard"/>
              </a:rPr>
              <a:t>②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807208" y="5824727"/>
            <a:ext cx="1325880" cy="21945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900" b="1" i="0">
                <a:solidFill>
                  <a:srgbClr val="202124"/>
                </a:solidFill>
                <a:latin typeface="Pretendard"/>
              </a:rPr>
              <a:t>80/20 분할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807208" y="6044183"/>
            <a:ext cx="1325880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800" b="0" i="0">
                <a:solidFill>
                  <a:srgbClr val="5F6668"/>
                </a:solidFill>
                <a:latin typeface="Pretendard"/>
              </a:rPr>
              <a:t>random_state=42, 재현성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224528" y="5788151"/>
            <a:ext cx="1783080" cy="566928"/>
          </a:xfrm>
          <a:prstGeom prst="rect">
            <a:avLst/>
          </a:prstGeom>
          <a:solidFill>
            <a:srgbClr val="F5F8FD"/>
          </a:solidFill>
          <a:ln w="635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4270248" y="5806439"/>
            <a:ext cx="365760" cy="23774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300" b="1" i="0">
                <a:solidFill>
                  <a:srgbClr val="3C7CDE"/>
                </a:solidFill>
                <a:latin typeface="Pretendard"/>
              </a:rPr>
              <a:t>③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636008" y="5824727"/>
            <a:ext cx="1325880" cy="21945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900" b="1" i="0">
                <a:solidFill>
                  <a:srgbClr val="202124"/>
                </a:solidFill>
                <a:latin typeface="Pretendard"/>
              </a:rPr>
              <a:t>Bootstrap 95% CI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636008" y="6044183"/>
            <a:ext cx="1325880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800" b="0" i="0">
                <a:solidFill>
                  <a:srgbClr val="5F6668"/>
                </a:solidFill>
                <a:latin typeface="Pretendard"/>
              </a:rPr>
              <a:t>1,000회 · 소표본 통계 신뢰도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053328" y="5788151"/>
            <a:ext cx="1783080" cy="566928"/>
          </a:xfrm>
          <a:prstGeom prst="rect">
            <a:avLst/>
          </a:prstGeom>
          <a:solidFill>
            <a:srgbClr val="F5F8FD"/>
          </a:solidFill>
          <a:ln w="635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6099048" y="5806439"/>
            <a:ext cx="365760" cy="23774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300" b="1" i="0">
                <a:solidFill>
                  <a:srgbClr val="3C7CDE"/>
                </a:solidFill>
                <a:latin typeface="Pretendard"/>
              </a:rPr>
              <a:t>④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464808" y="5824727"/>
            <a:ext cx="1325880" cy="21945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900" b="1" i="0">
                <a:solidFill>
                  <a:srgbClr val="202124"/>
                </a:solidFill>
                <a:latin typeface="Pretendard"/>
              </a:rPr>
              <a:t>Pseudo Hold-out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464808" y="6044183"/>
            <a:ext cx="1325880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800" b="0" i="0">
                <a:solidFill>
                  <a:srgbClr val="5F6668"/>
                </a:solidFill>
                <a:latin typeface="Pretendard"/>
              </a:rPr>
              <a:t>마지막 20건 분리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7882128" y="5788151"/>
            <a:ext cx="1783080" cy="566928"/>
          </a:xfrm>
          <a:prstGeom prst="rect">
            <a:avLst/>
          </a:prstGeom>
          <a:solidFill>
            <a:srgbClr val="F5F8FD"/>
          </a:solidFill>
          <a:ln w="635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7927848" y="5806439"/>
            <a:ext cx="365760" cy="23774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300" b="1" i="0">
                <a:solidFill>
                  <a:srgbClr val="3C7CDE"/>
                </a:solidFill>
                <a:latin typeface="Pretendard"/>
              </a:rPr>
              <a:t>⑤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293608" y="5824727"/>
            <a:ext cx="1325880" cy="21945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900" b="1" i="0">
                <a:solidFill>
                  <a:srgbClr val="202124"/>
                </a:solidFill>
                <a:latin typeface="Pretendard"/>
              </a:rPr>
              <a:t>Cross-Machine 외부 검증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293608" y="6044183"/>
            <a:ext cx="1325880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800" b="0" i="0">
                <a:solidFill>
                  <a:srgbClr val="5F6668"/>
                </a:solidFill>
                <a:latin typeface="Pretendard"/>
              </a:rPr>
              <a:t>CN7 + RG3 별도 금형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710928" y="5788151"/>
            <a:ext cx="1783080" cy="566928"/>
          </a:xfrm>
          <a:prstGeom prst="rect">
            <a:avLst/>
          </a:prstGeom>
          <a:solidFill>
            <a:srgbClr val="F5F8FD"/>
          </a:solidFill>
          <a:ln w="635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9756648" y="5806439"/>
            <a:ext cx="365760" cy="23774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300" b="1" i="0">
                <a:solidFill>
                  <a:srgbClr val="3C7CDE"/>
                </a:solidFill>
                <a:latin typeface="Pretendard"/>
              </a:rPr>
              <a:t>⑥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122408" y="5824727"/>
            <a:ext cx="1325880" cy="21945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900" b="1" i="0">
                <a:solidFill>
                  <a:srgbClr val="202124"/>
                </a:solidFill>
                <a:latin typeface="Pretendard"/>
              </a:rPr>
              <a:t>학습 데이터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122408" y="6044183"/>
            <a:ext cx="1325880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800" b="0" i="0">
                <a:solidFill>
                  <a:srgbClr val="5F6668"/>
                </a:solidFill>
                <a:latin typeface="Pretendard"/>
              </a:rPr>
              <a:t>정상 5,357 / 검증 1,379</a:t>
            </a:r>
          </a:p>
        </p:txBody>
      </p:sp>
    </p:spTree>
    <p:extLst>
      <p:ext uri="{BB962C8B-B14F-4D97-AF65-F5344CB8AC3E}">
        <p14:creationId xmlns:p14="http://schemas.microsoft.com/office/powerpoint/2010/main" val="3383210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C0319987-BCA9-9ED0-C4BE-D430B5A78B71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2" name="Google Shape;99;p2">
            <a:extLst>
              <a:ext uri="{FF2B5EF4-FFF2-40B4-BE49-F238E27FC236}">
                <a16:creationId xmlns:a16="http://schemas.microsoft.com/office/drawing/2014/main" id="{0A304978-B91A-D0F9-08E5-E6BCC204DD04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EED7841F-3F32-3698-0915-523541292295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4.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및 기술 활용 계획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(Data &amp; Tech Plan)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" name="Google Shape;105;p2">
            <a:extLst>
              <a:ext uri="{FF2B5EF4-FFF2-40B4-BE49-F238E27FC236}">
                <a16:creationId xmlns:a16="http://schemas.microsoft.com/office/drawing/2014/main" id="{21B79617-C1F0-52D3-B070-B0E157FFF20E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5670" y="6415547"/>
            <a:ext cx="1007955" cy="353407"/>
          </a:xfrm>
          <a:prstGeom prst="rect">
            <a:avLst/>
          </a:prstGeom>
        </p:spPr>
      </p:pic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E28D85C7-9402-2E2D-12C4-AE1F84F09912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5A748C-1CE4-5657-178F-716B4A80432A}"/>
              </a:ext>
            </a:extLst>
          </p:cNvPr>
          <p:cNvSpPr txBox="1"/>
          <p:nvPr/>
        </p:nvSpPr>
        <p:spPr>
          <a:xfrm>
            <a:off x="939332" y="1189703"/>
            <a:ext cx="40699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4. </a:t>
            </a:r>
            <a:r>
              <a:rPr lang="ko-KR" altLang="en-US" dirty="0">
                <a:latin typeface="+mj-ea"/>
                <a:ea typeface="+mj-ea"/>
              </a:rPr>
              <a:t>데이터 및 기술 활용 계획 </a:t>
            </a:r>
            <a:r>
              <a:rPr lang="en-US" altLang="ko-KR" dirty="0">
                <a:latin typeface="+mj-ea"/>
                <a:ea typeface="+mj-ea"/>
              </a:rPr>
              <a:t>(Data &amp; Tech Plan)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74598198-5F31-F6FA-47DC-AA9059C06E01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8782" y="6434300"/>
            <a:ext cx="1555879" cy="335564"/>
          </a:xfrm>
          <a:prstGeom prst="rect">
            <a:avLst/>
          </a:prstGeom>
        </p:spPr>
      </p:pic>
      <p:sp>
        <p:nvSpPr>
          <p:cNvPr id="9" name="Google Shape;100;p2">
            <a:extLst>
              <a:ext uri="{FF2B5EF4-FFF2-40B4-BE49-F238E27FC236}">
                <a16:creationId xmlns:a16="http://schemas.microsoft.com/office/drawing/2014/main" id="{A5283CA2-90DA-09BA-1082-399479A662C8}"/>
              </a:ext>
            </a:extLst>
          </p:cNvPr>
          <p:cNvSpPr txBox="1"/>
          <p:nvPr/>
        </p:nvSpPr>
        <p:spPr>
          <a:xfrm>
            <a:off x="8775865" y="229867"/>
            <a:ext cx="3044336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스마트 공장 운영 시스템 </a:t>
            </a: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MVP 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 </a:t>
            </a:r>
            <a:r>
              <a:rPr lang="ko-KR" altLang="en-US" sz="1000" b="1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해커톤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66928" y="1764792"/>
            <a:ext cx="101600" cy="164592"/>
          </a:xfrm>
          <a:prstGeom prst="rect">
            <a:avLst/>
          </a:prstGeom>
          <a:solidFill>
            <a:srgbClr val="3C7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1691640"/>
            <a:ext cx="5303520" cy="21031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200" b="1" i="0" dirty="0">
                <a:solidFill>
                  <a:schemeClr val="tx1"/>
                </a:solidFill>
                <a:latin typeface="Pretendard"/>
              </a:rPr>
              <a:t>1. </a:t>
            </a:r>
            <a:r>
              <a:rPr sz="1200" b="1" i="0" dirty="0" err="1">
                <a:solidFill>
                  <a:schemeClr val="tx1"/>
                </a:solidFill>
                <a:latin typeface="Pretendard"/>
              </a:rPr>
              <a:t>적용</a:t>
            </a:r>
            <a:r>
              <a:rPr sz="1200" b="1" i="0" dirty="0">
                <a:solidFill>
                  <a:schemeClr val="tx1"/>
                </a:solidFill>
                <a:latin typeface="Pretendard"/>
              </a:rPr>
              <a:t> AI · </a:t>
            </a:r>
            <a:r>
              <a:rPr sz="1200" b="1" i="0" dirty="0" err="1">
                <a:solidFill>
                  <a:schemeClr val="tx1"/>
                </a:solidFill>
                <a:latin typeface="Pretendard"/>
              </a:rPr>
              <a:t>분석</a:t>
            </a:r>
            <a:r>
              <a:rPr sz="1200" b="1" i="0" dirty="0">
                <a:solidFill>
                  <a:schemeClr val="tx1"/>
                </a:solidFill>
                <a:latin typeface="Pretendard"/>
              </a:rPr>
              <a:t> </a:t>
            </a:r>
            <a:r>
              <a:rPr sz="1200" b="1" i="0" dirty="0" err="1">
                <a:solidFill>
                  <a:schemeClr val="tx1"/>
                </a:solidFill>
                <a:latin typeface="Pretendard"/>
              </a:rPr>
              <a:t>기술</a:t>
            </a:r>
            <a:r>
              <a:rPr sz="1200" b="1" i="0" dirty="0">
                <a:solidFill>
                  <a:schemeClr val="tx1"/>
                </a:solidFill>
                <a:latin typeface="Pretendard"/>
              </a:rPr>
              <a:t> [</a:t>
            </a:r>
            <a:r>
              <a:rPr sz="1200" b="1" i="0" dirty="0" err="1">
                <a:solidFill>
                  <a:schemeClr val="tx1"/>
                </a:solidFill>
                <a:latin typeface="Pretendard"/>
              </a:rPr>
              <a:t>실측</a:t>
            </a:r>
            <a:r>
              <a:rPr sz="1200" b="1" i="0" dirty="0">
                <a:solidFill>
                  <a:schemeClr val="tx1"/>
                </a:solidFill>
                <a:latin typeface="Pretendard"/>
              </a:rPr>
              <a:t>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022581"/>
            <a:ext cx="5486400" cy="1878462"/>
          </a:xfrm>
          <a:prstGeom prst="rect">
            <a:avLst/>
          </a:prstGeom>
          <a:solidFill>
            <a:srgbClr val="F5F8FD"/>
          </a:solidFill>
          <a:ln w="635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04088" y="2093976"/>
            <a:ext cx="5212080" cy="1704697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18000"/>
              </a:lnSpc>
            </a:pPr>
            <a:r>
              <a:rPr sz="1000" b="1" i="0" dirty="0">
                <a:solidFill>
                  <a:srgbClr val="3C7CDE"/>
                </a:solidFill>
                <a:latin typeface="Pretendard"/>
              </a:rPr>
              <a:t>Autoencoder (</a:t>
            </a:r>
            <a:r>
              <a:rPr sz="1000" b="1" i="0" dirty="0" err="1">
                <a:solidFill>
                  <a:srgbClr val="3C7CDE"/>
                </a:solidFill>
                <a:latin typeface="Pretendard"/>
              </a:rPr>
              <a:t>PyTorch</a:t>
            </a:r>
            <a:r>
              <a:rPr sz="1000" b="1" i="0" dirty="0">
                <a:solidFill>
                  <a:srgbClr val="3C7CDE"/>
                </a:solidFill>
                <a:latin typeface="Pretendard"/>
              </a:rPr>
              <a:t> 2.3)</a:t>
            </a:r>
          </a:p>
          <a:p>
            <a:pPr>
              <a:lnSpc>
                <a:spcPct val="118000"/>
              </a:lnSpc>
            </a:pPr>
            <a:r>
              <a:rPr sz="850" b="0" i="0" dirty="0">
                <a:solidFill>
                  <a:srgbClr val="202124"/>
                </a:solidFill>
                <a:latin typeface="Pretendard"/>
              </a:rPr>
              <a:t>• </a:t>
            </a:r>
            <a:r>
              <a:rPr sz="850" b="0" i="0" dirty="0" err="1">
                <a:solidFill>
                  <a:srgbClr val="202124"/>
                </a:solidFill>
                <a:latin typeface="Pretendard"/>
              </a:rPr>
              <a:t>구조</a:t>
            </a:r>
            <a:r>
              <a:rPr sz="850" b="0" i="0" dirty="0">
                <a:solidFill>
                  <a:srgbClr val="202124"/>
                </a:solidFill>
                <a:latin typeface="Pretendard"/>
              </a:rPr>
              <a:t>: 24→16→8→16→24 (</a:t>
            </a:r>
            <a:r>
              <a:rPr sz="850" b="0" i="0" dirty="0" err="1">
                <a:solidFill>
                  <a:srgbClr val="202124"/>
                </a:solidFill>
                <a:latin typeface="Pretendard"/>
              </a:rPr>
              <a:t>BatchNorm</a:t>
            </a:r>
            <a:r>
              <a:rPr sz="850" b="0" i="0" dirty="0">
                <a:solidFill>
                  <a:srgbClr val="202124"/>
                </a:solidFill>
                <a:latin typeface="Pretendard"/>
              </a:rPr>
              <a:t> + MSE + Adam, 28 epoch)</a:t>
            </a:r>
          </a:p>
          <a:p>
            <a:pPr>
              <a:lnSpc>
                <a:spcPct val="118000"/>
              </a:lnSpc>
            </a:pPr>
            <a:r>
              <a:rPr sz="850" b="0" i="0" dirty="0">
                <a:solidFill>
                  <a:srgbClr val="202124"/>
                </a:solidFill>
                <a:latin typeface="Pretendard"/>
              </a:rPr>
              <a:t>• </a:t>
            </a:r>
            <a:r>
              <a:rPr sz="850" b="0" i="0" dirty="0" err="1">
                <a:solidFill>
                  <a:srgbClr val="202124"/>
                </a:solidFill>
                <a:latin typeface="Pretendard"/>
              </a:rPr>
              <a:t>반지도학습</a:t>
            </a:r>
            <a:r>
              <a:rPr sz="850" b="0" i="0" dirty="0">
                <a:solidFill>
                  <a:srgbClr val="202124"/>
                </a:solidFill>
                <a:latin typeface="Pretendard"/>
              </a:rPr>
              <a:t> — </a:t>
            </a:r>
            <a:r>
              <a:rPr sz="850" b="0" i="0" dirty="0" err="1">
                <a:solidFill>
                  <a:srgbClr val="202124"/>
                </a:solidFill>
                <a:latin typeface="Pretendard"/>
              </a:rPr>
              <a:t>정상</a:t>
            </a:r>
            <a:r>
              <a:rPr sz="850" b="0" i="0" dirty="0">
                <a:solidFill>
                  <a:srgbClr val="202124"/>
                </a:solidFill>
                <a:latin typeface="Pretendard"/>
              </a:rPr>
              <a:t> </a:t>
            </a:r>
            <a:r>
              <a:rPr sz="850" b="0" i="0" dirty="0" err="1">
                <a:solidFill>
                  <a:srgbClr val="202124"/>
                </a:solidFill>
                <a:latin typeface="Pretendard"/>
              </a:rPr>
              <a:t>데이터만</a:t>
            </a:r>
            <a:r>
              <a:rPr sz="850" b="0" i="0" dirty="0">
                <a:solidFill>
                  <a:srgbClr val="202124"/>
                </a:solidFill>
                <a:latin typeface="Pretendard"/>
              </a:rPr>
              <a:t> </a:t>
            </a:r>
            <a:r>
              <a:rPr sz="850" b="0" i="0" dirty="0" err="1">
                <a:solidFill>
                  <a:srgbClr val="202124"/>
                </a:solidFill>
                <a:latin typeface="Pretendard"/>
              </a:rPr>
              <a:t>학습</a:t>
            </a:r>
            <a:r>
              <a:rPr sz="850" b="0" i="0" dirty="0">
                <a:solidFill>
                  <a:srgbClr val="202124"/>
                </a:solidFill>
                <a:latin typeface="Pretendard"/>
              </a:rPr>
              <a:t>, </a:t>
            </a:r>
            <a:r>
              <a:rPr sz="850" b="0" i="0" dirty="0" err="1">
                <a:solidFill>
                  <a:srgbClr val="202124"/>
                </a:solidFill>
                <a:latin typeface="Pretendard"/>
              </a:rPr>
              <a:t>불균형</a:t>
            </a:r>
            <a:r>
              <a:rPr sz="850" b="0" i="0" dirty="0">
                <a:solidFill>
                  <a:srgbClr val="202124"/>
                </a:solidFill>
                <a:latin typeface="Pretendard"/>
              </a:rPr>
              <a:t> trivial </a:t>
            </a:r>
            <a:r>
              <a:rPr sz="850" b="0" i="0" dirty="0" err="1">
                <a:solidFill>
                  <a:srgbClr val="202124"/>
                </a:solidFill>
                <a:latin typeface="Pretendard"/>
              </a:rPr>
              <a:t>함정</a:t>
            </a:r>
            <a:r>
              <a:rPr sz="850" b="0" i="0" dirty="0">
                <a:solidFill>
                  <a:srgbClr val="202124"/>
                </a:solidFill>
                <a:latin typeface="Pretendard"/>
              </a:rPr>
              <a:t> </a:t>
            </a:r>
            <a:r>
              <a:rPr sz="850" b="0" i="0" dirty="0" err="1">
                <a:solidFill>
                  <a:srgbClr val="202124"/>
                </a:solidFill>
                <a:latin typeface="Pretendard"/>
              </a:rPr>
              <a:t>회피</a:t>
            </a:r>
            <a:endParaRPr sz="850" b="0" i="0" dirty="0">
              <a:solidFill>
                <a:srgbClr val="202124"/>
              </a:solidFill>
              <a:latin typeface="Pretendard"/>
            </a:endParaRPr>
          </a:p>
          <a:p>
            <a:pPr>
              <a:lnSpc>
                <a:spcPct val="118000"/>
              </a:lnSpc>
            </a:pPr>
            <a:r>
              <a:rPr sz="850" b="0" i="0" dirty="0">
                <a:solidFill>
                  <a:srgbClr val="202124"/>
                </a:solidFill>
                <a:latin typeface="Pretendard"/>
              </a:rPr>
              <a:t>• </a:t>
            </a:r>
            <a:r>
              <a:rPr sz="850" b="1" i="0" dirty="0" err="1">
                <a:solidFill>
                  <a:srgbClr val="202124"/>
                </a:solidFill>
                <a:latin typeface="Pretendard"/>
              </a:rPr>
              <a:t>임계값</a:t>
            </a:r>
            <a:r>
              <a:rPr sz="850" b="1" i="0" dirty="0">
                <a:solidFill>
                  <a:srgbClr val="202124"/>
                </a:solidFill>
                <a:latin typeface="Pretendard"/>
              </a:rPr>
              <a:t>: 0.3198 </a:t>
            </a:r>
            <a:r>
              <a:rPr sz="850" b="0" i="0" dirty="0">
                <a:solidFill>
                  <a:srgbClr val="202124"/>
                </a:solidFill>
                <a:latin typeface="Pretendard"/>
              </a:rPr>
              <a:t>(99th percentile + F1-optimal)</a:t>
            </a:r>
          </a:p>
          <a:p>
            <a:pPr>
              <a:lnSpc>
                <a:spcPct val="118000"/>
              </a:lnSpc>
            </a:pPr>
            <a:endParaRPr sz="850" b="0" i="0" dirty="0">
              <a:solidFill>
                <a:srgbClr val="202124"/>
              </a:solidFill>
              <a:latin typeface="Pretendard"/>
            </a:endParaRPr>
          </a:p>
          <a:p>
            <a:pPr>
              <a:lnSpc>
                <a:spcPct val="118000"/>
              </a:lnSpc>
            </a:pPr>
            <a:r>
              <a:rPr sz="1000" b="1" i="0" dirty="0">
                <a:solidFill>
                  <a:srgbClr val="3C7CDE"/>
                </a:solidFill>
                <a:latin typeface="Pretendard"/>
              </a:rPr>
              <a:t>SHAP </a:t>
            </a:r>
            <a:endParaRPr lang="en-US" sz="1000" b="1" i="0" dirty="0">
              <a:solidFill>
                <a:srgbClr val="3C7CDE"/>
              </a:solidFill>
              <a:latin typeface="Pretendard"/>
            </a:endParaRPr>
          </a:p>
          <a:p>
            <a:pPr>
              <a:lnSpc>
                <a:spcPct val="118000"/>
              </a:lnSpc>
            </a:pPr>
            <a:r>
              <a:rPr sz="850" b="0" i="0" dirty="0">
                <a:solidFill>
                  <a:srgbClr val="202124"/>
                </a:solidFill>
                <a:latin typeface="Pretendard"/>
              </a:rPr>
              <a:t>• </a:t>
            </a:r>
            <a:r>
              <a:rPr sz="850" b="0" i="0" dirty="0" err="1">
                <a:solidFill>
                  <a:srgbClr val="202124"/>
                </a:solidFill>
                <a:latin typeface="Pretendard"/>
              </a:rPr>
              <a:t>KernelExplainer</a:t>
            </a:r>
            <a:r>
              <a:rPr sz="850" b="0" i="0" dirty="0">
                <a:solidFill>
                  <a:srgbClr val="202124"/>
                </a:solidFill>
                <a:latin typeface="Pretendard"/>
              </a:rPr>
              <a:t> + K-Means 50 </a:t>
            </a:r>
            <a:r>
              <a:rPr sz="850" b="0" i="0" dirty="0" err="1">
                <a:solidFill>
                  <a:srgbClr val="202124"/>
                </a:solidFill>
                <a:latin typeface="Pretendard"/>
              </a:rPr>
              <a:t>배경</a:t>
            </a:r>
            <a:r>
              <a:rPr sz="850" b="0" i="0" dirty="0">
                <a:solidFill>
                  <a:srgbClr val="202124"/>
                </a:solidFill>
                <a:latin typeface="Pretendard"/>
              </a:rPr>
              <a:t> </a:t>
            </a:r>
            <a:r>
              <a:rPr sz="850" b="0" i="0" dirty="0" err="1">
                <a:solidFill>
                  <a:srgbClr val="202124"/>
                </a:solidFill>
                <a:latin typeface="Pretendard"/>
              </a:rPr>
              <a:t>압축</a:t>
            </a:r>
            <a:endParaRPr sz="850" b="0" i="0" dirty="0">
              <a:solidFill>
                <a:srgbClr val="202124"/>
              </a:solidFill>
              <a:latin typeface="Pretendard"/>
            </a:endParaRPr>
          </a:p>
          <a:p>
            <a:pPr>
              <a:lnSpc>
                <a:spcPct val="118000"/>
              </a:lnSpc>
            </a:pPr>
            <a:r>
              <a:rPr sz="850" b="0" i="0" dirty="0">
                <a:solidFill>
                  <a:srgbClr val="202124"/>
                </a:solidFill>
                <a:latin typeface="Pretendard"/>
              </a:rPr>
              <a:t>• </a:t>
            </a:r>
            <a:r>
              <a:rPr sz="850" b="1" i="0" dirty="0">
                <a:solidFill>
                  <a:srgbClr val="202124"/>
                </a:solidFill>
                <a:latin typeface="Pretendard"/>
              </a:rPr>
              <a:t>24센서 </a:t>
            </a:r>
            <a:r>
              <a:rPr sz="850" b="1" i="0" dirty="0" err="1">
                <a:solidFill>
                  <a:srgbClr val="202124"/>
                </a:solidFill>
                <a:latin typeface="Pretendard"/>
              </a:rPr>
              <a:t>실시간</a:t>
            </a:r>
            <a:r>
              <a:rPr sz="850" b="1" i="0" dirty="0">
                <a:solidFill>
                  <a:srgbClr val="202124"/>
                </a:solidFill>
                <a:latin typeface="Pretendard"/>
              </a:rPr>
              <a:t> </a:t>
            </a:r>
            <a:r>
              <a:rPr sz="850" b="1" i="0" dirty="0" err="1">
                <a:solidFill>
                  <a:srgbClr val="202124"/>
                </a:solidFill>
                <a:latin typeface="Pretendard"/>
              </a:rPr>
              <a:t>기여도</a:t>
            </a:r>
            <a:r>
              <a:rPr sz="850" b="1" i="0" dirty="0">
                <a:solidFill>
                  <a:srgbClr val="202124"/>
                </a:solidFill>
                <a:latin typeface="Pretendard"/>
              </a:rPr>
              <a:t> </a:t>
            </a:r>
            <a:r>
              <a:rPr sz="850" b="1" i="0" dirty="0" err="1">
                <a:solidFill>
                  <a:srgbClr val="202124"/>
                </a:solidFill>
                <a:latin typeface="Pretendard"/>
              </a:rPr>
              <a:t>분해</a:t>
            </a:r>
            <a:r>
              <a:rPr sz="850" b="1" i="0" dirty="0">
                <a:solidFill>
                  <a:srgbClr val="202124"/>
                </a:solidFill>
                <a:latin typeface="Pretendard"/>
              </a:rPr>
              <a:t> </a:t>
            </a:r>
            <a:r>
              <a:rPr sz="850" b="0" i="0" dirty="0">
                <a:solidFill>
                  <a:srgbClr val="202124"/>
                </a:solidFill>
                <a:latin typeface="Pretendard"/>
              </a:rPr>
              <a:t>· Waterfall </a:t>
            </a:r>
            <a:r>
              <a:rPr sz="850" b="0" i="0" dirty="0" err="1">
                <a:solidFill>
                  <a:srgbClr val="202124"/>
                </a:solidFill>
                <a:latin typeface="Pretendard"/>
              </a:rPr>
              <a:t>시각화</a:t>
            </a:r>
            <a:endParaRPr sz="850" b="0" i="0" dirty="0">
              <a:solidFill>
                <a:srgbClr val="202124"/>
              </a:solidFill>
              <a:latin typeface="Pretendard"/>
            </a:endParaRPr>
          </a:p>
          <a:p>
            <a:pPr>
              <a:lnSpc>
                <a:spcPct val="118000"/>
              </a:lnSpc>
            </a:pPr>
            <a:endParaRPr sz="850" b="0" i="0" dirty="0">
              <a:solidFill>
                <a:srgbClr val="202124"/>
              </a:solidFill>
              <a:latin typeface="Pretendard"/>
            </a:endParaRPr>
          </a:p>
          <a:p>
            <a:pPr>
              <a:lnSpc>
                <a:spcPct val="118000"/>
              </a:lnSpc>
            </a:pPr>
            <a:r>
              <a:rPr sz="1000" b="1" i="0" dirty="0" err="1">
                <a:solidFill>
                  <a:srgbClr val="3C7CDE"/>
                </a:solidFill>
                <a:latin typeface="Pretendard"/>
              </a:rPr>
              <a:t>다중</a:t>
            </a:r>
            <a:r>
              <a:rPr sz="1000" b="1" i="0" dirty="0">
                <a:solidFill>
                  <a:srgbClr val="3C7CDE"/>
                </a:solidFill>
                <a:latin typeface="Pretendard"/>
              </a:rPr>
              <a:t> </a:t>
            </a:r>
            <a:r>
              <a:rPr lang="en-US" sz="1000" b="1" i="0" dirty="0">
                <a:solidFill>
                  <a:srgbClr val="3C7CDE"/>
                </a:solidFill>
                <a:latin typeface="Pretendard"/>
              </a:rPr>
              <a:t>4-</a:t>
            </a:r>
            <a:r>
              <a:rPr sz="1000" b="1" i="0" dirty="0">
                <a:solidFill>
                  <a:srgbClr val="3C7CDE"/>
                </a:solidFill>
                <a:latin typeface="Pretendard"/>
              </a:rPr>
              <a:t>AI </a:t>
            </a:r>
            <a:r>
              <a:rPr sz="1000" b="1" i="0" dirty="0" err="1">
                <a:solidFill>
                  <a:srgbClr val="3C7CDE"/>
                </a:solidFill>
                <a:latin typeface="Pretendard"/>
              </a:rPr>
              <a:t>합의</a:t>
            </a:r>
            <a:endParaRPr sz="850" b="0" i="0" dirty="0">
              <a:solidFill>
                <a:srgbClr val="202124"/>
              </a:solidFill>
              <a:latin typeface="Pretendard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217920" y="1764792"/>
            <a:ext cx="101600" cy="164592"/>
          </a:xfrm>
          <a:prstGeom prst="rect">
            <a:avLst/>
          </a:prstGeom>
          <a:solidFill>
            <a:srgbClr val="3C7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82512" y="1691640"/>
            <a:ext cx="5303520" cy="21031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200" b="1" i="0" dirty="0">
                <a:solidFill>
                  <a:schemeClr val="tx1"/>
                </a:solidFill>
                <a:latin typeface="Pretendard"/>
              </a:rPr>
              <a:t>2. </a:t>
            </a:r>
            <a:r>
              <a:rPr sz="1200" b="1" i="0" dirty="0" err="1">
                <a:solidFill>
                  <a:schemeClr val="tx1"/>
                </a:solidFill>
                <a:latin typeface="Pretendard"/>
              </a:rPr>
              <a:t>사용</a:t>
            </a:r>
            <a:r>
              <a:rPr sz="1200" b="1" i="0" dirty="0">
                <a:solidFill>
                  <a:schemeClr val="tx1"/>
                </a:solidFill>
                <a:latin typeface="Pretendard"/>
              </a:rPr>
              <a:t> </a:t>
            </a:r>
            <a:r>
              <a:rPr sz="1200" b="1" i="0" dirty="0" err="1">
                <a:solidFill>
                  <a:schemeClr val="tx1"/>
                </a:solidFill>
                <a:latin typeface="Pretendard"/>
              </a:rPr>
              <a:t>기술</a:t>
            </a:r>
            <a:r>
              <a:rPr sz="1200" b="1" i="0" dirty="0">
                <a:solidFill>
                  <a:schemeClr val="tx1"/>
                </a:solidFill>
                <a:latin typeface="Pretendard"/>
              </a:rPr>
              <a:t> </a:t>
            </a:r>
            <a:r>
              <a:rPr sz="1200" b="1" i="0" dirty="0" err="1">
                <a:solidFill>
                  <a:schemeClr val="tx1"/>
                </a:solidFill>
                <a:latin typeface="Pretendard"/>
              </a:rPr>
              <a:t>스택</a:t>
            </a:r>
            <a:r>
              <a:rPr sz="1200" b="1" i="0" dirty="0">
                <a:solidFill>
                  <a:schemeClr val="tx1"/>
                </a:solidFill>
                <a:latin typeface="Pretendard"/>
              </a:rPr>
              <a:t> · </a:t>
            </a:r>
            <a:r>
              <a:rPr sz="1200" b="1" i="0" dirty="0" err="1">
                <a:solidFill>
                  <a:schemeClr val="tx1"/>
                </a:solidFill>
                <a:latin typeface="Pretendard"/>
              </a:rPr>
              <a:t>시스템</a:t>
            </a:r>
            <a:r>
              <a:rPr sz="1200" b="1" i="0" dirty="0">
                <a:solidFill>
                  <a:schemeClr val="tx1"/>
                </a:solidFill>
                <a:latin typeface="Pretendard"/>
              </a:rPr>
              <a:t> </a:t>
            </a:r>
            <a:r>
              <a:rPr sz="1200" b="1" i="0" dirty="0" err="1">
                <a:solidFill>
                  <a:schemeClr val="tx1"/>
                </a:solidFill>
                <a:latin typeface="Pretendard"/>
              </a:rPr>
              <a:t>구성</a:t>
            </a:r>
            <a:endParaRPr sz="1200" b="1" i="0" dirty="0">
              <a:solidFill>
                <a:schemeClr val="tx1"/>
              </a:solidFill>
              <a:latin typeface="Pretendard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217920" y="2075688"/>
            <a:ext cx="5486400" cy="1828800"/>
          </a:xfrm>
          <a:prstGeom prst="rect">
            <a:avLst/>
          </a:prstGeom>
          <a:solidFill>
            <a:srgbClr val="F5F8FD"/>
          </a:solidFill>
          <a:ln w="635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5080" y="2148840"/>
            <a:ext cx="5303520" cy="1776897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16000"/>
              </a:lnSpc>
            </a:pPr>
            <a:r>
              <a:rPr sz="950" b="1" i="0" dirty="0">
                <a:solidFill>
                  <a:srgbClr val="3C7CDE"/>
                </a:solidFill>
                <a:latin typeface="Pretendard"/>
              </a:rPr>
              <a:t>ML</a:t>
            </a:r>
          </a:p>
          <a:p>
            <a:pPr>
              <a:lnSpc>
                <a:spcPct val="116000"/>
              </a:lnSpc>
            </a:pPr>
            <a:r>
              <a:rPr sz="950" b="0" i="0" dirty="0" err="1">
                <a:solidFill>
                  <a:srgbClr val="202124"/>
                </a:solidFill>
                <a:latin typeface="Pretendard"/>
              </a:rPr>
              <a:t>PyTorch</a:t>
            </a:r>
            <a:r>
              <a:rPr sz="950" b="0" i="0" dirty="0">
                <a:solidFill>
                  <a:srgbClr val="202124"/>
                </a:solidFill>
                <a:latin typeface="Pretendard"/>
              </a:rPr>
              <a:t> 2.3 · scikit-learn 1.2 · SHAP 0.48</a:t>
            </a:r>
          </a:p>
          <a:p>
            <a:pPr>
              <a:lnSpc>
                <a:spcPct val="116000"/>
              </a:lnSpc>
            </a:pPr>
            <a:r>
              <a:rPr sz="950" b="1" i="0" dirty="0">
                <a:solidFill>
                  <a:srgbClr val="3C7CDE"/>
                </a:solidFill>
                <a:latin typeface="Pretendard"/>
              </a:rPr>
              <a:t>UI</a:t>
            </a:r>
          </a:p>
          <a:p>
            <a:pPr>
              <a:lnSpc>
                <a:spcPct val="116000"/>
              </a:lnSpc>
            </a:pPr>
            <a:r>
              <a:rPr sz="950" b="0" i="0" dirty="0" err="1">
                <a:solidFill>
                  <a:srgbClr val="202124"/>
                </a:solidFill>
                <a:latin typeface="Pretendard"/>
              </a:rPr>
              <a:t>Streamlit</a:t>
            </a:r>
            <a:r>
              <a:rPr sz="950" b="0" i="0" dirty="0">
                <a:solidFill>
                  <a:srgbClr val="202124"/>
                </a:solidFill>
                <a:latin typeface="Pretendard"/>
              </a:rPr>
              <a:t> 1.36 · Plotly 5.22 · python-pptx 1.0</a:t>
            </a:r>
          </a:p>
          <a:p>
            <a:pPr>
              <a:lnSpc>
                <a:spcPct val="116000"/>
              </a:lnSpc>
            </a:pPr>
            <a:r>
              <a:rPr sz="950" b="1" i="0" dirty="0">
                <a:solidFill>
                  <a:srgbClr val="3C7CDE"/>
                </a:solidFill>
                <a:latin typeface="Pretendard"/>
              </a:rPr>
              <a:t>Infrastructure</a:t>
            </a:r>
          </a:p>
          <a:p>
            <a:pPr>
              <a:lnSpc>
                <a:spcPct val="116000"/>
              </a:lnSpc>
            </a:pPr>
            <a:r>
              <a:rPr sz="950" b="0" i="0" dirty="0">
                <a:solidFill>
                  <a:srgbClr val="202124"/>
                </a:solidFill>
                <a:latin typeface="Pretendard"/>
              </a:rPr>
              <a:t>Python 3.11 (Anaconda) · </a:t>
            </a:r>
            <a:r>
              <a:rPr sz="950" b="0" i="0" dirty="0" err="1">
                <a:solidFill>
                  <a:srgbClr val="202124"/>
                </a:solidFill>
                <a:latin typeface="Pretendard"/>
              </a:rPr>
              <a:t>온프레미스</a:t>
            </a:r>
            <a:r>
              <a:rPr sz="950" b="0" i="0" dirty="0">
                <a:solidFill>
                  <a:srgbClr val="202124"/>
                </a:solidFill>
                <a:latin typeface="Pretendard"/>
              </a:rPr>
              <a:t> </a:t>
            </a:r>
            <a:r>
              <a:rPr sz="950" b="0" i="0" dirty="0" err="1">
                <a:solidFill>
                  <a:srgbClr val="202124"/>
                </a:solidFill>
                <a:latin typeface="Pretendard"/>
              </a:rPr>
              <a:t>배포</a:t>
            </a:r>
            <a:r>
              <a:rPr sz="950" b="0" i="0" dirty="0">
                <a:solidFill>
                  <a:srgbClr val="202124"/>
                </a:solidFill>
                <a:latin typeface="Pretendard"/>
              </a:rPr>
              <a:t> (</a:t>
            </a:r>
            <a:r>
              <a:rPr sz="950" b="0" i="0" dirty="0" err="1">
                <a:solidFill>
                  <a:srgbClr val="202124"/>
                </a:solidFill>
                <a:latin typeface="Pretendard"/>
              </a:rPr>
              <a:t>데이터</a:t>
            </a:r>
            <a:r>
              <a:rPr sz="950" b="0" i="0" dirty="0">
                <a:solidFill>
                  <a:srgbClr val="202124"/>
                </a:solidFill>
                <a:latin typeface="Pretendard"/>
              </a:rPr>
              <a:t> </a:t>
            </a:r>
            <a:r>
              <a:rPr sz="950" b="0" i="0" dirty="0" err="1">
                <a:solidFill>
                  <a:srgbClr val="202124"/>
                </a:solidFill>
                <a:latin typeface="Pretendard"/>
              </a:rPr>
              <a:t>외부</a:t>
            </a:r>
            <a:r>
              <a:rPr sz="950" b="0" i="0" dirty="0">
                <a:solidFill>
                  <a:srgbClr val="202124"/>
                </a:solidFill>
                <a:latin typeface="Pretendard"/>
              </a:rPr>
              <a:t> </a:t>
            </a:r>
            <a:r>
              <a:rPr sz="950" b="0" i="0" dirty="0" err="1">
                <a:solidFill>
                  <a:srgbClr val="202124"/>
                </a:solidFill>
                <a:latin typeface="Pretendard"/>
              </a:rPr>
              <a:t>전송</a:t>
            </a:r>
            <a:r>
              <a:rPr sz="950" b="0" i="0" dirty="0">
                <a:solidFill>
                  <a:srgbClr val="202124"/>
                </a:solidFill>
                <a:latin typeface="Pretendard"/>
              </a:rPr>
              <a:t> 0)</a:t>
            </a:r>
          </a:p>
          <a:p>
            <a:pPr>
              <a:lnSpc>
                <a:spcPct val="116000"/>
              </a:lnSpc>
            </a:pPr>
            <a:r>
              <a:rPr sz="950" b="1" i="0" dirty="0">
                <a:solidFill>
                  <a:srgbClr val="3C7CDE"/>
                </a:solidFill>
                <a:latin typeface="Pretendard"/>
              </a:rPr>
              <a:t>Security</a:t>
            </a:r>
          </a:p>
          <a:p>
            <a:pPr>
              <a:lnSpc>
                <a:spcPct val="116000"/>
              </a:lnSpc>
            </a:pPr>
            <a:r>
              <a:rPr sz="950" b="0" i="0" dirty="0" err="1">
                <a:solidFill>
                  <a:srgbClr val="202124"/>
                </a:solidFill>
                <a:latin typeface="Pretendard"/>
              </a:rPr>
              <a:t>모델</a:t>
            </a:r>
            <a:r>
              <a:rPr sz="950" b="0" i="0" dirty="0">
                <a:solidFill>
                  <a:srgbClr val="202124"/>
                </a:solidFill>
                <a:latin typeface="Pretendard"/>
              </a:rPr>
              <a:t> SHA-256 </a:t>
            </a:r>
            <a:r>
              <a:rPr sz="950" b="0" i="0" dirty="0" err="1">
                <a:solidFill>
                  <a:srgbClr val="202124"/>
                </a:solidFill>
                <a:latin typeface="Pretendard"/>
              </a:rPr>
              <a:t>무결성</a:t>
            </a:r>
            <a:r>
              <a:rPr sz="950" b="0" i="0" dirty="0">
                <a:solidFill>
                  <a:srgbClr val="202124"/>
                </a:solidFill>
                <a:latin typeface="Pretendard"/>
              </a:rPr>
              <a:t> </a:t>
            </a:r>
            <a:r>
              <a:rPr sz="950" b="0" i="0" dirty="0" err="1">
                <a:solidFill>
                  <a:srgbClr val="202124"/>
                </a:solidFill>
                <a:latin typeface="Pretendard"/>
              </a:rPr>
              <a:t>검증</a:t>
            </a:r>
            <a:r>
              <a:rPr sz="950" b="0" i="0" dirty="0">
                <a:solidFill>
                  <a:srgbClr val="202124"/>
                </a:solidFill>
                <a:latin typeface="Pretendard"/>
              </a:rPr>
              <a:t> · JSON </a:t>
            </a:r>
            <a:r>
              <a:rPr sz="950" b="0" i="0" dirty="0" err="1">
                <a:solidFill>
                  <a:srgbClr val="202124"/>
                </a:solidFill>
                <a:latin typeface="Pretendard"/>
              </a:rPr>
              <a:t>이력</a:t>
            </a:r>
            <a:r>
              <a:rPr sz="950" b="0" i="0" dirty="0">
                <a:solidFill>
                  <a:srgbClr val="202124"/>
                </a:solidFill>
                <a:latin typeface="Pretendard"/>
              </a:rPr>
              <a:t> </a:t>
            </a:r>
            <a:r>
              <a:rPr sz="950" b="0" i="0" dirty="0" err="1">
                <a:solidFill>
                  <a:srgbClr val="202124"/>
                </a:solidFill>
                <a:latin typeface="Pretendard"/>
              </a:rPr>
              <a:t>영속</a:t>
            </a:r>
            <a:endParaRPr sz="950" b="0" i="0" dirty="0">
              <a:solidFill>
                <a:srgbClr val="202124"/>
              </a:solidFill>
              <a:latin typeface="Pretendard"/>
            </a:endParaRPr>
          </a:p>
          <a:p>
            <a:pPr>
              <a:lnSpc>
                <a:spcPct val="116000"/>
              </a:lnSpc>
            </a:pPr>
            <a:r>
              <a:rPr sz="950" b="1" i="0" dirty="0">
                <a:solidFill>
                  <a:srgbClr val="3C7CDE"/>
                </a:solidFill>
                <a:latin typeface="Pretendard"/>
              </a:rPr>
              <a:t>Finals add-on</a:t>
            </a:r>
          </a:p>
          <a:p>
            <a:pPr>
              <a:lnSpc>
                <a:spcPct val="116000"/>
              </a:lnSpc>
            </a:pPr>
            <a:r>
              <a:rPr sz="950" b="0" i="0" dirty="0">
                <a:solidFill>
                  <a:srgbClr val="202124"/>
                </a:solidFill>
                <a:latin typeface="Pretendard"/>
              </a:rPr>
              <a:t>OPC-UA (</a:t>
            </a:r>
            <a:r>
              <a:rPr sz="950" b="0" i="0" dirty="0" err="1">
                <a:solidFill>
                  <a:srgbClr val="202124"/>
                </a:solidFill>
                <a:latin typeface="Pretendard"/>
              </a:rPr>
              <a:t>asyncua</a:t>
            </a:r>
            <a:r>
              <a:rPr sz="950" b="0" i="0" dirty="0">
                <a:solidFill>
                  <a:srgbClr val="202124"/>
                </a:solidFill>
                <a:latin typeface="Pretendard"/>
              </a:rPr>
              <a:t>) · MQTT (paho-</a:t>
            </a:r>
            <a:r>
              <a:rPr sz="950" b="0" i="0" dirty="0" err="1">
                <a:solidFill>
                  <a:srgbClr val="202124"/>
                </a:solidFill>
                <a:latin typeface="Pretendard"/>
              </a:rPr>
              <a:t>mqtt</a:t>
            </a:r>
            <a:r>
              <a:rPr sz="950" b="0" i="0" dirty="0">
                <a:solidFill>
                  <a:srgbClr val="202124"/>
                </a:solidFill>
                <a:latin typeface="Pretendard"/>
              </a:rPr>
              <a:t>) · AWS </a:t>
            </a:r>
            <a:r>
              <a:rPr sz="950" b="0" i="0" dirty="0" err="1">
                <a:solidFill>
                  <a:srgbClr val="202124"/>
                </a:solidFill>
                <a:latin typeface="Pretendard"/>
              </a:rPr>
              <a:t>옵션</a:t>
            </a:r>
            <a:endParaRPr sz="950" b="0" i="0" dirty="0">
              <a:solidFill>
                <a:srgbClr val="202124"/>
              </a:solidFill>
              <a:latin typeface="Pretendard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66928" y="4096512"/>
            <a:ext cx="101600" cy="164592"/>
          </a:xfrm>
          <a:prstGeom prst="rect">
            <a:avLst/>
          </a:prstGeom>
          <a:solidFill>
            <a:srgbClr val="3C7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4023360"/>
            <a:ext cx="5303520" cy="21031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200" b="1" i="0" dirty="0">
                <a:solidFill>
                  <a:schemeClr val="tx1"/>
                </a:solidFill>
                <a:latin typeface="Pretendard"/>
              </a:rPr>
              <a:t>3. </a:t>
            </a:r>
            <a:r>
              <a:rPr sz="1200" b="1" i="0" dirty="0" err="1">
                <a:solidFill>
                  <a:schemeClr val="tx1"/>
                </a:solidFill>
                <a:latin typeface="Pretendard"/>
              </a:rPr>
              <a:t>기술</a:t>
            </a:r>
            <a:r>
              <a:rPr sz="1200" b="1" i="0" dirty="0">
                <a:solidFill>
                  <a:schemeClr val="tx1"/>
                </a:solidFill>
                <a:latin typeface="Pretendard"/>
              </a:rPr>
              <a:t> </a:t>
            </a:r>
            <a:r>
              <a:rPr sz="1200" b="1" i="0" dirty="0" err="1">
                <a:solidFill>
                  <a:schemeClr val="tx1"/>
                </a:solidFill>
                <a:latin typeface="Pretendard"/>
              </a:rPr>
              <a:t>제약</a:t>
            </a:r>
            <a:r>
              <a:rPr sz="1200" b="1" i="0" dirty="0">
                <a:solidFill>
                  <a:schemeClr val="tx1"/>
                </a:solidFill>
                <a:latin typeface="Pretendard"/>
              </a:rPr>
              <a:t> · </a:t>
            </a:r>
            <a:r>
              <a:rPr sz="1200" b="1" i="0" dirty="0" err="1">
                <a:solidFill>
                  <a:schemeClr val="tx1"/>
                </a:solidFill>
                <a:latin typeface="Pretendard"/>
              </a:rPr>
              <a:t>해결</a:t>
            </a:r>
            <a:r>
              <a:rPr sz="1200" b="1" i="0" dirty="0">
                <a:solidFill>
                  <a:schemeClr val="tx1"/>
                </a:solidFill>
                <a:latin typeface="Pretendard"/>
              </a:rPr>
              <a:t> </a:t>
            </a:r>
            <a:r>
              <a:rPr sz="1200" b="1" i="0" dirty="0" err="1">
                <a:solidFill>
                  <a:schemeClr val="tx1"/>
                </a:solidFill>
                <a:latin typeface="Pretendard"/>
              </a:rPr>
              <a:t>전략</a:t>
            </a:r>
            <a:endParaRPr sz="1200" b="1" i="0" dirty="0">
              <a:solidFill>
                <a:schemeClr val="tx1"/>
              </a:solidFill>
              <a:latin typeface="Pretendard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66928" y="4407408"/>
            <a:ext cx="2194560" cy="292608"/>
          </a:xfrm>
          <a:prstGeom prst="rect">
            <a:avLst/>
          </a:prstGeom>
          <a:solidFill>
            <a:srgbClr val="F5F8FD"/>
          </a:solidFill>
          <a:ln w="508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2648" y="4443984"/>
            <a:ext cx="2121408" cy="2194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950" b="1" i="0">
                <a:solidFill>
                  <a:srgbClr val="3C7CDE"/>
                </a:solidFill>
                <a:latin typeface="Pretendard"/>
              </a:rPr>
              <a:t>제약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61488" y="4407408"/>
            <a:ext cx="3291840" cy="292608"/>
          </a:xfrm>
          <a:prstGeom prst="rect">
            <a:avLst/>
          </a:prstGeom>
          <a:solidFill>
            <a:srgbClr val="F5F8FD"/>
          </a:solidFill>
          <a:ln w="508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807208" y="4443984"/>
            <a:ext cx="3218688" cy="2194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950" b="1" i="0">
                <a:solidFill>
                  <a:srgbClr val="3C7CDE"/>
                </a:solidFill>
                <a:latin typeface="Pretendard"/>
              </a:rPr>
              <a:t>해결 [실측]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4700016"/>
            <a:ext cx="2194560" cy="292608"/>
          </a:xfrm>
          <a:prstGeom prst="rect">
            <a:avLst/>
          </a:prstGeom>
          <a:noFill/>
          <a:ln w="508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2648" y="4736592"/>
            <a:ext cx="2121408" cy="2194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950" b="0" i="0" dirty="0">
                <a:solidFill>
                  <a:srgbClr val="202124"/>
                </a:solidFill>
                <a:latin typeface="Pretendard"/>
              </a:rPr>
              <a:t>0.58% </a:t>
            </a:r>
            <a:r>
              <a:rPr sz="950" b="0" i="0" dirty="0" err="1">
                <a:solidFill>
                  <a:srgbClr val="202124"/>
                </a:solidFill>
                <a:latin typeface="Pretendard"/>
              </a:rPr>
              <a:t>극심</a:t>
            </a:r>
            <a:r>
              <a:rPr sz="950" b="0" i="0" dirty="0">
                <a:solidFill>
                  <a:srgbClr val="202124"/>
                </a:solidFill>
                <a:latin typeface="Pretendard"/>
              </a:rPr>
              <a:t> </a:t>
            </a:r>
            <a:r>
              <a:rPr sz="950" b="0" i="0" dirty="0" err="1">
                <a:solidFill>
                  <a:srgbClr val="202124"/>
                </a:solidFill>
                <a:latin typeface="Pretendard"/>
              </a:rPr>
              <a:t>불균형</a:t>
            </a:r>
            <a:endParaRPr sz="950" b="0" i="0" dirty="0">
              <a:solidFill>
                <a:srgbClr val="202124"/>
              </a:solidFill>
              <a:latin typeface="Pretendard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2761488" y="4700016"/>
            <a:ext cx="3291840" cy="292608"/>
          </a:xfrm>
          <a:prstGeom prst="rect">
            <a:avLst/>
          </a:prstGeom>
          <a:noFill/>
          <a:ln w="508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807208" y="4736592"/>
            <a:ext cx="3218688" cy="2194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950" b="0" i="0">
                <a:solidFill>
                  <a:srgbClr val="202124"/>
                </a:solidFill>
                <a:latin typeface="Pretendard"/>
              </a:rPr>
              <a:t>반지도 Autoencoder (정상만 학습)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4992624"/>
            <a:ext cx="2194560" cy="292608"/>
          </a:xfrm>
          <a:prstGeom prst="rect">
            <a:avLst/>
          </a:prstGeom>
          <a:noFill/>
          <a:ln w="508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12648" y="5029200"/>
            <a:ext cx="2121408" cy="2194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950" b="0" i="0">
                <a:solidFill>
                  <a:srgbClr val="202124"/>
                </a:solidFill>
                <a:latin typeface="Pretendard"/>
              </a:rPr>
              <a:t>불량 39 소표본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61488" y="4992624"/>
            <a:ext cx="3291840" cy="292608"/>
          </a:xfrm>
          <a:prstGeom prst="rect">
            <a:avLst/>
          </a:prstGeom>
          <a:noFill/>
          <a:ln w="508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807208" y="5029200"/>
            <a:ext cx="3218688" cy="2194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950" b="0" i="0">
                <a:solidFill>
                  <a:srgbClr val="202124"/>
                </a:solidFill>
                <a:latin typeface="Pretendard"/>
              </a:rPr>
              <a:t>Bootstrap CI + Cross-Machine 외부 검증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5285232"/>
            <a:ext cx="2194560" cy="292608"/>
          </a:xfrm>
          <a:prstGeom prst="rect">
            <a:avLst/>
          </a:prstGeom>
          <a:noFill/>
          <a:ln w="508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12648" y="5321808"/>
            <a:ext cx="2121408" cy="2194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950" b="0" i="0">
                <a:solidFill>
                  <a:srgbClr val="202124"/>
                </a:solidFill>
                <a:latin typeface="Pretendard"/>
              </a:rPr>
              <a:t>AE 단독 false negative 13건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61488" y="5285232"/>
            <a:ext cx="3291840" cy="292608"/>
          </a:xfrm>
          <a:prstGeom prst="rect">
            <a:avLst/>
          </a:prstGeom>
          <a:noFill/>
          <a:ln w="508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807208" y="5321808"/>
            <a:ext cx="3218688" cy="2194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950" b="0" i="0">
                <a:solidFill>
                  <a:srgbClr val="202124"/>
                </a:solidFill>
                <a:latin typeface="Pretendard"/>
              </a:rPr>
              <a:t>다중 AI 합의 → 8건 (-38%)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5577840"/>
            <a:ext cx="2194560" cy="292608"/>
          </a:xfrm>
          <a:prstGeom prst="rect">
            <a:avLst/>
          </a:prstGeom>
          <a:noFill/>
          <a:ln w="508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12648" y="5614416"/>
            <a:ext cx="2121408" cy="2194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950" b="0" i="0">
                <a:solidFill>
                  <a:srgbClr val="202124"/>
                </a:solidFill>
                <a:latin typeface="Pretendard"/>
              </a:rPr>
              <a:t>Streamlit 실시간 한계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61488" y="5577840"/>
            <a:ext cx="3291840" cy="292608"/>
          </a:xfrm>
          <a:prstGeom prst="rect">
            <a:avLst/>
          </a:prstGeom>
          <a:noFill/>
          <a:ln w="508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807208" y="5614416"/>
            <a:ext cx="3218688" cy="2194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950" b="0" i="0">
                <a:solidFill>
                  <a:srgbClr val="202124"/>
                </a:solidFill>
                <a:latin typeface="Pretendard"/>
              </a:rPr>
              <a:t>LIVE 디지털 트윈 → 본선 OPC-UA 전환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0" y="4096512"/>
            <a:ext cx="101600" cy="164592"/>
          </a:xfrm>
          <a:prstGeom prst="rect">
            <a:avLst/>
          </a:prstGeom>
          <a:solidFill>
            <a:srgbClr val="3C7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382512" y="4023360"/>
            <a:ext cx="5303520" cy="21031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200" b="1" i="0" dirty="0">
                <a:solidFill>
                  <a:schemeClr val="tx1"/>
                </a:solidFill>
                <a:latin typeface="Pretendard"/>
              </a:rPr>
              <a:t>4. </a:t>
            </a:r>
            <a:r>
              <a:rPr sz="1200" b="1" i="0" dirty="0" err="1">
                <a:solidFill>
                  <a:schemeClr val="tx1"/>
                </a:solidFill>
                <a:latin typeface="Pretendard"/>
              </a:rPr>
              <a:t>학술</a:t>
            </a:r>
            <a:r>
              <a:rPr sz="1200" b="1" i="0" dirty="0">
                <a:solidFill>
                  <a:schemeClr val="tx1"/>
                </a:solidFill>
                <a:latin typeface="Pretendard"/>
              </a:rPr>
              <a:t> </a:t>
            </a:r>
            <a:r>
              <a:rPr sz="1200" b="1" i="0" dirty="0" err="1">
                <a:solidFill>
                  <a:schemeClr val="tx1"/>
                </a:solidFill>
                <a:latin typeface="Pretendard"/>
              </a:rPr>
              <a:t>레퍼런스</a:t>
            </a:r>
            <a:r>
              <a:rPr sz="1200" b="1" i="0" dirty="0">
                <a:solidFill>
                  <a:schemeClr val="tx1"/>
                </a:solidFill>
                <a:latin typeface="Pretendard"/>
              </a:rPr>
              <a:t> 7개 · </a:t>
            </a:r>
            <a:r>
              <a:rPr sz="1200" b="1" i="0" dirty="0" err="1">
                <a:solidFill>
                  <a:schemeClr val="tx1"/>
                </a:solidFill>
                <a:latin typeface="Pretendard"/>
              </a:rPr>
              <a:t>차별화</a:t>
            </a:r>
            <a:r>
              <a:rPr sz="1200" b="1" i="0" dirty="0">
                <a:solidFill>
                  <a:schemeClr val="tx1"/>
                </a:solidFill>
                <a:latin typeface="Pretendard"/>
              </a:rPr>
              <a:t> 4가지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17920" y="4407408"/>
            <a:ext cx="5486400" cy="1371600"/>
          </a:xfrm>
          <a:prstGeom prst="rect">
            <a:avLst/>
          </a:prstGeom>
          <a:solidFill>
            <a:srgbClr val="F5F8FD"/>
          </a:solidFill>
          <a:ln w="635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327648" y="4462272"/>
            <a:ext cx="5303520" cy="132588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20000"/>
              </a:lnSpc>
            </a:pPr>
            <a:r>
              <a:rPr sz="950" b="0" i="0" dirty="0">
                <a:solidFill>
                  <a:srgbClr val="202124"/>
                </a:solidFill>
                <a:latin typeface="Pretendard"/>
              </a:rPr>
              <a:t>① MDPI Processes 13(3), 912 (2025) — KAMP </a:t>
            </a:r>
            <a:r>
              <a:rPr sz="950" b="0" i="0" dirty="0" err="1">
                <a:solidFill>
                  <a:srgbClr val="202124"/>
                </a:solidFill>
                <a:latin typeface="Pretendard"/>
              </a:rPr>
              <a:t>직접</a:t>
            </a:r>
            <a:r>
              <a:rPr sz="950" b="0" i="0" dirty="0">
                <a:solidFill>
                  <a:srgbClr val="202124"/>
                </a:solidFill>
                <a:latin typeface="Pretendard"/>
              </a:rPr>
              <a:t> </a:t>
            </a:r>
            <a:r>
              <a:rPr sz="950" b="0" i="0" dirty="0" err="1">
                <a:solidFill>
                  <a:srgbClr val="202124"/>
                </a:solidFill>
                <a:latin typeface="Pretendard"/>
              </a:rPr>
              <a:t>비교</a:t>
            </a:r>
            <a:endParaRPr sz="950" b="0" i="0" dirty="0">
              <a:solidFill>
                <a:srgbClr val="202124"/>
              </a:solidFill>
              <a:latin typeface="Pretendard"/>
            </a:endParaRPr>
          </a:p>
          <a:p>
            <a:pPr>
              <a:lnSpc>
                <a:spcPct val="120000"/>
              </a:lnSpc>
            </a:pPr>
            <a:r>
              <a:rPr sz="950" b="0" i="0" dirty="0">
                <a:solidFill>
                  <a:srgbClr val="202124"/>
                </a:solidFill>
                <a:latin typeface="Pretendard"/>
              </a:rPr>
              <a:t>② arXiv:2511.08108 (2025) — LSTM+SHAP F1 0.92</a:t>
            </a:r>
          </a:p>
          <a:p>
            <a:pPr>
              <a:lnSpc>
                <a:spcPct val="120000"/>
              </a:lnSpc>
            </a:pPr>
            <a:r>
              <a:rPr sz="950" b="0" i="0" dirty="0">
                <a:solidFill>
                  <a:srgbClr val="202124"/>
                </a:solidFill>
                <a:latin typeface="Pretendard"/>
              </a:rPr>
              <a:t>③ Brito MAKE 6(1), 16 (2024) — SHAP </a:t>
            </a:r>
            <a:r>
              <a:rPr sz="950" b="0" i="0" dirty="0" err="1">
                <a:solidFill>
                  <a:srgbClr val="202124"/>
                </a:solidFill>
                <a:latin typeface="Pretendard"/>
              </a:rPr>
              <a:t>베어링</a:t>
            </a:r>
            <a:r>
              <a:rPr sz="950" b="0" i="0" dirty="0">
                <a:solidFill>
                  <a:srgbClr val="202124"/>
                </a:solidFill>
                <a:latin typeface="Pretendard"/>
              </a:rPr>
              <a:t> 98.5%</a:t>
            </a:r>
          </a:p>
          <a:p>
            <a:pPr>
              <a:lnSpc>
                <a:spcPct val="120000"/>
              </a:lnSpc>
            </a:pPr>
            <a:r>
              <a:rPr sz="950" b="0" i="0" dirty="0">
                <a:solidFill>
                  <a:srgbClr val="202124"/>
                </a:solidFill>
                <a:latin typeface="Pretendard"/>
              </a:rPr>
              <a:t>④ </a:t>
            </a:r>
            <a:r>
              <a:rPr sz="950" b="0" i="0" dirty="0" err="1">
                <a:solidFill>
                  <a:srgbClr val="202124"/>
                </a:solidFill>
                <a:latin typeface="Pretendard"/>
              </a:rPr>
              <a:t>PhysiCausalNet</a:t>
            </a:r>
            <a:r>
              <a:rPr sz="950" b="0" i="0" dirty="0">
                <a:solidFill>
                  <a:srgbClr val="202124"/>
                </a:solidFill>
                <a:latin typeface="Pretendard"/>
              </a:rPr>
              <a:t> IEEE TII (2024) — Cross-Machine</a:t>
            </a:r>
          </a:p>
          <a:p>
            <a:pPr>
              <a:lnSpc>
                <a:spcPct val="120000"/>
              </a:lnSpc>
            </a:pPr>
            <a:r>
              <a:rPr sz="950" b="0" i="0" dirty="0">
                <a:solidFill>
                  <a:srgbClr val="202124"/>
                </a:solidFill>
                <a:latin typeface="Pretendard"/>
              </a:rPr>
              <a:t>⑤ EWAD-</a:t>
            </a:r>
            <a:r>
              <a:rPr sz="950" b="0" i="0" dirty="0" err="1">
                <a:solidFill>
                  <a:srgbClr val="202124"/>
                </a:solidFill>
                <a:latin typeface="Pretendard"/>
              </a:rPr>
              <a:t>IIoT</a:t>
            </a:r>
            <a:r>
              <a:rPr sz="950" b="0" i="0" dirty="0">
                <a:solidFill>
                  <a:srgbClr val="202124"/>
                </a:solidFill>
                <a:latin typeface="Pretendard"/>
              </a:rPr>
              <a:t> WGAN (Sci. Rep. 2025) — Bootstrap CI</a:t>
            </a:r>
          </a:p>
          <a:p>
            <a:pPr>
              <a:lnSpc>
                <a:spcPct val="120000"/>
              </a:lnSpc>
            </a:pPr>
            <a:r>
              <a:rPr sz="950" b="0" i="0" dirty="0">
                <a:solidFill>
                  <a:srgbClr val="202124"/>
                </a:solidFill>
                <a:latin typeface="Pretendard"/>
              </a:rPr>
              <a:t>⑥ Survey arXiv:2503.13195 (2025) — Deep AD</a:t>
            </a:r>
          </a:p>
          <a:p>
            <a:pPr>
              <a:lnSpc>
                <a:spcPct val="120000"/>
              </a:lnSpc>
            </a:pPr>
            <a:r>
              <a:rPr sz="950" b="0" i="0" dirty="0">
                <a:solidFill>
                  <a:srgbClr val="202124"/>
                </a:solidFill>
                <a:latin typeface="Pretendard"/>
              </a:rPr>
              <a:t>⑦ Ketonen IEEE ICPS (2021) — VAE+RNN root-cause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17920" y="5852160"/>
            <a:ext cx="5486400" cy="457200"/>
          </a:xfrm>
          <a:prstGeom prst="rect">
            <a:avLst/>
          </a:prstGeom>
          <a:solidFill>
            <a:srgbClr val="3C7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309360" y="5943600"/>
            <a:ext cx="5303520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Pretendard"/>
              </a:rPr>
              <a:t>차별화 ① 공개 KAMP  ② 비지도+KernelSHAP  ③ Cross-Machine+CI  ④ 24개 처방 통합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C5F2F-DE76-5319-E068-14743C84C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9AE7259-26F0-06A2-EAF0-0D348222D14B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2" name="Google Shape;99;p2">
            <a:extLst>
              <a:ext uri="{FF2B5EF4-FFF2-40B4-BE49-F238E27FC236}">
                <a16:creationId xmlns:a16="http://schemas.microsoft.com/office/drawing/2014/main" id="{084726C7-DE11-80A0-7DC0-A7AA122EF941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4C676688-A4F9-28A5-585E-15C4791A36ED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5.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시나리오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/</a:t>
            </a:r>
            <a:r>
              <a:rPr lang="ko-KR" altLang="en-US" sz="13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유즈케이스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(User Case)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" name="Google Shape;105;p2">
            <a:extLst>
              <a:ext uri="{FF2B5EF4-FFF2-40B4-BE49-F238E27FC236}">
                <a16:creationId xmlns:a16="http://schemas.microsoft.com/office/drawing/2014/main" id="{9FEEE123-BAF0-A0FD-15FF-1DB31311C4F2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8" name="Google Shape;92;p1">
            <a:extLst>
              <a:ext uri="{FF2B5EF4-FFF2-40B4-BE49-F238E27FC236}">
                <a16:creationId xmlns:a16="http://schemas.microsoft.com/office/drawing/2014/main" id="{FD89DB19-FF6A-0CDA-AF62-F36E28F99C4D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15547"/>
            <a:ext cx="1007955" cy="35340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41C89922-1506-2D6C-C1C7-A35B619FBB4A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03726A74-16E1-92E8-6C23-4217F6189B6D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6B6FD35-8911-88CB-877F-E612391C583D}"/>
              </a:ext>
            </a:extLst>
          </p:cNvPr>
          <p:cNvSpPr txBox="1"/>
          <p:nvPr/>
        </p:nvSpPr>
        <p:spPr>
          <a:xfrm>
            <a:off x="939333" y="1189703"/>
            <a:ext cx="42190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5. </a:t>
            </a:r>
            <a:r>
              <a:rPr lang="ko-KR" altLang="en-US" dirty="0">
                <a:latin typeface="+mj-ea"/>
                <a:ea typeface="+mj-ea"/>
              </a:rPr>
              <a:t>사용자 시나리오</a:t>
            </a:r>
            <a:r>
              <a:rPr lang="en-US" altLang="ko-KR" dirty="0">
                <a:latin typeface="+mj-ea"/>
                <a:ea typeface="+mj-ea"/>
              </a:rPr>
              <a:t>/</a:t>
            </a:r>
            <a:r>
              <a:rPr lang="ko-KR" altLang="en-US" dirty="0" err="1">
                <a:latin typeface="+mj-ea"/>
                <a:ea typeface="+mj-ea"/>
              </a:rPr>
              <a:t>유즈케이스</a:t>
            </a:r>
            <a:r>
              <a:rPr lang="ko-KR" altLang="en-US" dirty="0">
                <a:latin typeface="+mj-ea"/>
                <a:ea typeface="+mj-ea"/>
              </a:rPr>
              <a:t> </a:t>
            </a:r>
            <a:r>
              <a:rPr lang="en-US" altLang="ko-KR" dirty="0">
                <a:latin typeface="+mj-ea"/>
                <a:ea typeface="+mj-ea"/>
              </a:rPr>
              <a:t>(User Case)</a:t>
            </a:r>
            <a:endParaRPr lang="ko-KR" altLang="en-US" dirty="0">
              <a:latin typeface="+mj-ea"/>
              <a:ea typeface="+mj-ea"/>
            </a:endParaRPr>
          </a:p>
        </p:txBody>
      </p:sp>
      <p:pic>
        <p:nvPicPr>
          <p:cNvPr id="4" name="Picture 2" descr="차세대융합기술연구원, 반도체 부품 국산화 위한 기술 실증 지원사업 참여 기업 모집 &gt; 뉴스 | CIOCISO">
            <a:extLst>
              <a:ext uri="{FF2B5EF4-FFF2-40B4-BE49-F238E27FC236}">
                <a16:creationId xmlns:a16="http://schemas.microsoft.com/office/drawing/2014/main" id="{05126979-E795-B5FD-2861-875755BE23F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34" b="35256"/>
          <a:stretch>
            <a:fillRect/>
          </a:stretch>
        </p:blipFill>
        <p:spPr bwMode="auto">
          <a:xfrm>
            <a:off x="9298782" y="6434300"/>
            <a:ext cx="1555879" cy="33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Google Shape;100;p2">
            <a:extLst>
              <a:ext uri="{FF2B5EF4-FFF2-40B4-BE49-F238E27FC236}">
                <a16:creationId xmlns:a16="http://schemas.microsoft.com/office/drawing/2014/main" id="{0AF01168-01B8-DC74-BCBE-D88540B8F2E5}"/>
              </a:ext>
            </a:extLst>
          </p:cNvPr>
          <p:cNvSpPr txBox="1"/>
          <p:nvPr/>
        </p:nvSpPr>
        <p:spPr>
          <a:xfrm>
            <a:off x="8775865" y="229867"/>
            <a:ext cx="3044336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스마트 공장 운영 시스템 </a:t>
            </a: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MVP 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 </a:t>
            </a:r>
            <a:r>
              <a:rPr lang="ko-KR" altLang="en-US" sz="1000" b="1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해커톤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66928" y="1764792"/>
            <a:ext cx="101600" cy="164592"/>
          </a:xfrm>
          <a:prstGeom prst="rect">
            <a:avLst/>
          </a:prstGeom>
          <a:solidFill>
            <a:srgbClr val="3C7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1691640"/>
            <a:ext cx="10954512" cy="21031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200" b="1" i="0" dirty="0">
                <a:solidFill>
                  <a:schemeClr val="tx1"/>
                </a:solidFill>
                <a:latin typeface="Pretendard"/>
              </a:rPr>
              <a:t>1. </a:t>
            </a:r>
            <a:r>
              <a:rPr sz="1200" b="1" i="0" dirty="0" err="1">
                <a:solidFill>
                  <a:schemeClr val="tx1"/>
                </a:solidFill>
                <a:latin typeface="Pretendard"/>
              </a:rPr>
              <a:t>주요</a:t>
            </a:r>
            <a:r>
              <a:rPr sz="1200" b="1" i="0" dirty="0">
                <a:solidFill>
                  <a:schemeClr val="tx1"/>
                </a:solidFill>
                <a:latin typeface="Pretendard"/>
              </a:rPr>
              <a:t> </a:t>
            </a:r>
            <a:r>
              <a:rPr sz="1200" b="1" i="0" dirty="0" err="1">
                <a:solidFill>
                  <a:schemeClr val="tx1"/>
                </a:solidFill>
                <a:latin typeface="Pretendard"/>
              </a:rPr>
              <a:t>사용자</a:t>
            </a:r>
            <a:r>
              <a:rPr sz="1200" b="1" i="0" dirty="0">
                <a:solidFill>
                  <a:schemeClr val="tx1"/>
                </a:solidFill>
                <a:latin typeface="Pretendard"/>
              </a:rPr>
              <a:t> — </a:t>
            </a:r>
            <a:r>
              <a:rPr sz="1200" b="1" i="0" dirty="0" err="1">
                <a:solidFill>
                  <a:schemeClr val="tx1"/>
                </a:solidFill>
                <a:latin typeface="Pretendard"/>
              </a:rPr>
              <a:t>공장</a:t>
            </a:r>
            <a:r>
              <a:rPr sz="1200" b="1" i="0" dirty="0">
                <a:solidFill>
                  <a:schemeClr val="tx1"/>
                </a:solidFill>
                <a:latin typeface="Pretendard"/>
              </a:rPr>
              <a:t> </a:t>
            </a:r>
            <a:r>
              <a:rPr sz="1200" b="1" i="0" dirty="0" err="1">
                <a:solidFill>
                  <a:schemeClr val="tx1"/>
                </a:solidFill>
                <a:latin typeface="Pretendard"/>
              </a:rPr>
              <a:t>운영</a:t>
            </a:r>
            <a:r>
              <a:rPr sz="1200" b="1" i="0" dirty="0">
                <a:solidFill>
                  <a:schemeClr val="tx1"/>
                </a:solidFill>
                <a:latin typeface="Pretendard"/>
              </a:rPr>
              <a:t> 3계층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057400"/>
            <a:ext cx="3657600" cy="868680"/>
          </a:xfrm>
          <a:prstGeom prst="rect">
            <a:avLst/>
          </a:prstGeom>
          <a:solidFill>
            <a:srgbClr val="F5F8FD"/>
          </a:solidFill>
          <a:ln w="635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66928" y="2057400"/>
            <a:ext cx="3657600" cy="274320"/>
          </a:xfrm>
          <a:prstGeom prst="rect">
            <a:avLst/>
          </a:prstGeom>
          <a:solidFill>
            <a:srgbClr val="3C7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6656" y="2084832"/>
            <a:ext cx="3474720" cy="2194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retendard"/>
              </a:rPr>
              <a:t>작업자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27248" y="2084832"/>
            <a:ext cx="1005840" cy="2194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/>
            <a:r>
              <a:rPr sz="950" b="1" i="0">
                <a:solidFill>
                  <a:srgbClr val="FFFFFF"/>
                </a:solidFill>
                <a:latin typeface="Pretendard"/>
              </a:rPr>
              <a:t>상시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" y="2386584"/>
            <a:ext cx="3474720" cy="22860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000" b="0" i="0" dirty="0" err="1">
                <a:solidFill>
                  <a:srgbClr val="202124"/>
                </a:solidFill>
                <a:latin typeface="Pretendard"/>
              </a:rPr>
              <a:t>사출성형</a:t>
            </a:r>
            <a:r>
              <a:rPr sz="1000" b="0" i="0" dirty="0">
                <a:solidFill>
                  <a:srgbClr val="202124"/>
                </a:solidFill>
                <a:latin typeface="Pretendard"/>
              </a:rPr>
              <a:t> 3교대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" y="2624328"/>
            <a:ext cx="3474720" cy="22860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950" b="0" i="1">
                <a:solidFill>
                  <a:srgbClr val="3C7CDE"/>
                </a:solidFill>
                <a:latin typeface="Pretendard"/>
              </a:rPr>
              <a:t>▸ 실시간 진단 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06824" y="2057400"/>
            <a:ext cx="3657600" cy="868680"/>
          </a:xfrm>
          <a:prstGeom prst="rect">
            <a:avLst/>
          </a:prstGeom>
          <a:solidFill>
            <a:srgbClr val="F5F8FD"/>
          </a:solidFill>
          <a:ln w="635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306824" y="2057400"/>
            <a:ext cx="3657600" cy="274320"/>
          </a:xfrm>
          <a:prstGeom prst="rect">
            <a:avLst/>
          </a:prstGeom>
          <a:solidFill>
            <a:srgbClr val="3C7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16552" y="2084832"/>
            <a:ext cx="3474720" cy="2194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retendard"/>
              </a:rPr>
              <a:t>반장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67144" y="2084832"/>
            <a:ext cx="1005840" cy="2194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/>
            <a:r>
              <a:rPr sz="950" b="1" i="0">
                <a:solidFill>
                  <a:srgbClr val="FFFFFF"/>
                </a:solidFill>
                <a:latin typeface="Pretendard"/>
              </a:rPr>
              <a:t>매 교대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16552" y="2386584"/>
            <a:ext cx="3474720" cy="22860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000" b="0" i="0">
                <a:solidFill>
                  <a:srgbClr val="202124"/>
                </a:solidFill>
                <a:latin typeface="Pretendard"/>
              </a:rPr>
              <a:t>라인 관리자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16552" y="2624328"/>
            <a:ext cx="3474720" cy="22860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950" b="0" i="1">
                <a:solidFill>
                  <a:srgbClr val="3C7CDE"/>
                </a:solidFill>
                <a:latin typeface="Pretendard"/>
              </a:rPr>
              <a:t>▸ 실시간 진단 + 알람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46720" y="2057400"/>
            <a:ext cx="3657600" cy="868680"/>
          </a:xfrm>
          <a:prstGeom prst="rect">
            <a:avLst/>
          </a:prstGeom>
          <a:solidFill>
            <a:srgbClr val="F5F8FD"/>
          </a:solidFill>
          <a:ln w="635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046720" y="2057400"/>
            <a:ext cx="3657600" cy="274320"/>
          </a:xfrm>
          <a:prstGeom prst="rect">
            <a:avLst/>
          </a:prstGeom>
          <a:solidFill>
            <a:srgbClr val="3C7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156448" y="2084832"/>
            <a:ext cx="3474720" cy="2194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retendard"/>
              </a:rPr>
              <a:t>부서장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0" y="2084832"/>
            <a:ext cx="1005840" cy="2194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/>
            <a:r>
              <a:rPr sz="950" b="1" i="0">
                <a:solidFill>
                  <a:srgbClr val="FFFFFF"/>
                </a:solidFill>
                <a:latin typeface="Pretendard"/>
              </a:rPr>
              <a:t>일·월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56448" y="2386584"/>
            <a:ext cx="3474720" cy="22860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000" b="0" i="0">
                <a:solidFill>
                  <a:srgbClr val="202124"/>
                </a:solidFill>
                <a:latin typeface="Pretendard"/>
              </a:rPr>
              <a:t>생산기술 부서장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56448" y="2624328"/>
            <a:ext cx="3474720" cy="22860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950" b="0" i="1">
                <a:solidFill>
                  <a:srgbClr val="3C7CDE"/>
                </a:solidFill>
                <a:latin typeface="Pretendard"/>
              </a:rPr>
              <a:t>▸ 생산 이력 + 일일 리포트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3136392"/>
            <a:ext cx="101600" cy="164592"/>
          </a:xfrm>
          <a:prstGeom prst="rect">
            <a:avLst/>
          </a:prstGeom>
          <a:solidFill>
            <a:srgbClr val="3C7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1520" y="3063240"/>
            <a:ext cx="10954512" cy="21031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200" b="1" i="0">
                <a:solidFill>
                  <a:schemeClr val="tx1"/>
                </a:solidFill>
                <a:latin typeface="Pretendard"/>
              </a:rPr>
              <a:t>2. 사용자별 행동 흐름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3447288"/>
            <a:ext cx="11137392" cy="256032"/>
          </a:xfrm>
          <a:prstGeom prst="rect">
            <a:avLst/>
          </a:prstGeom>
          <a:solidFill>
            <a:srgbClr val="F5F8FD"/>
          </a:solidFill>
          <a:ln w="508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8368" y="3474720"/>
            <a:ext cx="731520" cy="2011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000" b="1" i="0">
                <a:solidFill>
                  <a:srgbClr val="3C7CDE"/>
                </a:solidFill>
                <a:latin typeface="Pretendard"/>
              </a:rPr>
              <a:t>작업자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81328" y="3474720"/>
            <a:ext cx="10149840" cy="2011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950" b="0" i="0">
                <a:solidFill>
                  <a:srgbClr val="202124"/>
                </a:solidFill>
                <a:latin typeface="Pretendard"/>
              </a:rPr>
              <a:t>센서 모니터 → 이상 알람 → SHAP 원인 확인 → 처방 카드 → 조치 → 이력 기록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" y="3739896"/>
            <a:ext cx="11137392" cy="256032"/>
          </a:xfrm>
          <a:prstGeom prst="rect">
            <a:avLst/>
          </a:prstGeom>
          <a:solidFill>
            <a:srgbClr val="F5F8FD"/>
          </a:solidFill>
          <a:ln w="508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58368" y="3767328"/>
            <a:ext cx="731520" cy="2011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000" b="1" i="0">
                <a:solidFill>
                  <a:srgbClr val="3C7CDE"/>
                </a:solidFill>
                <a:latin typeface="Pretendard"/>
              </a:rPr>
              <a:t>반장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81328" y="3767328"/>
            <a:ext cx="10149840" cy="2011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950" b="0" i="0">
                <a:solidFill>
                  <a:srgbClr val="202124"/>
                </a:solidFill>
                <a:latin typeface="Pretendard"/>
              </a:rPr>
              <a:t>교대 시작 → 이력 50건 확인 → 심각도 분포 점검 → CSV 다운로드 → 인수인계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8" y="4032504"/>
            <a:ext cx="11137392" cy="256032"/>
          </a:xfrm>
          <a:prstGeom prst="rect">
            <a:avLst/>
          </a:prstGeom>
          <a:solidFill>
            <a:srgbClr val="F5F8FD"/>
          </a:solidFill>
          <a:ln w="508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58368" y="4059936"/>
            <a:ext cx="731520" cy="2011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000" b="1" i="0">
                <a:solidFill>
                  <a:srgbClr val="3C7CDE"/>
                </a:solidFill>
                <a:latin typeface="Pretendard"/>
              </a:rPr>
              <a:t>부서장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81328" y="4059936"/>
            <a:ext cx="10149840" cy="2011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950" b="0" i="0">
                <a:solidFill>
                  <a:srgbClr val="202124"/>
                </a:solidFill>
                <a:latin typeface="Pretendard"/>
              </a:rPr>
              <a:t>일일 리포트(MD) 수신 → 이상률 트렌드 → 장비 건강도 → 정비 권고 → 월 KPI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28" y="4434840"/>
            <a:ext cx="101600" cy="164592"/>
          </a:xfrm>
          <a:prstGeom prst="rect">
            <a:avLst/>
          </a:prstGeom>
          <a:solidFill>
            <a:srgbClr val="3C7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31520" y="4361688"/>
            <a:ext cx="10954512" cy="21031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200" b="1" i="0" dirty="0">
                <a:solidFill>
                  <a:schemeClr val="tx1"/>
                </a:solidFill>
                <a:latin typeface="Pretendard"/>
              </a:rPr>
              <a:t>3. </a:t>
            </a:r>
            <a:r>
              <a:rPr sz="1200" b="1" i="0" dirty="0" err="1">
                <a:solidFill>
                  <a:schemeClr val="tx1"/>
                </a:solidFill>
                <a:latin typeface="Pretendard"/>
              </a:rPr>
              <a:t>대표</a:t>
            </a:r>
            <a:r>
              <a:rPr sz="1200" b="1" i="0" dirty="0">
                <a:solidFill>
                  <a:schemeClr val="tx1"/>
                </a:solidFill>
                <a:latin typeface="Pretendard"/>
              </a:rPr>
              <a:t> </a:t>
            </a:r>
            <a:r>
              <a:rPr sz="1200" b="1" i="0" dirty="0" err="1">
                <a:solidFill>
                  <a:schemeClr val="tx1"/>
                </a:solidFill>
                <a:latin typeface="Pretendard"/>
              </a:rPr>
              <a:t>시나리오</a:t>
            </a:r>
            <a:r>
              <a:rPr sz="1200" b="1" i="0" dirty="0">
                <a:solidFill>
                  <a:schemeClr val="tx1"/>
                </a:solidFill>
                <a:latin typeface="Pretendard"/>
              </a:rPr>
              <a:t> 4종 (</a:t>
            </a:r>
            <a:r>
              <a:rPr sz="1200" b="1" i="0" dirty="0" err="1">
                <a:solidFill>
                  <a:schemeClr val="tx1"/>
                </a:solidFill>
                <a:latin typeface="Pretendard"/>
              </a:rPr>
              <a:t>사이드바</a:t>
            </a:r>
            <a:r>
              <a:rPr lang="en-US" sz="1200" b="1" dirty="0">
                <a:solidFill>
                  <a:schemeClr val="tx1"/>
                </a:solidFill>
                <a:latin typeface="Pretendard"/>
              </a:rPr>
              <a:t> LIVE </a:t>
            </a:r>
            <a:r>
              <a:rPr lang="ko-KR" altLang="en-US" sz="1200" b="1" dirty="0">
                <a:solidFill>
                  <a:schemeClr val="tx1"/>
                </a:solidFill>
                <a:latin typeface="Pretendard"/>
              </a:rPr>
              <a:t>버튼</a:t>
            </a:r>
            <a:r>
              <a:rPr sz="1200" b="1" i="0" dirty="0">
                <a:solidFill>
                  <a:schemeClr val="tx1"/>
                </a:solidFill>
                <a:latin typeface="Pretendard"/>
              </a:rPr>
              <a:t> </a:t>
            </a:r>
            <a:r>
              <a:rPr sz="1200" b="1" i="0" dirty="0" err="1">
                <a:solidFill>
                  <a:schemeClr val="tx1"/>
                </a:solidFill>
                <a:latin typeface="Pretendard"/>
              </a:rPr>
              <a:t>자동</a:t>
            </a:r>
            <a:r>
              <a:rPr sz="1200" b="1" i="0" dirty="0">
                <a:solidFill>
                  <a:schemeClr val="tx1"/>
                </a:solidFill>
                <a:latin typeface="Pretendard"/>
              </a:rPr>
              <a:t> </a:t>
            </a:r>
            <a:r>
              <a:rPr sz="1200" b="1" i="0" dirty="0" err="1">
                <a:solidFill>
                  <a:schemeClr val="tx1"/>
                </a:solidFill>
                <a:latin typeface="Pretendard"/>
              </a:rPr>
              <a:t>적용</a:t>
            </a:r>
            <a:r>
              <a:rPr sz="1200" b="1" i="0" dirty="0">
                <a:solidFill>
                  <a:schemeClr val="tx1"/>
                </a:solidFill>
                <a:latin typeface="Pretendard"/>
              </a:rPr>
              <a:t>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" y="4745736"/>
            <a:ext cx="2697480" cy="1188720"/>
          </a:xfrm>
          <a:prstGeom prst="rect">
            <a:avLst/>
          </a:prstGeom>
          <a:solidFill>
            <a:srgbClr val="F5F8FD"/>
          </a:solidFill>
          <a:ln w="15240">
            <a:solidFill>
              <a:srgbClr val="3C7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66928" y="4745736"/>
            <a:ext cx="2697480" cy="256032"/>
          </a:xfrm>
          <a:prstGeom prst="rect">
            <a:avLst/>
          </a:prstGeom>
          <a:solidFill>
            <a:srgbClr val="3C7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58368" y="4764024"/>
            <a:ext cx="2514600" cy="2194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Pretendard"/>
              </a:rPr>
              <a:t>S1 정상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8" y="5065776"/>
            <a:ext cx="2514600" cy="21945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900" b="1" i="0">
                <a:solidFill>
                  <a:srgbClr val="202124"/>
                </a:solidFill>
                <a:latin typeface="Pretendard"/>
              </a:rPr>
              <a:t>입력: 모든 센서 정상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8" y="5312664"/>
            <a:ext cx="2514600" cy="21945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900" b="1" i="0">
                <a:solidFill>
                  <a:srgbClr val="3C7CDE"/>
                </a:solidFill>
                <a:latin typeface="Pretendard"/>
              </a:rPr>
              <a:t>AI: NORMAL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8" y="5568696"/>
            <a:ext cx="2514600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850" b="0" i="0">
                <a:solidFill>
                  <a:srgbClr val="5F6668"/>
                </a:solidFill>
                <a:latin typeface="Pretendard"/>
              </a:rPr>
              <a:t>조치: 운영 유지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328416" y="4745736"/>
            <a:ext cx="2697480" cy="1188720"/>
          </a:xfrm>
          <a:prstGeom prst="rect">
            <a:avLst/>
          </a:prstGeom>
          <a:solidFill>
            <a:srgbClr val="F5F8FD"/>
          </a:solidFill>
          <a:ln w="15240">
            <a:solidFill>
              <a:srgbClr val="3C7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3328416" y="4745736"/>
            <a:ext cx="2697480" cy="256032"/>
          </a:xfrm>
          <a:prstGeom prst="rect">
            <a:avLst/>
          </a:prstGeom>
          <a:solidFill>
            <a:srgbClr val="3C7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419856" y="4764024"/>
            <a:ext cx="2514600" cy="2194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Pretendard"/>
              </a:rPr>
              <a:t>S2 경고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419856" y="5065776"/>
            <a:ext cx="2514600" cy="16414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r>
              <a:rPr lang="ko-KR" altLang="en-US" sz="900" b="1" i="0" dirty="0">
                <a:solidFill>
                  <a:srgbClr val="202124"/>
                </a:solidFill>
                <a:latin typeface="Pretendard"/>
              </a:rPr>
              <a:t>예시 </a:t>
            </a:r>
            <a:r>
              <a:rPr sz="900" b="1" i="0" dirty="0" err="1">
                <a:solidFill>
                  <a:srgbClr val="202124"/>
                </a:solidFill>
                <a:latin typeface="Pretendard"/>
              </a:rPr>
              <a:t>입력</a:t>
            </a:r>
            <a:r>
              <a:rPr sz="900" b="1" i="0" dirty="0">
                <a:solidFill>
                  <a:srgbClr val="202124"/>
                </a:solidFill>
                <a:latin typeface="Pretendard"/>
              </a:rPr>
              <a:t>: </a:t>
            </a:r>
            <a:r>
              <a:rPr lang="en-US" altLang="ko-KR" sz="900" b="1" dirty="0" err="1">
                <a:latin typeface="Pretendard"/>
              </a:rPr>
              <a:t>Max_Injection_Speed</a:t>
            </a:r>
            <a:r>
              <a:rPr lang="en-US" altLang="ko-KR" sz="900" b="1" dirty="0">
                <a:latin typeface="Pretendard"/>
              </a:rPr>
              <a:t> −2.75</a:t>
            </a:r>
            <a:r>
              <a:rPr lang="el-GR" altLang="ko-KR" sz="900" b="1" dirty="0">
                <a:latin typeface="Pretendard"/>
              </a:rPr>
              <a:t>σ</a:t>
            </a:r>
            <a:endParaRPr sz="900" b="1" i="0" dirty="0">
              <a:solidFill>
                <a:srgbClr val="202124"/>
              </a:solidFill>
              <a:latin typeface="Pretendard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3419856" y="5312664"/>
            <a:ext cx="2514600" cy="21945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900" b="1" i="0" dirty="0">
                <a:solidFill>
                  <a:srgbClr val="3C7CDE"/>
                </a:solidFill>
                <a:latin typeface="Pretendard"/>
              </a:rPr>
              <a:t>AI: WARNING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419856" y="5568696"/>
            <a:ext cx="2514600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850" b="0" i="0">
                <a:solidFill>
                  <a:srgbClr val="5F6668"/>
                </a:solidFill>
                <a:latin typeface="Pretendard"/>
              </a:rPr>
              <a:t>조치: 10분 내 재측정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89904" y="4745736"/>
            <a:ext cx="2697480" cy="1188720"/>
          </a:xfrm>
          <a:prstGeom prst="rect">
            <a:avLst/>
          </a:prstGeom>
          <a:solidFill>
            <a:srgbClr val="F5F8FD"/>
          </a:solidFill>
          <a:ln w="15240">
            <a:solidFill>
              <a:srgbClr val="D4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6089904" y="4745736"/>
            <a:ext cx="2697480" cy="256032"/>
          </a:xfrm>
          <a:prstGeom prst="rect">
            <a:avLst/>
          </a:prstGeom>
          <a:solidFill>
            <a:srgbClr val="D4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181344" y="4764024"/>
            <a:ext cx="2514600" cy="2194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Pretendard"/>
              </a:rPr>
              <a:t>S3 위험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181344" y="5065776"/>
            <a:ext cx="2514600" cy="16414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r>
              <a:rPr lang="ko-KR" altLang="en-US" sz="900" b="1" dirty="0">
                <a:solidFill>
                  <a:srgbClr val="202124"/>
                </a:solidFill>
                <a:latin typeface="Pretendard"/>
              </a:rPr>
              <a:t>예시 </a:t>
            </a:r>
            <a:r>
              <a:rPr sz="900" b="1" i="0" dirty="0" err="1">
                <a:solidFill>
                  <a:srgbClr val="202124"/>
                </a:solidFill>
                <a:latin typeface="Pretendard"/>
              </a:rPr>
              <a:t>입력</a:t>
            </a:r>
            <a:r>
              <a:rPr sz="900" b="1" i="0" dirty="0">
                <a:solidFill>
                  <a:srgbClr val="202124"/>
                </a:solidFill>
                <a:latin typeface="Pretendard"/>
              </a:rPr>
              <a:t>: </a:t>
            </a:r>
            <a:r>
              <a:rPr lang="en-US" altLang="ko-KR" sz="900" b="1" dirty="0" err="1">
                <a:latin typeface="Pretendard"/>
              </a:rPr>
              <a:t>Max_Injection_Speed</a:t>
            </a:r>
            <a:r>
              <a:rPr lang="en-US" altLang="ko-KR" sz="900" b="1" dirty="0">
                <a:latin typeface="Pretendard"/>
              </a:rPr>
              <a:t> +6.56</a:t>
            </a:r>
            <a:r>
              <a:rPr lang="el-GR" altLang="ko-KR" sz="900" b="1" dirty="0">
                <a:latin typeface="Pretendard"/>
              </a:rPr>
              <a:t>σ</a:t>
            </a:r>
            <a:endParaRPr sz="900" b="1" i="0" dirty="0">
              <a:solidFill>
                <a:srgbClr val="202124"/>
              </a:solidFill>
              <a:latin typeface="Pretendard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6181344" y="5312664"/>
            <a:ext cx="2514600" cy="21945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900" b="1" i="0" dirty="0">
                <a:solidFill>
                  <a:srgbClr val="D42121"/>
                </a:solidFill>
                <a:latin typeface="Pretendard"/>
              </a:rPr>
              <a:t>AI: DANGER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81344" y="5568696"/>
            <a:ext cx="2514600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850" b="0" i="0">
                <a:solidFill>
                  <a:srgbClr val="5F6668"/>
                </a:solidFill>
                <a:latin typeface="Pretendard"/>
              </a:rPr>
              <a:t>조치: 담당자 즉시 호출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851392" y="4745736"/>
            <a:ext cx="2697480" cy="1188720"/>
          </a:xfrm>
          <a:prstGeom prst="rect">
            <a:avLst/>
          </a:prstGeom>
          <a:solidFill>
            <a:srgbClr val="F5F8FD"/>
          </a:solidFill>
          <a:ln w="15240">
            <a:solidFill>
              <a:srgbClr val="D4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8851392" y="4745736"/>
            <a:ext cx="2697480" cy="256032"/>
          </a:xfrm>
          <a:prstGeom prst="rect">
            <a:avLst/>
          </a:prstGeom>
          <a:solidFill>
            <a:srgbClr val="D4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942832" y="4764024"/>
            <a:ext cx="2514600" cy="2194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Pretendard"/>
              </a:rPr>
              <a:t>S4 긴급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942832" y="5065776"/>
            <a:ext cx="2514600" cy="16414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r>
              <a:rPr lang="ko-KR" altLang="en-US" sz="900" b="1" i="0" dirty="0">
                <a:solidFill>
                  <a:srgbClr val="202124"/>
                </a:solidFill>
                <a:latin typeface="Pretendard"/>
              </a:rPr>
              <a:t>예시 </a:t>
            </a:r>
            <a:r>
              <a:rPr sz="900" b="1" i="0" dirty="0" err="1">
                <a:solidFill>
                  <a:srgbClr val="202124"/>
                </a:solidFill>
                <a:latin typeface="Pretendard"/>
              </a:rPr>
              <a:t>입력</a:t>
            </a:r>
            <a:r>
              <a:rPr sz="900" b="1" i="0" dirty="0">
                <a:solidFill>
                  <a:srgbClr val="202124"/>
                </a:solidFill>
                <a:latin typeface="Pretendard"/>
              </a:rPr>
              <a:t>:</a:t>
            </a:r>
            <a:r>
              <a:rPr lang="en-US" sz="900" b="1" i="0" dirty="0">
                <a:solidFill>
                  <a:srgbClr val="202124"/>
                </a:solidFill>
                <a:latin typeface="Pretendard"/>
              </a:rPr>
              <a:t> </a:t>
            </a:r>
            <a:r>
              <a:rPr lang="en-US" altLang="ko-KR" sz="900" b="1" dirty="0" err="1">
                <a:latin typeface="Pretendard"/>
              </a:rPr>
              <a:t>Max_Back_Pressure</a:t>
            </a:r>
            <a:r>
              <a:rPr lang="en-US" altLang="ko-KR" sz="900" b="1" dirty="0">
                <a:latin typeface="Pretendard"/>
              </a:rPr>
              <a:t> +8.45</a:t>
            </a:r>
            <a:r>
              <a:rPr lang="el-GR" altLang="ko-KR" sz="900" b="1" dirty="0">
                <a:latin typeface="Pretendard"/>
              </a:rPr>
              <a:t>σ</a:t>
            </a:r>
            <a:endParaRPr sz="900" b="1" i="0" dirty="0">
              <a:solidFill>
                <a:srgbClr val="202124"/>
              </a:solidFill>
              <a:latin typeface="Pretendard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8942832" y="5312664"/>
            <a:ext cx="2514600" cy="21945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900" b="1" i="0" dirty="0">
                <a:solidFill>
                  <a:srgbClr val="D42121"/>
                </a:solidFill>
                <a:latin typeface="Pretendard"/>
              </a:rPr>
              <a:t>AI: CRITICAL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942832" y="5568696"/>
            <a:ext cx="2514600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850" b="0" i="0">
                <a:solidFill>
                  <a:srgbClr val="5F6668"/>
                </a:solidFill>
                <a:latin typeface="Pretendard"/>
              </a:rPr>
              <a:t>조치: 라인 정지 검토</a:t>
            </a:r>
          </a:p>
        </p:txBody>
      </p:sp>
    </p:spTree>
    <p:extLst>
      <p:ext uri="{BB962C8B-B14F-4D97-AF65-F5344CB8AC3E}">
        <p14:creationId xmlns:p14="http://schemas.microsoft.com/office/powerpoint/2010/main" val="10187103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5E8FC-AF2C-579B-9590-CBF085597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809914A8-02ED-C312-A18A-F0400EE2D348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2" name="Google Shape;99;p2">
            <a:extLst>
              <a:ext uri="{FF2B5EF4-FFF2-40B4-BE49-F238E27FC236}">
                <a16:creationId xmlns:a16="http://schemas.microsoft.com/office/drawing/2014/main" id="{5AB79AF0-60D8-DAFD-ADA5-DCB0D1EDF471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16B1A2F3-666A-22BB-FF71-0DD83ECC923A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6.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MVP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구현 범위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(MVP Scope)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" name="Google Shape;105;p2">
            <a:extLst>
              <a:ext uri="{FF2B5EF4-FFF2-40B4-BE49-F238E27FC236}">
                <a16:creationId xmlns:a16="http://schemas.microsoft.com/office/drawing/2014/main" id="{89685848-AB8F-A36C-25D5-DC70B40222BD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8" name="Google Shape;92;p1">
            <a:extLst>
              <a:ext uri="{FF2B5EF4-FFF2-40B4-BE49-F238E27FC236}">
                <a16:creationId xmlns:a16="http://schemas.microsoft.com/office/drawing/2014/main" id="{34A7F8E4-A3AF-3E82-0313-AEF582DA229D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15547"/>
            <a:ext cx="1007955" cy="35340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497705F4-E4B5-B067-FB20-9054BFFE100D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DE9DE420-DE7B-8768-0FC1-D2BA97FE1AF7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A120F58-8315-85C3-52C9-14AFDA96469F}"/>
              </a:ext>
            </a:extLst>
          </p:cNvPr>
          <p:cNvSpPr txBox="1"/>
          <p:nvPr/>
        </p:nvSpPr>
        <p:spPr>
          <a:xfrm>
            <a:off x="939333" y="1189703"/>
            <a:ext cx="42190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6.</a:t>
            </a:r>
            <a:r>
              <a:rPr lang="ko-KR" altLang="en-US" dirty="0">
                <a:latin typeface="+mj-ea"/>
                <a:ea typeface="+mj-ea"/>
              </a:rPr>
              <a:t> </a:t>
            </a:r>
            <a:r>
              <a:rPr lang="en-US" altLang="ko-KR" dirty="0">
                <a:latin typeface="+mj-ea"/>
                <a:ea typeface="+mj-ea"/>
              </a:rPr>
              <a:t>MVP </a:t>
            </a:r>
            <a:r>
              <a:rPr lang="ko-KR" altLang="en-US" dirty="0">
                <a:latin typeface="+mj-ea"/>
                <a:ea typeface="+mj-ea"/>
              </a:rPr>
              <a:t>구현 범위</a:t>
            </a:r>
            <a:r>
              <a:rPr lang="en-US" altLang="ko-KR" dirty="0">
                <a:latin typeface="+mj-ea"/>
                <a:ea typeface="+mj-ea"/>
              </a:rPr>
              <a:t>(MVP Scope)</a:t>
            </a:r>
            <a:endParaRPr lang="ko-KR" altLang="en-US" dirty="0">
              <a:latin typeface="+mj-ea"/>
              <a:ea typeface="+mj-ea"/>
            </a:endParaRPr>
          </a:p>
        </p:txBody>
      </p:sp>
      <p:pic>
        <p:nvPicPr>
          <p:cNvPr id="4" name="Picture 2" descr="차세대융합기술연구원, 반도체 부품 국산화 위한 기술 실증 지원사업 참여 기업 모집 &gt; 뉴스 | CIOCISO">
            <a:extLst>
              <a:ext uri="{FF2B5EF4-FFF2-40B4-BE49-F238E27FC236}">
                <a16:creationId xmlns:a16="http://schemas.microsoft.com/office/drawing/2014/main" id="{01E17689-E744-2C0D-412D-DE9C1722A6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34" b="35256"/>
          <a:stretch>
            <a:fillRect/>
          </a:stretch>
        </p:blipFill>
        <p:spPr bwMode="auto">
          <a:xfrm>
            <a:off x="9298782" y="6434300"/>
            <a:ext cx="1555879" cy="33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Google Shape;100;p2">
            <a:extLst>
              <a:ext uri="{FF2B5EF4-FFF2-40B4-BE49-F238E27FC236}">
                <a16:creationId xmlns:a16="http://schemas.microsoft.com/office/drawing/2014/main" id="{926036DA-B835-FA25-3FC1-05D1768A0924}"/>
              </a:ext>
            </a:extLst>
          </p:cNvPr>
          <p:cNvSpPr txBox="1"/>
          <p:nvPr/>
        </p:nvSpPr>
        <p:spPr>
          <a:xfrm>
            <a:off x="8775865" y="229867"/>
            <a:ext cx="3044336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스마트 공장 운영 시스템 </a:t>
            </a: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MVP 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 </a:t>
            </a:r>
            <a:r>
              <a:rPr lang="ko-KR" altLang="en-US" sz="1000" b="1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해커톤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66928" y="1764792"/>
            <a:ext cx="101600" cy="164592"/>
          </a:xfrm>
          <a:prstGeom prst="rect">
            <a:avLst/>
          </a:prstGeom>
          <a:solidFill>
            <a:srgbClr val="3C7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1691640"/>
            <a:ext cx="5303520" cy="21031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200" b="1" i="0" dirty="0">
                <a:solidFill>
                  <a:schemeClr val="tx1"/>
                </a:solidFill>
                <a:latin typeface="Pretendard"/>
              </a:rPr>
              <a:t>1. </a:t>
            </a:r>
            <a:r>
              <a:rPr sz="1200" b="1" i="0" dirty="0" err="1">
                <a:solidFill>
                  <a:schemeClr val="tx1"/>
                </a:solidFill>
                <a:latin typeface="Pretendard"/>
              </a:rPr>
              <a:t>시연</a:t>
            </a:r>
            <a:r>
              <a:rPr sz="1200" b="1" i="0" dirty="0">
                <a:solidFill>
                  <a:schemeClr val="tx1"/>
                </a:solidFill>
                <a:latin typeface="Pretendard"/>
              </a:rPr>
              <a:t> </a:t>
            </a:r>
            <a:r>
              <a:rPr sz="1200" b="1" i="0" dirty="0" err="1">
                <a:solidFill>
                  <a:schemeClr val="tx1"/>
                </a:solidFill>
                <a:latin typeface="Pretendard"/>
              </a:rPr>
              <a:t>가능</a:t>
            </a:r>
            <a:r>
              <a:rPr sz="1200" b="1" i="0" dirty="0">
                <a:solidFill>
                  <a:schemeClr val="tx1"/>
                </a:solidFill>
                <a:latin typeface="Pretendard"/>
              </a:rPr>
              <a:t> </a:t>
            </a:r>
            <a:r>
              <a:rPr sz="1200" b="1" i="0" dirty="0" err="1">
                <a:solidFill>
                  <a:schemeClr val="tx1"/>
                </a:solidFill>
                <a:latin typeface="Pretendard"/>
              </a:rPr>
              <a:t>핵심</a:t>
            </a:r>
            <a:r>
              <a:rPr sz="1200" b="1" i="0" dirty="0">
                <a:solidFill>
                  <a:schemeClr val="tx1"/>
                </a:solidFill>
                <a:latin typeface="Pretendard"/>
              </a:rPr>
              <a:t> </a:t>
            </a:r>
            <a:r>
              <a:rPr sz="1200" b="1" i="0" dirty="0" err="1">
                <a:solidFill>
                  <a:schemeClr val="tx1"/>
                </a:solidFill>
                <a:latin typeface="Pretendard"/>
              </a:rPr>
              <a:t>기능</a:t>
            </a:r>
            <a:r>
              <a:rPr sz="1200" b="1" i="0" dirty="0">
                <a:solidFill>
                  <a:schemeClr val="tx1"/>
                </a:solidFill>
                <a:latin typeface="Pretendard"/>
              </a:rPr>
              <a:t> 10개 [</a:t>
            </a:r>
            <a:r>
              <a:rPr sz="1200" b="1" i="0" dirty="0" err="1">
                <a:solidFill>
                  <a:schemeClr val="tx1"/>
                </a:solidFill>
                <a:latin typeface="Pretendard"/>
              </a:rPr>
              <a:t>실측</a:t>
            </a:r>
            <a:r>
              <a:rPr sz="1200" b="1" i="0" dirty="0">
                <a:solidFill>
                  <a:schemeClr val="tx1"/>
                </a:solidFill>
                <a:latin typeface="Pretendard"/>
              </a:rPr>
              <a:t> · </a:t>
            </a:r>
            <a:r>
              <a:rPr sz="1200" b="1" i="0" dirty="0" err="1">
                <a:solidFill>
                  <a:schemeClr val="tx1"/>
                </a:solidFill>
                <a:latin typeface="Pretendard"/>
              </a:rPr>
              <a:t>모두</a:t>
            </a:r>
            <a:r>
              <a:rPr sz="1200" b="1" i="0" dirty="0">
                <a:solidFill>
                  <a:schemeClr val="tx1"/>
                </a:solidFill>
                <a:latin typeface="Pretendard"/>
              </a:rPr>
              <a:t> </a:t>
            </a:r>
            <a:r>
              <a:rPr sz="1200" b="1" i="0" dirty="0" err="1">
                <a:solidFill>
                  <a:schemeClr val="tx1"/>
                </a:solidFill>
                <a:latin typeface="Pretendard"/>
              </a:rPr>
              <a:t>구현</a:t>
            </a:r>
            <a:r>
              <a:rPr sz="1200" b="1" i="0" dirty="0">
                <a:solidFill>
                  <a:schemeClr val="tx1"/>
                </a:solidFill>
                <a:latin typeface="Pretendard"/>
              </a:rPr>
              <a:t> </a:t>
            </a:r>
            <a:r>
              <a:rPr sz="1200" b="1" i="0" dirty="0" err="1">
                <a:solidFill>
                  <a:schemeClr val="tx1"/>
                </a:solidFill>
                <a:latin typeface="Pretendard"/>
              </a:rPr>
              <a:t>완료</a:t>
            </a:r>
            <a:r>
              <a:rPr sz="1200" b="1" i="0" dirty="0">
                <a:solidFill>
                  <a:schemeClr val="tx1"/>
                </a:solidFill>
                <a:latin typeface="Pretendard"/>
              </a:rPr>
              <a:t>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075688"/>
            <a:ext cx="2697480" cy="384048"/>
          </a:xfrm>
          <a:prstGeom prst="rect">
            <a:avLst/>
          </a:prstGeom>
          <a:solidFill>
            <a:srgbClr val="F5F8FD"/>
          </a:solidFill>
          <a:ln w="508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" y="2157984"/>
            <a:ext cx="219456" cy="219456"/>
          </a:xfrm>
          <a:prstGeom prst="rect">
            <a:avLst/>
          </a:prstGeom>
          <a:solidFill>
            <a:srgbClr val="3C7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" y="2130552"/>
            <a:ext cx="219456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Pretendard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2121408"/>
            <a:ext cx="228600" cy="20116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900" b="0" i="0">
                <a:solidFill>
                  <a:srgbClr val="5F6668"/>
                </a:solidFill>
                <a:latin typeface="Pretendard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0432" y="2112264"/>
            <a:ext cx="2011680" cy="20116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000" b="1" i="0">
                <a:solidFill>
                  <a:srgbClr val="202124"/>
                </a:solidFill>
                <a:latin typeface="Pretendard"/>
              </a:rPr>
              <a:t>AI 자동 이상탐지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2286000"/>
            <a:ext cx="2011680" cy="164592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850" b="0" i="0">
                <a:solidFill>
                  <a:srgbClr val="5F6668"/>
                </a:solidFill>
                <a:latin typeface="Pretendard"/>
              </a:rPr>
              <a:t>ROC-AUC 0.9254  ·  모델 신뢰도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55848" y="2075688"/>
            <a:ext cx="2697480" cy="384048"/>
          </a:xfrm>
          <a:prstGeom prst="rect">
            <a:avLst/>
          </a:prstGeom>
          <a:solidFill>
            <a:srgbClr val="F5F8FD"/>
          </a:solidFill>
          <a:ln w="508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410712" y="2157984"/>
            <a:ext cx="219456" cy="219456"/>
          </a:xfrm>
          <a:prstGeom prst="rect">
            <a:avLst/>
          </a:prstGeom>
          <a:solidFill>
            <a:srgbClr val="3C7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410712" y="2130552"/>
            <a:ext cx="219456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Pretendard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85032" y="2121408"/>
            <a:ext cx="228600" cy="20116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900" b="0" i="0">
                <a:solidFill>
                  <a:srgbClr val="5F6668"/>
                </a:solidFill>
                <a:latin typeface="Pretendard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59352" y="2112264"/>
            <a:ext cx="2011680" cy="20116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000" b="1" i="0">
                <a:solidFill>
                  <a:srgbClr val="202124"/>
                </a:solidFill>
                <a:latin typeface="Pretendard"/>
              </a:rPr>
              <a:t>24센서 즉시 판정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59352" y="2286000"/>
            <a:ext cx="2011680" cy="164592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850" b="0" i="0">
                <a:solidFill>
                  <a:srgbClr val="5F6668"/>
                </a:solidFill>
                <a:latin typeface="Pretendard"/>
              </a:rPr>
              <a:t>이상 점수 + 심각도  ·  실시간 진단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2523744"/>
            <a:ext cx="2697480" cy="384048"/>
          </a:xfrm>
          <a:prstGeom prst="rect">
            <a:avLst/>
          </a:prstGeom>
          <a:solidFill>
            <a:srgbClr val="F5F8FD"/>
          </a:solidFill>
          <a:ln w="508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1792" y="2606040"/>
            <a:ext cx="219456" cy="219456"/>
          </a:xfrm>
          <a:prstGeom prst="rect">
            <a:avLst/>
          </a:prstGeom>
          <a:solidFill>
            <a:srgbClr val="3C7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1792" y="2578608"/>
            <a:ext cx="219456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Pretendard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" y="2569464"/>
            <a:ext cx="228600" cy="20116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900" b="0" i="0">
                <a:solidFill>
                  <a:srgbClr val="5F6668"/>
                </a:solidFill>
                <a:latin typeface="Pretendard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70432" y="2560320"/>
            <a:ext cx="2011680" cy="20116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000" b="1" i="0">
                <a:solidFill>
                  <a:srgbClr val="202124"/>
                </a:solidFill>
                <a:latin typeface="Pretendard"/>
              </a:rPr>
              <a:t>데모 시나리오 4종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" y="2734056"/>
            <a:ext cx="2011680" cy="164592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850" b="0" i="0">
                <a:solidFill>
                  <a:srgbClr val="5F6668"/>
                </a:solidFill>
                <a:latin typeface="Pretendard"/>
              </a:rPr>
              <a:t>정상/경고/위험/긴급  ·  사이드바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55848" y="2523744"/>
            <a:ext cx="2697480" cy="384048"/>
          </a:xfrm>
          <a:prstGeom prst="rect">
            <a:avLst/>
          </a:prstGeom>
          <a:solidFill>
            <a:srgbClr val="F5F8FD"/>
          </a:solidFill>
          <a:ln w="508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410712" y="2606040"/>
            <a:ext cx="219456" cy="219456"/>
          </a:xfrm>
          <a:prstGeom prst="rect">
            <a:avLst/>
          </a:prstGeom>
          <a:solidFill>
            <a:srgbClr val="3C7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410712" y="2578608"/>
            <a:ext cx="219456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Pretendard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85032" y="2569464"/>
            <a:ext cx="228600" cy="20116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900" b="0" i="0">
                <a:solidFill>
                  <a:srgbClr val="5F6668"/>
                </a:solidFill>
                <a:latin typeface="Pretendard"/>
              </a:rPr>
              <a:t>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59352" y="2560320"/>
            <a:ext cx="2011680" cy="20116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000" b="1" i="0">
                <a:solidFill>
                  <a:srgbClr val="202124"/>
                </a:solidFill>
                <a:latin typeface="Pretendard"/>
              </a:rPr>
              <a:t>SHAP 24센서 기여도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59352" y="2734056"/>
            <a:ext cx="2011680" cy="164592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850" b="0" i="0">
                <a:solidFill>
                  <a:srgbClr val="5F6668"/>
                </a:solidFill>
                <a:latin typeface="Pretendard"/>
              </a:rPr>
              <a:t>Waterfall + Bar  ·  불량 원인 분석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" y="2971800"/>
            <a:ext cx="2697480" cy="384048"/>
          </a:xfrm>
          <a:prstGeom prst="rect">
            <a:avLst/>
          </a:prstGeom>
          <a:solidFill>
            <a:srgbClr val="F5F8FD"/>
          </a:solidFill>
          <a:ln w="508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21792" y="3054096"/>
            <a:ext cx="219456" cy="219456"/>
          </a:xfrm>
          <a:prstGeom prst="rect">
            <a:avLst/>
          </a:prstGeom>
          <a:solidFill>
            <a:srgbClr val="3C7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21792" y="3026664"/>
            <a:ext cx="219456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Pretendard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6112" y="3017520"/>
            <a:ext cx="228600" cy="20116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900" b="0" i="0">
                <a:solidFill>
                  <a:srgbClr val="5F6668"/>
                </a:solidFill>
                <a:latin typeface="Pretendard"/>
              </a:rPr>
              <a:t>05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70432" y="3008376"/>
            <a:ext cx="2011680" cy="20116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000" b="1" i="0">
                <a:solidFill>
                  <a:srgbClr val="202124"/>
                </a:solidFill>
                <a:latin typeface="Pretendard"/>
              </a:rPr>
              <a:t>처방 카드 24개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70432" y="3182112"/>
            <a:ext cx="2011680" cy="164592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850" b="0" i="0">
                <a:solidFill>
                  <a:srgbClr val="5F6668"/>
                </a:solidFill>
                <a:latin typeface="Pretendard"/>
              </a:rPr>
              <a:t>조작 / 정비 구분  ·  실시간 진단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355848" y="2971800"/>
            <a:ext cx="2697480" cy="384048"/>
          </a:xfrm>
          <a:prstGeom prst="rect">
            <a:avLst/>
          </a:prstGeom>
          <a:solidFill>
            <a:srgbClr val="F5F8FD"/>
          </a:solidFill>
          <a:ln w="508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3410712" y="3054096"/>
            <a:ext cx="219456" cy="219456"/>
          </a:xfrm>
          <a:prstGeom prst="rect">
            <a:avLst/>
          </a:prstGeom>
          <a:solidFill>
            <a:srgbClr val="3C7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410712" y="3026664"/>
            <a:ext cx="219456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Pretendard"/>
              </a:rPr>
              <a:t>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85032" y="3017520"/>
            <a:ext cx="228600" cy="20116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900" b="0" i="0">
                <a:solidFill>
                  <a:srgbClr val="5F6668"/>
                </a:solidFill>
                <a:latin typeface="Pretendard"/>
              </a:rPr>
              <a:t>06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959352" y="3008376"/>
            <a:ext cx="2011680" cy="20116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000" b="1" i="0">
                <a:solidFill>
                  <a:srgbClr val="202124"/>
                </a:solidFill>
                <a:latin typeface="Pretendard"/>
              </a:rPr>
              <a:t>심각도 3단계 + 알람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959352" y="3182112"/>
            <a:ext cx="2011680" cy="164592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850" b="0" i="0">
                <a:solidFill>
                  <a:srgbClr val="5F6668"/>
                </a:solidFill>
                <a:latin typeface="Pretendard"/>
              </a:rPr>
              <a:t>에스컬레이션  ·  실시간 진단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3419856"/>
            <a:ext cx="2697480" cy="384048"/>
          </a:xfrm>
          <a:prstGeom prst="rect">
            <a:avLst/>
          </a:prstGeom>
          <a:solidFill>
            <a:srgbClr val="F5F8FD"/>
          </a:solidFill>
          <a:ln w="508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621792" y="3502152"/>
            <a:ext cx="219456" cy="219456"/>
          </a:xfrm>
          <a:prstGeom prst="rect">
            <a:avLst/>
          </a:prstGeom>
          <a:solidFill>
            <a:srgbClr val="3C7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21792" y="3474720"/>
            <a:ext cx="219456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Pretendard"/>
              </a:rPr>
              <a:t>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96112" y="3465576"/>
            <a:ext cx="228600" cy="20116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900" b="0" i="0">
                <a:solidFill>
                  <a:srgbClr val="5F6668"/>
                </a:solidFill>
                <a:latin typeface="Pretendard"/>
              </a:rPr>
              <a:t>07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70432" y="3456432"/>
            <a:ext cx="2011680" cy="20116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000" b="1" i="0">
                <a:solidFill>
                  <a:srgbClr val="202124"/>
                </a:solidFill>
                <a:latin typeface="Pretendard"/>
              </a:rPr>
              <a:t>이상 이력 50건 + 다운로드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70432" y="3630168"/>
            <a:ext cx="2011680" cy="164592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850" b="0" i="0">
                <a:solidFill>
                  <a:srgbClr val="5F6668"/>
                </a:solidFill>
                <a:latin typeface="Pretendard"/>
              </a:rPr>
              <a:t>CSV / MD  ·  실시간 진단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355848" y="3419856"/>
            <a:ext cx="2697480" cy="384048"/>
          </a:xfrm>
          <a:prstGeom prst="rect">
            <a:avLst/>
          </a:prstGeom>
          <a:solidFill>
            <a:srgbClr val="F5F8FD"/>
          </a:solidFill>
          <a:ln w="508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3410712" y="3502152"/>
            <a:ext cx="219456" cy="219456"/>
          </a:xfrm>
          <a:prstGeom prst="rect">
            <a:avLst/>
          </a:prstGeom>
          <a:solidFill>
            <a:srgbClr val="3C7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3410712" y="3474720"/>
            <a:ext cx="219456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Pretendard"/>
              </a:rPr>
              <a:t>✓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85032" y="3465576"/>
            <a:ext cx="228600" cy="20116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900" b="0" i="0">
                <a:solidFill>
                  <a:srgbClr val="5F6668"/>
                </a:solidFill>
                <a:latin typeface="Pretendard"/>
              </a:rPr>
              <a:t>08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959352" y="3456432"/>
            <a:ext cx="2011680" cy="20116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000" b="1" i="0">
                <a:solidFill>
                  <a:srgbClr val="202124"/>
                </a:solidFill>
                <a:latin typeface="Pretendard"/>
              </a:rPr>
              <a:t>Bootstrap 95% CI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959352" y="3630168"/>
            <a:ext cx="2011680" cy="164592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850" b="0" i="0">
                <a:solidFill>
                  <a:srgbClr val="5F6668"/>
                </a:solidFill>
                <a:latin typeface="Pretendard"/>
              </a:rPr>
              <a:t>Cross-Machine 검증  ·  모델 신뢰도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66928" y="3867912"/>
            <a:ext cx="2697480" cy="384048"/>
          </a:xfrm>
          <a:prstGeom prst="rect">
            <a:avLst/>
          </a:prstGeom>
          <a:solidFill>
            <a:srgbClr val="F5F8FD"/>
          </a:solidFill>
          <a:ln w="508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621792" y="3950208"/>
            <a:ext cx="219456" cy="219456"/>
          </a:xfrm>
          <a:prstGeom prst="rect">
            <a:avLst/>
          </a:prstGeom>
          <a:solidFill>
            <a:srgbClr val="3C7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21792" y="3922776"/>
            <a:ext cx="219456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Pretendard"/>
              </a:rPr>
              <a:t>✓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96112" y="3913632"/>
            <a:ext cx="228600" cy="20116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900" b="0" i="0">
                <a:solidFill>
                  <a:srgbClr val="5F6668"/>
                </a:solidFill>
                <a:latin typeface="Pretendard"/>
              </a:rPr>
              <a:t>09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70432" y="3904488"/>
            <a:ext cx="2011680" cy="20116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000" b="1" i="0">
                <a:solidFill>
                  <a:srgbClr val="202124"/>
                </a:solidFill>
                <a:latin typeface="Pretendard"/>
              </a:rPr>
              <a:t>검증셋 1,379건 스코어링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70432" y="4078224"/>
            <a:ext cx="2011680" cy="164592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850" b="0" i="0">
                <a:solidFill>
                  <a:srgbClr val="5F6668"/>
                </a:solidFill>
                <a:latin typeface="Pretendard"/>
              </a:rPr>
              <a:t>시계열 + 트렌드  ·  전체 이력 일괄 분석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355848" y="3867912"/>
            <a:ext cx="2697480" cy="384048"/>
          </a:xfrm>
          <a:prstGeom prst="rect">
            <a:avLst/>
          </a:prstGeom>
          <a:solidFill>
            <a:srgbClr val="F5F8FD"/>
          </a:solidFill>
          <a:ln w="508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3410712" y="3950208"/>
            <a:ext cx="219456" cy="219456"/>
          </a:xfrm>
          <a:prstGeom prst="rect">
            <a:avLst/>
          </a:prstGeom>
          <a:solidFill>
            <a:srgbClr val="3C7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3410712" y="3922776"/>
            <a:ext cx="219456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Pretendard"/>
              </a:rPr>
              <a:t>✓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685032" y="3913632"/>
            <a:ext cx="228600" cy="20116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900" b="0" i="0">
                <a:solidFill>
                  <a:srgbClr val="5F6668"/>
                </a:solidFill>
                <a:latin typeface="Pretendard"/>
              </a:rPr>
              <a:t>10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959352" y="3904488"/>
            <a:ext cx="2011680" cy="20116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000" b="1" i="0">
                <a:solidFill>
                  <a:srgbClr val="202124"/>
                </a:solidFill>
                <a:latin typeface="Pretendard"/>
              </a:rPr>
              <a:t>LIVE 디지털 트윈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959352" y="4078224"/>
            <a:ext cx="2011680" cy="164592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850" b="0" i="0">
                <a:solidFill>
                  <a:srgbClr val="5F6668"/>
                </a:solidFill>
                <a:latin typeface="Pretendard"/>
              </a:rPr>
              <a:t>10초 스트리밍  ·  사이드바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66928" y="4407408"/>
            <a:ext cx="5486400" cy="1234440"/>
          </a:xfrm>
          <a:prstGeom prst="rect">
            <a:avLst/>
          </a:prstGeom>
          <a:solidFill>
            <a:srgbClr val="F5F8FD"/>
          </a:solidFill>
          <a:ln w="12700">
            <a:solidFill>
              <a:srgbClr val="3C7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704088" y="4462272"/>
            <a:ext cx="5303520" cy="194925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100" b="1" i="0" dirty="0" err="1">
                <a:solidFill>
                  <a:schemeClr val="tx1"/>
                </a:solidFill>
                <a:latin typeface="Pretendard"/>
              </a:rPr>
              <a:t>재현성</a:t>
            </a:r>
            <a:r>
              <a:rPr sz="1100" b="1" i="0" dirty="0">
                <a:solidFill>
                  <a:schemeClr val="tx1"/>
                </a:solidFill>
                <a:latin typeface="Pretendard"/>
              </a:rPr>
              <a:t> 보</a:t>
            </a:r>
            <a:r>
              <a:rPr lang="ko-KR" altLang="en-US" sz="1100" b="1" dirty="0">
                <a:solidFill>
                  <a:schemeClr val="tx1"/>
                </a:solidFill>
                <a:latin typeface="Pretendard"/>
              </a:rPr>
              <a:t>장</a:t>
            </a:r>
            <a:endParaRPr sz="1100" b="1" i="0" dirty="0">
              <a:solidFill>
                <a:schemeClr val="tx1"/>
              </a:solidFill>
              <a:latin typeface="Pretendard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731520" y="4664918"/>
            <a:ext cx="5059680" cy="926216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20000"/>
              </a:lnSpc>
            </a:pPr>
            <a:r>
              <a:rPr sz="1150" b="0" i="0" dirty="0">
                <a:solidFill>
                  <a:srgbClr val="202124"/>
                </a:solidFill>
                <a:latin typeface="Pretendard"/>
              </a:rPr>
              <a:t>• install.bat </a:t>
            </a:r>
            <a:r>
              <a:rPr sz="1150" b="0" i="0" dirty="0" err="1">
                <a:solidFill>
                  <a:srgbClr val="202124"/>
                </a:solidFill>
                <a:latin typeface="Pretendard"/>
              </a:rPr>
              <a:t>원클릭</a:t>
            </a:r>
            <a:r>
              <a:rPr sz="1150" b="0" i="0" dirty="0">
                <a:solidFill>
                  <a:srgbClr val="202124"/>
                </a:solidFill>
                <a:latin typeface="Pretendard"/>
              </a:rPr>
              <a:t> </a:t>
            </a:r>
            <a:r>
              <a:rPr sz="1150" b="0" i="0" dirty="0" err="1">
                <a:solidFill>
                  <a:srgbClr val="202124"/>
                </a:solidFill>
                <a:latin typeface="Pretendard"/>
              </a:rPr>
              <a:t>conda</a:t>
            </a:r>
            <a:r>
              <a:rPr sz="1150" b="0" i="0" dirty="0">
                <a:solidFill>
                  <a:srgbClr val="202124"/>
                </a:solidFill>
                <a:latin typeface="Pretendard"/>
              </a:rPr>
              <a:t> </a:t>
            </a:r>
            <a:r>
              <a:rPr sz="1150" b="0" i="0" dirty="0" err="1">
                <a:solidFill>
                  <a:srgbClr val="202124"/>
                </a:solidFill>
                <a:latin typeface="Pretendard"/>
              </a:rPr>
              <a:t>환경</a:t>
            </a:r>
            <a:r>
              <a:rPr sz="1150" b="0" i="0" dirty="0">
                <a:solidFill>
                  <a:srgbClr val="202124"/>
                </a:solidFill>
                <a:latin typeface="Pretendard"/>
              </a:rPr>
              <a:t> (Python 3.11 </a:t>
            </a:r>
            <a:r>
              <a:rPr sz="1150" b="0" i="0" dirty="0" err="1">
                <a:solidFill>
                  <a:srgbClr val="202124"/>
                </a:solidFill>
                <a:latin typeface="Pretendard"/>
              </a:rPr>
              <a:t>자동</a:t>
            </a:r>
            <a:r>
              <a:rPr sz="1150" b="0" i="0" dirty="0">
                <a:solidFill>
                  <a:srgbClr val="202124"/>
                </a:solidFill>
                <a:latin typeface="Pretendard"/>
              </a:rPr>
              <a:t> </a:t>
            </a:r>
            <a:r>
              <a:rPr sz="1150" b="0" i="0" dirty="0" err="1">
                <a:solidFill>
                  <a:srgbClr val="202124"/>
                </a:solidFill>
                <a:latin typeface="Pretendard"/>
              </a:rPr>
              <a:t>설치</a:t>
            </a:r>
            <a:r>
              <a:rPr sz="1150" b="0" i="0" dirty="0">
                <a:solidFill>
                  <a:srgbClr val="202124"/>
                </a:solidFill>
                <a:latin typeface="Pretendard"/>
              </a:rPr>
              <a:t>)</a:t>
            </a:r>
          </a:p>
          <a:p>
            <a:pPr>
              <a:lnSpc>
                <a:spcPct val="120000"/>
              </a:lnSpc>
            </a:pPr>
            <a:r>
              <a:rPr sz="1150" b="0" i="0" dirty="0">
                <a:solidFill>
                  <a:srgbClr val="202124"/>
                </a:solidFill>
                <a:latin typeface="Pretendard"/>
              </a:rPr>
              <a:t>• REPRODUCE.md 7단계 </a:t>
            </a:r>
            <a:r>
              <a:rPr sz="1150" b="0" i="0" dirty="0" err="1">
                <a:solidFill>
                  <a:srgbClr val="202124"/>
                </a:solidFill>
                <a:latin typeface="Pretendard"/>
              </a:rPr>
              <a:t>절차</a:t>
            </a:r>
            <a:r>
              <a:rPr sz="1150" b="0" i="0" dirty="0">
                <a:solidFill>
                  <a:srgbClr val="202124"/>
                </a:solidFill>
                <a:latin typeface="Pretendard"/>
              </a:rPr>
              <a:t> (Data → Train → Eval → Run)</a:t>
            </a:r>
          </a:p>
          <a:p>
            <a:pPr>
              <a:lnSpc>
                <a:spcPct val="120000"/>
              </a:lnSpc>
            </a:pPr>
            <a:r>
              <a:rPr sz="1150" b="0" i="0" dirty="0">
                <a:solidFill>
                  <a:srgbClr val="202124"/>
                </a:solidFill>
                <a:latin typeface="Pretendard"/>
              </a:rPr>
              <a:t>• verify_model.py SHA-256 </a:t>
            </a:r>
            <a:r>
              <a:rPr sz="1150" b="0" i="0" dirty="0" err="1">
                <a:solidFill>
                  <a:srgbClr val="202124"/>
                </a:solidFill>
                <a:latin typeface="Pretendard"/>
              </a:rPr>
              <a:t>모델</a:t>
            </a:r>
            <a:r>
              <a:rPr sz="1150" b="0" i="0" dirty="0">
                <a:solidFill>
                  <a:srgbClr val="202124"/>
                </a:solidFill>
                <a:latin typeface="Pretendard"/>
              </a:rPr>
              <a:t> </a:t>
            </a:r>
            <a:r>
              <a:rPr sz="1150" b="0" i="0" dirty="0" err="1">
                <a:solidFill>
                  <a:srgbClr val="202124"/>
                </a:solidFill>
                <a:latin typeface="Pretendard"/>
              </a:rPr>
              <a:t>무결성</a:t>
            </a:r>
            <a:r>
              <a:rPr sz="1150" b="0" i="0" dirty="0">
                <a:solidFill>
                  <a:srgbClr val="202124"/>
                </a:solidFill>
                <a:latin typeface="Pretendard"/>
              </a:rPr>
              <a:t> </a:t>
            </a:r>
            <a:r>
              <a:rPr sz="1150" b="0" i="0" dirty="0" err="1">
                <a:solidFill>
                  <a:srgbClr val="202124"/>
                </a:solidFill>
                <a:latin typeface="Pretendard"/>
              </a:rPr>
              <a:t>자동</a:t>
            </a:r>
            <a:r>
              <a:rPr sz="1150" b="0" i="0" dirty="0">
                <a:solidFill>
                  <a:srgbClr val="202124"/>
                </a:solidFill>
                <a:latin typeface="Pretendard"/>
              </a:rPr>
              <a:t> </a:t>
            </a:r>
            <a:r>
              <a:rPr sz="1150" b="0" i="0" dirty="0" err="1">
                <a:solidFill>
                  <a:srgbClr val="202124"/>
                </a:solidFill>
                <a:latin typeface="Pretendard"/>
              </a:rPr>
              <a:t>검증</a:t>
            </a:r>
            <a:endParaRPr sz="1150" b="0" i="0" dirty="0">
              <a:solidFill>
                <a:srgbClr val="202124"/>
              </a:solidFill>
              <a:latin typeface="Pretendard"/>
            </a:endParaRPr>
          </a:p>
          <a:p>
            <a:pPr>
              <a:lnSpc>
                <a:spcPct val="120000"/>
              </a:lnSpc>
            </a:pPr>
            <a:r>
              <a:rPr sz="1150" b="0" i="0" dirty="0">
                <a:solidFill>
                  <a:srgbClr val="202124"/>
                </a:solidFill>
                <a:latin typeface="Pretendard"/>
              </a:rPr>
              <a:t>• </a:t>
            </a:r>
            <a:r>
              <a:rPr sz="1150" b="0" i="0" dirty="0" err="1">
                <a:solidFill>
                  <a:srgbClr val="202124"/>
                </a:solidFill>
                <a:latin typeface="Pretendard"/>
              </a:rPr>
              <a:t>학술</a:t>
            </a:r>
            <a:r>
              <a:rPr sz="1150" b="0" i="0" dirty="0">
                <a:solidFill>
                  <a:srgbClr val="202124"/>
                </a:solidFill>
                <a:latin typeface="Pretendard"/>
              </a:rPr>
              <a:t> </a:t>
            </a:r>
            <a:r>
              <a:rPr sz="1150" b="0" i="0" dirty="0" err="1">
                <a:solidFill>
                  <a:srgbClr val="202124"/>
                </a:solidFill>
                <a:latin typeface="Pretendard"/>
              </a:rPr>
              <a:t>레퍼런스</a:t>
            </a:r>
            <a:r>
              <a:rPr sz="1150" b="0" i="0" dirty="0">
                <a:solidFill>
                  <a:srgbClr val="202124"/>
                </a:solidFill>
                <a:latin typeface="Pretendard"/>
              </a:rPr>
              <a:t> 7개 (</a:t>
            </a:r>
            <a:r>
              <a:rPr sz="1150" b="0" i="0" dirty="0" err="1">
                <a:solidFill>
                  <a:srgbClr val="202124"/>
                </a:solidFill>
                <a:latin typeface="Pretendard"/>
              </a:rPr>
              <a:t>KAMP·LSTM+SHAP·Cross-Machine</a:t>
            </a:r>
            <a:r>
              <a:rPr sz="1150" b="0" i="0" dirty="0">
                <a:solidFill>
                  <a:srgbClr val="202124"/>
                </a:solidFill>
                <a:latin typeface="Pretendard"/>
              </a:rPr>
              <a:t> 등)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67DFE564-63AE-C27D-815E-DED609CE4C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2897" y="2077937"/>
            <a:ext cx="5337311" cy="848480"/>
          </a:xfrm>
          <a:prstGeom prst="rect">
            <a:avLst/>
          </a:prstGeom>
        </p:spPr>
      </p:pic>
      <p:sp>
        <p:nvSpPr>
          <p:cNvPr id="86" name="TextBox 85">
            <a:extLst>
              <a:ext uri="{FF2B5EF4-FFF2-40B4-BE49-F238E27FC236}">
                <a16:creationId xmlns:a16="http://schemas.microsoft.com/office/drawing/2014/main" id="{416E7404-EA4E-4F6E-2F3F-2FE78207B6F5}"/>
              </a:ext>
            </a:extLst>
          </p:cNvPr>
          <p:cNvSpPr txBox="1"/>
          <p:nvPr/>
        </p:nvSpPr>
        <p:spPr>
          <a:xfrm>
            <a:off x="9240089" y="2947934"/>
            <a:ext cx="244268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ko-KR" altLang="en-US" sz="1100" b="0" i="0" dirty="0">
                <a:solidFill>
                  <a:schemeClr val="tx2">
                    <a:lumMod val="50000"/>
                  </a:schemeClr>
                </a:solidFill>
                <a:effectLst/>
                <a:latin typeface="Pretendard"/>
              </a:rPr>
              <a:t>모델 신뢰도 확인</a:t>
            </a:r>
            <a:r>
              <a:rPr lang="en-US" altLang="ko-KR" sz="1100" b="0" i="0" dirty="0">
                <a:solidFill>
                  <a:schemeClr val="tx2">
                    <a:lumMod val="50000"/>
                  </a:schemeClr>
                </a:solidFill>
                <a:effectLst/>
                <a:latin typeface="Pretendard"/>
              </a:rPr>
              <a:t> </a:t>
            </a:r>
            <a:r>
              <a:rPr lang="ko-KR" altLang="en-US" sz="1100" b="0" i="0" dirty="0">
                <a:solidFill>
                  <a:schemeClr val="tx2">
                    <a:lumMod val="50000"/>
                  </a:schemeClr>
                </a:solidFill>
                <a:effectLst/>
                <a:latin typeface="Pretendard"/>
              </a:rPr>
              <a:t>탭 상단 </a:t>
            </a:r>
            <a:r>
              <a:rPr lang="en-US" altLang="ko-KR" sz="1100" b="0" i="0" dirty="0">
                <a:solidFill>
                  <a:schemeClr val="tx2">
                    <a:lumMod val="50000"/>
                  </a:schemeClr>
                </a:solidFill>
                <a:effectLst/>
                <a:latin typeface="Pretendard"/>
              </a:rPr>
              <a:t>5 KPI </a:t>
            </a:r>
            <a:r>
              <a:rPr lang="ko-KR" altLang="en-US" sz="1100" b="0" i="0" dirty="0">
                <a:solidFill>
                  <a:schemeClr val="tx2">
                    <a:lumMod val="50000"/>
                  </a:schemeClr>
                </a:solidFill>
                <a:effectLst/>
                <a:latin typeface="Pretendard"/>
              </a:rPr>
              <a:t>카드</a:t>
            </a:r>
            <a:endParaRPr lang="en-US" altLang="ko-KR" sz="1100" b="0" i="0" dirty="0">
              <a:solidFill>
                <a:schemeClr val="tx2">
                  <a:lumMod val="50000"/>
                </a:schemeClr>
              </a:solidFill>
              <a:effectLst/>
              <a:latin typeface="Pretendard"/>
            </a:endParaRPr>
          </a:p>
        </p:txBody>
      </p:sp>
      <p:pic>
        <p:nvPicPr>
          <p:cNvPr id="88" name="그림 87">
            <a:extLst>
              <a:ext uri="{FF2B5EF4-FFF2-40B4-BE49-F238E27FC236}">
                <a16:creationId xmlns:a16="http://schemas.microsoft.com/office/drawing/2014/main" id="{5EC5AA6C-3D7D-596A-558F-E534E79A0F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9174" y="3172206"/>
            <a:ext cx="5337310" cy="2469640"/>
          </a:xfrm>
          <a:prstGeom prst="rect">
            <a:avLst/>
          </a:prstGeom>
        </p:spPr>
      </p:pic>
      <p:sp>
        <p:nvSpPr>
          <p:cNvPr id="89" name="TextBox 88">
            <a:extLst>
              <a:ext uri="{FF2B5EF4-FFF2-40B4-BE49-F238E27FC236}">
                <a16:creationId xmlns:a16="http://schemas.microsoft.com/office/drawing/2014/main" id="{60E8F94D-752F-373E-234B-B43698C19539}"/>
              </a:ext>
            </a:extLst>
          </p:cNvPr>
          <p:cNvSpPr txBox="1"/>
          <p:nvPr/>
        </p:nvSpPr>
        <p:spPr>
          <a:xfrm>
            <a:off x="7173942" y="5636282"/>
            <a:ext cx="635287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Pretendard"/>
              </a:rPr>
              <a:t>(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Pretendard"/>
              </a:rPr>
              <a:t>오차 분포 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Pretendard"/>
              </a:rPr>
              <a:t>· ROC Curve AUC 0.925 · PR Curve AUC 0.708 · Confusion Matrix)</a:t>
            </a:r>
          </a:p>
        </p:txBody>
      </p:sp>
    </p:spTree>
    <p:extLst>
      <p:ext uri="{BB962C8B-B14F-4D97-AF65-F5344CB8AC3E}">
        <p14:creationId xmlns:p14="http://schemas.microsoft.com/office/powerpoint/2010/main" val="18489517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809914A8-02ED-C312-A18A-F0400EE2D348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2" name="Google Shape;99;p2">
            <a:extLst>
              <a:ext uri="{FF2B5EF4-FFF2-40B4-BE49-F238E27FC236}">
                <a16:creationId xmlns:a16="http://schemas.microsoft.com/office/drawing/2014/main" id="{5AB79AF0-60D8-DAFD-ADA5-DCB0D1EDF471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16B1A2F3-666A-22BB-FF71-0DD83ECC923A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6.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MVP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구현 범위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(MVP Scope)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" name="Google Shape;105;p2">
            <a:extLst>
              <a:ext uri="{FF2B5EF4-FFF2-40B4-BE49-F238E27FC236}">
                <a16:creationId xmlns:a16="http://schemas.microsoft.com/office/drawing/2014/main" id="{89685848-AB8F-A36C-25D5-DC70B40222BD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5670" y="6415547"/>
            <a:ext cx="1007955" cy="353407"/>
          </a:xfrm>
          <a:prstGeom prst="rect">
            <a:avLst/>
          </a:prstGeom>
        </p:spPr>
      </p:pic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497705F4-E4B5-B067-FB20-9054BFFE100D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DE9DE420-DE7B-8768-0FC1-D2BA97FE1AF7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A120F58-8315-85C3-52C9-14AFDA96469F}"/>
              </a:ext>
            </a:extLst>
          </p:cNvPr>
          <p:cNvSpPr txBox="1"/>
          <p:nvPr/>
        </p:nvSpPr>
        <p:spPr>
          <a:xfrm>
            <a:off x="939333" y="1189703"/>
            <a:ext cx="42190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6.</a:t>
            </a:r>
            <a:r>
              <a:rPr lang="ko-KR" altLang="en-US" dirty="0">
                <a:latin typeface="+mj-ea"/>
                <a:ea typeface="+mj-ea"/>
              </a:rPr>
              <a:t> </a:t>
            </a:r>
            <a:r>
              <a:rPr lang="en-US" altLang="ko-KR" dirty="0">
                <a:latin typeface="+mj-ea"/>
                <a:ea typeface="+mj-ea"/>
              </a:rPr>
              <a:t>MVP </a:t>
            </a:r>
            <a:r>
              <a:rPr lang="ko-KR" altLang="en-US" dirty="0">
                <a:latin typeface="+mj-ea"/>
                <a:ea typeface="+mj-ea"/>
              </a:rPr>
              <a:t>구현 범위</a:t>
            </a:r>
            <a:r>
              <a:rPr lang="en-US" altLang="ko-KR" dirty="0">
                <a:latin typeface="+mj-ea"/>
                <a:ea typeface="+mj-ea"/>
              </a:rPr>
              <a:t>(MVP Scope)</a:t>
            </a:r>
            <a:endParaRPr lang="ko-KR" altLang="en-US" dirty="0">
              <a:latin typeface="+mj-ea"/>
              <a:ea typeface="+mj-ea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8782" y="6434300"/>
            <a:ext cx="1555879" cy="335564"/>
          </a:xfrm>
          <a:prstGeom prst="rect">
            <a:avLst/>
          </a:prstGeom>
        </p:spPr>
      </p:pic>
      <p:sp>
        <p:nvSpPr>
          <p:cNvPr id="9" name="Google Shape;100;p2">
            <a:extLst>
              <a:ext uri="{FF2B5EF4-FFF2-40B4-BE49-F238E27FC236}">
                <a16:creationId xmlns:a16="http://schemas.microsoft.com/office/drawing/2014/main" id="{926036DA-B835-FA25-3FC1-05D1768A0924}"/>
              </a:ext>
            </a:extLst>
          </p:cNvPr>
          <p:cNvSpPr txBox="1"/>
          <p:nvPr/>
        </p:nvSpPr>
        <p:spPr>
          <a:xfrm>
            <a:off x="8775865" y="229867"/>
            <a:ext cx="3044336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스마트 공장 운영 시스템 </a:t>
            </a: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MVP 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 </a:t>
            </a:r>
            <a:r>
              <a:rPr lang="ko-KR" altLang="en-US" sz="1000" b="1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해커톤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66928" y="1764792"/>
            <a:ext cx="101600" cy="164592"/>
          </a:xfrm>
          <a:prstGeom prst="rect">
            <a:avLst/>
          </a:prstGeom>
          <a:solidFill>
            <a:srgbClr val="3C7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1691640"/>
            <a:ext cx="10954512" cy="21031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200" b="1" i="0" dirty="0">
                <a:solidFill>
                  <a:schemeClr val="tx1"/>
                </a:solidFill>
                <a:latin typeface="Pretendard"/>
              </a:rPr>
              <a:t>1. </a:t>
            </a:r>
            <a:r>
              <a:rPr sz="1200" b="1" i="0" dirty="0" err="1">
                <a:solidFill>
                  <a:schemeClr val="tx1"/>
                </a:solidFill>
                <a:latin typeface="Pretendard"/>
              </a:rPr>
              <a:t>본선</a:t>
            </a:r>
            <a:r>
              <a:rPr sz="1200" b="1" i="0" dirty="0">
                <a:solidFill>
                  <a:schemeClr val="tx1"/>
                </a:solidFill>
                <a:latin typeface="Pretendard"/>
              </a:rPr>
              <a:t> </a:t>
            </a:r>
            <a:r>
              <a:rPr sz="1200" b="1" i="0" dirty="0" err="1">
                <a:solidFill>
                  <a:schemeClr val="tx1"/>
                </a:solidFill>
                <a:latin typeface="Pretendard"/>
              </a:rPr>
              <a:t>추가</a:t>
            </a:r>
            <a:r>
              <a:rPr sz="1200" b="1" i="0" dirty="0">
                <a:solidFill>
                  <a:schemeClr val="tx1"/>
                </a:solidFill>
                <a:latin typeface="Pretendard"/>
              </a:rPr>
              <a:t> </a:t>
            </a:r>
            <a:r>
              <a:rPr sz="1200" b="1" i="0" dirty="0" err="1">
                <a:solidFill>
                  <a:schemeClr val="tx1"/>
                </a:solidFill>
                <a:latin typeface="Pretendard"/>
              </a:rPr>
              <a:t>구현</a:t>
            </a:r>
            <a:r>
              <a:rPr sz="1200" b="1" i="0" dirty="0">
                <a:solidFill>
                  <a:schemeClr val="tx1"/>
                </a:solidFill>
                <a:latin typeface="Pretendard"/>
              </a:rPr>
              <a:t> </a:t>
            </a:r>
            <a:r>
              <a:rPr sz="1200" b="1" i="0" dirty="0" err="1">
                <a:solidFill>
                  <a:schemeClr val="tx1"/>
                </a:solidFill>
                <a:latin typeface="Pretendard"/>
              </a:rPr>
              <a:t>항목</a:t>
            </a:r>
            <a:r>
              <a:rPr sz="1200" b="1" i="0" dirty="0">
                <a:solidFill>
                  <a:schemeClr val="tx1"/>
                </a:solidFill>
                <a:latin typeface="Pretendard"/>
              </a:rPr>
              <a:t> — </a:t>
            </a:r>
            <a:r>
              <a:rPr sz="1200" b="1" i="0" dirty="0" err="1">
                <a:solidFill>
                  <a:schemeClr val="tx1"/>
                </a:solidFill>
                <a:latin typeface="Pretendard"/>
              </a:rPr>
              <a:t>예선</a:t>
            </a:r>
            <a:r>
              <a:rPr sz="1200" b="1" i="0" dirty="0">
                <a:solidFill>
                  <a:schemeClr val="tx1"/>
                </a:solidFill>
                <a:latin typeface="Pretendard"/>
              </a:rPr>
              <a:t> MVP </a:t>
            </a:r>
            <a:r>
              <a:rPr sz="1200" b="1" i="0" dirty="0" err="1">
                <a:solidFill>
                  <a:schemeClr val="tx1"/>
                </a:solidFill>
                <a:latin typeface="Pretendard"/>
              </a:rPr>
              <a:t>위에</a:t>
            </a:r>
            <a:r>
              <a:rPr sz="1200" b="1" i="0" dirty="0">
                <a:solidFill>
                  <a:schemeClr val="tx1"/>
                </a:solidFill>
                <a:latin typeface="Pretendard"/>
              </a:rPr>
              <a:t> </a:t>
            </a:r>
            <a:r>
              <a:rPr sz="1200" b="1" i="0" dirty="0" err="1">
                <a:solidFill>
                  <a:schemeClr val="tx1"/>
                </a:solidFill>
                <a:latin typeface="Pretendard"/>
              </a:rPr>
              <a:t>얹는</a:t>
            </a:r>
            <a:r>
              <a:rPr lang="en-US" sz="1200" b="1" dirty="0">
                <a:solidFill>
                  <a:schemeClr val="tx1"/>
                </a:solidFill>
                <a:latin typeface="Pretendard"/>
              </a:rPr>
              <a:t> 5</a:t>
            </a:r>
            <a:r>
              <a:rPr lang="ko-KR" altLang="en-US" sz="1200" b="1" dirty="0">
                <a:solidFill>
                  <a:schemeClr val="tx1"/>
                </a:solidFill>
                <a:latin typeface="Pretendard"/>
              </a:rPr>
              <a:t>가지</a:t>
            </a:r>
            <a:r>
              <a:rPr sz="1200" b="1" i="0" dirty="0">
                <a:solidFill>
                  <a:schemeClr val="tx1"/>
                </a:solidFill>
                <a:latin typeface="Pretendard"/>
              </a:rPr>
              <a:t> </a:t>
            </a:r>
            <a:r>
              <a:rPr sz="1200" b="1" i="0" dirty="0" err="1">
                <a:solidFill>
                  <a:schemeClr val="tx1"/>
                </a:solidFill>
                <a:latin typeface="Pretendard"/>
              </a:rPr>
              <a:t>기능</a:t>
            </a:r>
            <a:endParaRPr sz="1200" b="1" i="0" dirty="0">
              <a:solidFill>
                <a:schemeClr val="tx1"/>
              </a:solidFill>
              <a:latin typeface="Pretendard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66928" y="2121408"/>
            <a:ext cx="2157984" cy="1920240"/>
          </a:xfrm>
          <a:prstGeom prst="rect">
            <a:avLst/>
          </a:prstGeom>
          <a:solidFill>
            <a:srgbClr val="F5F8FD"/>
          </a:solidFill>
          <a:ln w="12700">
            <a:solidFill>
              <a:srgbClr val="3C7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66928" y="2121408"/>
            <a:ext cx="2157984" cy="329184"/>
          </a:xfrm>
          <a:prstGeom prst="rect">
            <a:avLst/>
          </a:prstGeom>
          <a:solidFill>
            <a:srgbClr val="3C7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6928" y="2121408"/>
            <a:ext cx="2157984" cy="32918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Pretendard"/>
              </a:rPr>
              <a:t>P1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2523744"/>
            <a:ext cx="1975104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/>
            <a:r>
              <a:rPr sz="1200" b="1" i="0">
                <a:solidFill>
                  <a:srgbClr val="202124"/>
                </a:solidFill>
                <a:latin typeface="Pretendard"/>
              </a:rPr>
              <a:t>실시간 PLC 연동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2816352"/>
            <a:ext cx="1975104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/>
            <a:r>
              <a:rPr sz="950" b="1" i="0">
                <a:solidFill>
                  <a:srgbClr val="3C7CDE"/>
                </a:solidFill>
                <a:latin typeface="Pretendard"/>
              </a:rPr>
              <a:t>OPC-UA / MQTT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" y="3108960"/>
            <a:ext cx="1938528" cy="86868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850" b="0" i="0">
                <a:solidFill>
                  <a:srgbClr val="5F6668"/>
                </a:solidFill>
                <a:latin typeface="Pretendard"/>
              </a:rPr>
              <a:t>사출성형기 → 대시보드 무중단 스트리밍 · 슬라이더 입력을 실제 센서로 치환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70632" y="2121408"/>
            <a:ext cx="2157984" cy="1920240"/>
          </a:xfrm>
          <a:prstGeom prst="rect">
            <a:avLst/>
          </a:prstGeom>
          <a:solidFill>
            <a:srgbClr val="F5F8FD"/>
          </a:solidFill>
          <a:ln w="12700">
            <a:solidFill>
              <a:srgbClr val="3C7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770632" y="2121408"/>
            <a:ext cx="2157984" cy="329184"/>
          </a:xfrm>
          <a:prstGeom prst="rect">
            <a:avLst/>
          </a:prstGeom>
          <a:solidFill>
            <a:srgbClr val="3C7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770632" y="2121408"/>
            <a:ext cx="2157984" cy="32918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Pretendard"/>
              </a:rPr>
              <a:t>P2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62072" y="2523744"/>
            <a:ext cx="1975104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/>
            <a:r>
              <a:rPr sz="1200" b="1" i="0">
                <a:solidFill>
                  <a:srgbClr val="202124"/>
                </a:solidFill>
                <a:latin typeface="Pretendard"/>
              </a:rPr>
              <a:t>알람 자동화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62072" y="2816352"/>
            <a:ext cx="1975104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/>
            <a:r>
              <a:rPr sz="950" b="1" i="0">
                <a:solidFill>
                  <a:srgbClr val="3C7CDE"/>
                </a:solidFill>
                <a:latin typeface="Pretendard"/>
              </a:rPr>
              <a:t>SMS / 이메일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80360" y="3108960"/>
            <a:ext cx="1938528" cy="86868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850" b="0" i="0">
                <a:solidFill>
                  <a:srgbClr val="5F6668"/>
                </a:solidFill>
                <a:latin typeface="Pretendard"/>
              </a:rPr>
              <a:t>심각도 3단계(경고/위험/긴급) 자동 발송 · 작업자→반장→부서장 에스컬레이션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74336" y="2121408"/>
            <a:ext cx="2157984" cy="1920240"/>
          </a:xfrm>
          <a:prstGeom prst="rect">
            <a:avLst/>
          </a:prstGeom>
          <a:solidFill>
            <a:srgbClr val="F5F8FD"/>
          </a:solidFill>
          <a:ln w="12700">
            <a:solidFill>
              <a:srgbClr val="3C7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974336" y="2121408"/>
            <a:ext cx="2157984" cy="329184"/>
          </a:xfrm>
          <a:prstGeom prst="rect">
            <a:avLst/>
          </a:prstGeom>
          <a:solidFill>
            <a:srgbClr val="3C7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974336" y="2121408"/>
            <a:ext cx="2157984" cy="32918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Pretendard"/>
              </a:rPr>
              <a:t>P3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65776" y="2523744"/>
            <a:ext cx="1975104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/>
            <a:r>
              <a:rPr sz="1200" b="1" i="0">
                <a:solidFill>
                  <a:srgbClr val="202124"/>
                </a:solidFill>
                <a:latin typeface="Pretendard"/>
              </a:rPr>
              <a:t>멀티 설비 관리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65776" y="2816352"/>
            <a:ext cx="1975104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/>
            <a:r>
              <a:rPr sz="950" b="1" i="0">
                <a:solidFill>
                  <a:srgbClr val="3C7CDE"/>
                </a:solidFill>
                <a:latin typeface="Pretendard"/>
              </a:rPr>
              <a:t>사이드바 설비 선택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84064" y="3108960"/>
            <a:ext cx="1938528" cy="86868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850" b="0" i="0">
                <a:solidFill>
                  <a:srgbClr val="5F6668"/>
                </a:solidFill>
                <a:latin typeface="Pretendard"/>
              </a:rPr>
              <a:t>사출 / 다이캐스팅 / CNC 모델 카탈로그 자동 로딩 · 다지점 통합 모니터링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78040" y="2121408"/>
            <a:ext cx="2157984" cy="1920240"/>
          </a:xfrm>
          <a:prstGeom prst="rect">
            <a:avLst/>
          </a:prstGeom>
          <a:solidFill>
            <a:srgbClr val="F5F8FD"/>
          </a:solidFill>
          <a:ln w="12700">
            <a:solidFill>
              <a:srgbClr val="3C7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178040" y="2121408"/>
            <a:ext cx="2157984" cy="329184"/>
          </a:xfrm>
          <a:prstGeom prst="rect">
            <a:avLst/>
          </a:prstGeom>
          <a:solidFill>
            <a:srgbClr val="3C7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178040" y="2121408"/>
            <a:ext cx="2157984" cy="32918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Pretendard"/>
              </a:rPr>
              <a:t>P4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69480" y="2523744"/>
            <a:ext cx="1975104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/>
            <a:r>
              <a:rPr sz="1200" b="1" i="0">
                <a:solidFill>
                  <a:srgbClr val="202124"/>
                </a:solidFill>
                <a:latin typeface="Pretendard"/>
              </a:rPr>
              <a:t>예측 정비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69480" y="2816352"/>
            <a:ext cx="1975104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/>
            <a:r>
              <a:rPr sz="950" b="1" i="0">
                <a:solidFill>
                  <a:srgbClr val="3C7CDE"/>
                </a:solidFill>
                <a:latin typeface="Pretendard"/>
              </a:rPr>
              <a:t>Predictive Maintenance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87768" y="3108960"/>
            <a:ext cx="1938528" cy="86868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850" b="0" i="0">
                <a:solidFill>
                  <a:srgbClr val="5F6668"/>
                </a:solidFill>
                <a:latin typeface="Pretendard"/>
              </a:rPr>
              <a:t>잔여수명(RUL) 추정 + 정비 권고 · 사후 대응 → 사전 정비 전환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381744" y="2121408"/>
            <a:ext cx="2157984" cy="1920240"/>
          </a:xfrm>
          <a:prstGeom prst="rect">
            <a:avLst/>
          </a:prstGeom>
          <a:solidFill>
            <a:srgbClr val="F5F8FD"/>
          </a:solidFill>
          <a:ln w="12700">
            <a:solidFill>
              <a:srgbClr val="3C7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9381744" y="2121408"/>
            <a:ext cx="2157984" cy="329184"/>
          </a:xfrm>
          <a:prstGeom prst="rect">
            <a:avLst/>
          </a:prstGeom>
          <a:solidFill>
            <a:srgbClr val="3C7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381744" y="2121408"/>
            <a:ext cx="2157984" cy="32918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Pretendard"/>
              </a:rPr>
              <a:t>P5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3184" y="2523744"/>
            <a:ext cx="1975104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/>
            <a:r>
              <a:rPr sz="1200" b="1" i="0">
                <a:solidFill>
                  <a:srgbClr val="202124"/>
                </a:solidFill>
                <a:latin typeface="Pretendard"/>
              </a:rPr>
              <a:t>클라우드 옵션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73184" y="2816352"/>
            <a:ext cx="1975104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/>
            <a:r>
              <a:rPr sz="950" b="1" i="0">
                <a:solidFill>
                  <a:srgbClr val="3C7CDE"/>
                </a:solidFill>
                <a:latin typeface="Pretendard"/>
              </a:rPr>
              <a:t>AWS 배포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91472" y="3108960"/>
            <a:ext cx="1938528" cy="86868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850" b="0" i="0">
                <a:solidFill>
                  <a:srgbClr val="5F6668"/>
                </a:solidFill>
                <a:latin typeface="Pretendard"/>
              </a:rPr>
              <a:t>원격 모니터링 · 다지점 통합 대시보드 · 권한 분리 (작업자/관리자)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" y="4370832"/>
            <a:ext cx="101600" cy="164592"/>
          </a:xfrm>
          <a:prstGeom prst="rect">
            <a:avLst/>
          </a:prstGeom>
          <a:solidFill>
            <a:srgbClr val="3C7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31520" y="4297680"/>
            <a:ext cx="10954512" cy="21031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200" b="1" i="0" dirty="0">
                <a:solidFill>
                  <a:schemeClr val="tx1"/>
                </a:solidFill>
                <a:latin typeface="Pretendard"/>
              </a:rPr>
              <a:t>2. </a:t>
            </a:r>
            <a:r>
              <a:rPr sz="1200" b="1" i="0" dirty="0" err="1">
                <a:solidFill>
                  <a:schemeClr val="tx1"/>
                </a:solidFill>
                <a:latin typeface="Pretendard"/>
              </a:rPr>
              <a:t>본선</a:t>
            </a:r>
            <a:r>
              <a:rPr sz="1200" b="1" i="0" dirty="0">
                <a:solidFill>
                  <a:schemeClr val="tx1"/>
                </a:solidFill>
                <a:latin typeface="Pretendard"/>
              </a:rPr>
              <a:t> </a:t>
            </a:r>
            <a:r>
              <a:rPr sz="1200" b="1" i="0" dirty="0" err="1">
                <a:solidFill>
                  <a:schemeClr val="tx1"/>
                </a:solidFill>
                <a:latin typeface="Pretendard"/>
              </a:rPr>
              <a:t>시연</a:t>
            </a:r>
            <a:r>
              <a:rPr sz="1200" b="1" i="0" dirty="0">
                <a:solidFill>
                  <a:schemeClr val="tx1"/>
                </a:solidFill>
                <a:latin typeface="Pretendard"/>
              </a:rPr>
              <a:t> 흐</a:t>
            </a:r>
            <a:r>
              <a:rPr lang="ko-KR" altLang="en-US" sz="1200" b="1" i="0" dirty="0" err="1">
                <a:solidFill>
                  <a:schemeClr val="tx1"/>
                </a:solidFill>
                <a:latin typeface="Pretendard"/>
              </a:rPr>
              <a:t>름</a:t>
            </a:r>
            <a:endParaRPr sz="1200" b="1" i="0" dirty="0">
              <a:solidFill>
                <a:schemeClr val="tx1"/>
              </a:solidFill>
              <a:latin typeface="Pretendard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566928" y="4681728"/>
            <a:ext cx="2157984" cy="1280160"/>
          </a:xfrm>
          <a:prstGeom prst="rect">
            <a:avLst/>
          </a:prstGeom>
          <a:solidFill>
            <a:srgbClr val="F5F8FD"/>
          </a:solidFill>
          <a:ln w="635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566928" y="4681728"/>
            <a:ext cx="2157984" cy="292608"/>
          </a:xfrm>
          <a:prstGeom prst="rect">
            <a:avLst/>
          </a:prstGeom>
          <a:solidFill>
            <a:srgbClr val="3C7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66928" y="4681728"/>
            <a:ext cx="2157984" cy="2926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lang="en-US" altLang="ko-KR" sz="1050" b="1" i="0" dirty="0">
                <a:solidFill>
                  <a:srgbClr val="FFFFFF"/>
                </a:solidFill>
                <a:latin typeface="Pretendard"/>
              </a:rPr>
              <a:t>09:30 ~ 11:00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8" y="5029200"/>
            <a:ext cx="1975104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/>
            <a:r>
              <a:rPr sz="1050" b="1" i="0" dirty="0" err="1">
                <a:solidFill>
                  <a:srgbClr val="202124"/>
                </a:solidFill>
                <a:latin typeface="Pretendard"/>
              </a:rPr>
              <a:t>환경</a:t>
            </a:r>
            <a:r>
              <a:rPr sz="1050" b="1" i="0" dirty="0">
                <a:solidFill>
                  <a:srgbClr val="202124"/>
                </a:solidFill>
                <a:latin typeface="Pretendard"/>
              </a:rPr>
              <a:t> </a:t>
            </a:r>
            <a:r>
              <a:rPr sz="1050" b="1" i="0" dirty="0" err="1">
                <a:solidFill>
                  <a:srgbClr val="202124"/>
                </a:solidFill>
                <a:latin typeface="Pretendard"/>
              </a:rPr>
              <a:t>셋업</a:t>
            </a:r>
            <a:r>
              <a:rPr sz="1050" b="1" i="0" dirty="0">
                <a:solidFill>
                  <a:srgbClr val="202124"/>
                </a:solidFill>
                <a:latin typeface="Pretendard"/>
              </a:rPr>
              <a:t> + </a:t>
            </a:r>
            <a:r>
              <a:rPr sz="1050" b="1" i="0" dirty="0" err="1">
                <a:solidFill>
                  <a:srgbClr val="202124"/>
                </a:solidFill>
                <a:latin typeface="Pretendard"/>
              </a:rPr>
              <a:t>예선</a:t>
            </a:r>
            <a:r>
              <a:rPr sz="1050" b="1" i="0" dirty="0">
                <a:solidFill>
                  <a:srgbClr val="202124"/>
                </a:solidFill>
                <a:latin typeface="Pretendard"/>
              </a:rPr>
              <a:t> </a:t>
            </a:r>
            <a:r>
              <a:rPr sz="1050" b="1" i="0" dirty="0" err="1">
                <a:solidFill>
                  <a:srgbClr val="202124"/>
                </a:solidFill>
                <a:latin typeface="Pretendard"/>
              </a:rPr>
              <a:t>재현</a:t>
            </a:r>
            <a:endParaRPr sz="1050" b="1" i="0" dirty="0">
              <a:solidFill>
                <a:srgbClr val="202124"/>
              </a:solidFill>
              <a:latin typeface="Pretendard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76656" y="5340096"/>
            <a:ext cx="1938528" cy="59436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850" b="0" i="0">
                <a:solidFill>
                  <a:srgbClr val="5F6668"/>
                </a:solidFill>
                <a:latin typeface="Pretendard"/>
              </a:rPr>
              <a:t>install.bat · verify_model.py · 예선 MVP 결과 재현 (ROC-AUC 0.9254 확인)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70632" y="4681728"/>
            <a:ext cx="2157984" cy="1280160"/>
          </a:xfrm>
          <a:prstGeom prst="rect">
            <a:avLst/>
          </a:prstGeom>
          <a:solidFill>
            <a:srgbClr val="F5F8FD"/>
          </a:solidFill>
          <a:ln w="635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2770632" y="4681728"/>
            <a:ext cx="2157984" cy="292608"/>
          </a:xfrm>
          <a:prstGeom prst="rect">
            <a:avLst/>
          </a:prstGeom>
          <a:solidFill>
            <a:srgbClr val="3C7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770632" y="4681728"/>
            <a:ext cx="2157984" cy="2926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lang="en-US" altLang="ko-KR" sz="1050" b="1" i="0" dirty="0">
                <a:solidFill>
                  <a:srgbClr val="FFFFFF"/>
                </a:solidFill>
                <a:latin typeface="Pretendard"/>
              </a:rPr>
              <a:t>11:00</a:t>
            </a:r>
            <a:r>
              <a:rPr lang="ko-KR" altLang="en-US" sz="1050" b="1" i="0" dirty="0">
                <a:solidFill>
                  <a:srgbClr val="FFFFFF"/>
                </a:solidFill>
                <a:latin typeface="Pretendard"/>
              </a:rPr>
              <a:t> </a:t>
            </a:r>
            <a:r>
              <a:rPr lang="en-US" altLang="ko-KR" sz="1050" b="1" i="0" dirty="0">
                <a:solidFill>
                  <a:srgbClr val="FFFFFF"/>
                </a:solidFill>
                <a:latin typeface="Pretendard"/>
              </a:rPr>
              <a:t>~ 13:00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862072" y="5029200"/>
            <a:ext cx="1975104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/>
            <a:r>
              <a:rPr sz="1050" b="1" i="0">
                <a:solidFill>
                  <a:srgbClr val="202124"/>
                </a:solidFill>
                <a:latin typeface="Pretendard"/>
              </a:rPr>
              <a:t>P1·P2 우선 구현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880360" y="5340096"/>
            <a:ext cx="1938528" cy="59436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850" b="0" i="0">
                <a:solidFill>
                  <a:srgbClr val="5F6668"/>
                </a:solidFill>
                <a:latin typeface="Pretendard"/>
              </a:rPr>
              <a:t>OPC-UA 모의 스트림 연결 + SMS 알람 통합 (P3-P5 보다 평가 가중치 큼)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974336" y="4681728"/>
            <a:ext cx="2157984" cy="1280160"/>
          </a:xfrm>
          <a:prstGeom prst="rect">
            <a:avLst/>
          </a:prstGeom>
          <a:solidFill>
            <a:srgbClr val="F5F8FD"/>
          </a:solidFill>
          <a:ln w="635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4974336" y="4681728"/>
            <a:ext cx="2157984" cy="292608"/>
          </a:xfrm>
          <a:prstGeom prst="rect">
            <a:avLst/>
          </a:prstGeom>
          <a:solidFill>
            <a:srgbClr val="3C7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974336" y="4681728"/>
            <a:ext cx="2157984" cy="2926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lang="en-US" altLang="ko-KR" sz="1050" b="1" i="0" dirty="0">
                <a:solidFill>
                  <a:srgbClr val="FFFFFF"/>
                </a:solidFill>
                <a:latin typeface="Pretendard"/>
              </a:rPr>
              <a:t>13:00 ~ 15:00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65776" y="5029200"/>
            <a:ext cx="1975104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/>
            <a:r>
              <a:rPr sz="1050" b="1" i="0">
                <a:solidFill>
                  <a:srgbClr val="202124"/>
                </a:solidFill>
                <a:latin typeface="Pretendard"/>
              </a:rPr>
              <a:t>P3 멀티 설비 통합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084064" y="5340096"/>
            <a:ext cx="1938528" cy="59436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850" b="0" i="0">
                <a:solidFill>
                  <a:srgbClr val="5F6668"/>
                </a:solidFill>
                <a:latin typeface="Pretendard"/>
              </a:rPr>
              <a:t>사이드바 설비 선택기 → 모델 카탈로그 연결 · 다지점 동시 모니터링 시연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178040" y="4681728"/>
            <a:ext cx="2157984" cy="1280160"/>
          </a:xfrm>
          <a:prstGeom prst="rect">
            <a:avLst/>
          </a:prstGeom>
          <a:solidFill>
            <a:srgbClr val="F5F8FD"/>
          </a:solidFill>
          <a:ln w="635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7178040" y="4681728"/>
            <a:ext cx="2157984" cy="292608"/>
          </a:xfrm>
          <a:prstGeom prst="rect">
            <a:avLst/>
          </a:prstGeom>
          <a:solidFill>
            <a:srgbClr val="3C7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178040" y="4681728"/>
            <a:ext cx="2157984" cy="2926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lang="en-US" altLang="ko-KR" sz="1050" b="1" i="0" dirty="0">
                <a:solidFill>
                  <a:srgbClr val="FFFFFF"/>
                </a:solidFill>
                <a:latin typeface="Pretendard"/>
              </a:rPr>
              <a:t>15:00 ~ 16:30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269480" y="5029200"/>
            <a:ext cx="1975104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/>
            <a:r>
              <a:rPr sz="1050" b="1" i="0">
                <a:solidFill>
                  <a:srgbClr val="202124"/>
                </a:solidFill>
                <a:latin typeface="Pretendard"/>
              </a:rPr>
              <a:t>P4 예측 정비 프로토타입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287768" y="5340096"/>
            <a:ext cx="1938528" cy="59436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850" b="0" i="0">
                <a:solidFill>
                  <a:srgbClr val="5F6668"/>
                </a:solidFill>
                <a:latin typeface="Pretendard"/>
              </a:rPr>
              <a:t>RUL 모듈 · 정비 권고 카드 추가 · '사후 대응 → 사전 정비' 가치 어필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381744" y="4681728"/>
            <a:ext cx="2157984" cy="1280160"/>
          </a:xfrm>
          <a:prstGeom prst="rect">
            <a:avLst/>
          </a:prstGeom>
          <a:solidFill>
            <a:srgbClr val="F5F8FD"/>
          </a:solidFill>
          <a:ln w="635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9381744" y="4681728"/>
            <a:ext cx="2157984" cy="292608"/>
          </a:xfrm>
          <a:prstGeom prst="rect">
            <a:avLst/>
          </a:prstGeom>
          <a:solidFill>
            <a:srgbClr val="3C7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9381744" y="4681728"/>
            <a:ext cx="2157984" cy="2926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lang="en-US" altLang="ko-KR" sz="1050" b="1" i="0" dirty="0">
                <a:solidFill>
                  <a:srgbClr val="FFFFFF"/>
                </a:solidFill>
                <a:latin typeface="Pretendard"/>
              </a:rPr>
              <a:t>16:30 ~ 17:30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473184" y="5029200"/>
            <a:ext cx="1975104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/>
            <a:r>
              <a:rPr sz="1050" b="1" i="0">
                <a:solidFill>
                  <a:srgbClr val="202124"/>
                </a:solidFill>
                <a:latin typeface="Pretendard"/>
              </a:rPr>
              <a:t>최종 시연 리허설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491472" y="5340096"/>
            <a:ext cx="1938528" cy="59436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850" b="0" i="0">
                <a:solidFill>
                  <a:srgbClr val="5F6668"/>
                </a:solidFill>
                <a:latin typeface="Pretendard"/>
              </a:rPr>
              <a:t>8 시나리오 End-to-End 데모 (정상→경고→위험→긴급) · Q&amp;A 30개 대비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F9DE8-42A8-681C-5E1B-73196E0C9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73B9D12E-1495-9345-B5C1-6CA487351340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2" name="Google Shape;99;p2">
            <a:extLst>
              <a:ext uri="{FF2B5EF4-FFF2-40B4-BE49-F238E27FC236}">
                <a16:creationId xmlns:a16="http://schemas.microsoft.com/office/drawing/2014/main" id="{662CCC3A-67D3-9E2D-ED85-F4ACDA9881F3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10197046-830B-49AC-2A1E-DDD714EA3942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7.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기대 효과 및 향후 확장성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(Expected Impact)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" name="Google Shape;105;p2">
            <a:extLst>
              <a:ext uri="{FF2B5EF4-FFF2-40B4-BE49-F238E27FC236}">
                <a16:creationId xmlns:a16="http://schemas.microsoft.com/office/drawing/2014/main" id="{648C386E-E25E-A7E0-794C-23D5AC7A5576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8" name="Google Shape;92;p1">
            <a:extLst>
              <a:ext uri="{FF2B5EF4-FFF2-40B4-BE49-F238E27FC236}">
                <a16:creationId xmlns:a16="http://schemas.microsoft.com/office/drawing/2014/main" id="{DEF02F1E-697C-7F56-95DC-71E50216EDFC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15547"/>
            <a:ext cx="1007955" cy="35340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BDBA01F2-CD0A-EE54-FD1F-D2390E85F862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C5544C-80B5-F11D-247F-B4A6731ECC76}"/>
              </a:ext>
            </a:extLst>
          </p:cNvPr>
          <p:cNvSpPr txBox="1"/>
          <p:nvPr/>
        </p:nvSpPr>
        <p:spPr>
          <a:xfrm>
            <a:off x="939333" y="1189703"/>
            <a:ext cx="43085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7. </a:t>
            </a:r>
            <a:r>
              <a:rPr lang="ko-KR" altLang="en-US" dirty="0">
                <a:latin typeface="+mj-ea"/>
                <a:ea typeface="+mj-ea"/>
              </a:rPr>
              <a:t>기대 효과 및 향후 확장성 </a:t>
            </a:r>
            <a:r>
              <a:rPr lang="en-US" altLang="ko-KR" dirty="0">
                <a:latin typeface="+mj-ea"/>
                <a:ea typeface="+mj-ea"/>
              </a:rPr>
              <a:t>(Expected Impact)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F9243552-6E4F-42E8-93DC-3EB0B30CBB04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2" descr="차세대융합기술연구원, 반도체 부품 국산화 위한 기술 실증 지원사업 참여 기업 모집 &gt; 뉴스 | CIOCISO">
            <a:extLst>
              <a:ext uri="{FF2B5EF4-FFF2-40B4-BE49-F238E27FC236}">
                <a16:creationId xmlns:a16="http://schemas.microsoft.com/office/drawing/2014/main" id="{8749BE17-5128-AC43-85F8-6B97395030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34" b="35256"/>
          <a:stretch>
            <a:fillRect/>
          </a:stretch>
        </p:blipFill>
        <p:spPr bwMode="auto">
          <a:xfrm>
            <a:off x="9298782" y="6434300"/>
            <a:ext cx="1555879" cy="33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100;p2">
            <a:extLst>
              <a:ext uri="{FF2B5EF4-FFF2-40B4-BE49-F238E27FC236}">
                <a16:creationId xmlns:a16="http://schemas.microsoft.com/office/drawing/2014/main" id="{FD31846E-1545-CCE0-0B44-9A65BC1534A7}"/>
              </a:ext>
            </a:extLst>
          </p:cNvPr>
          <p:cNvSpPr txBox="1"/>
          <p:nvPr/>
        </p:nvSpPr>
        <p:spPr>
          <a:xfrm>
            <a:off x="8775865" y="229867"/>
            <a:ext cx="3044336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스마트 공장 운영 시스템 </a:t>
            </a: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MVP 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 </a:t>
            </a:r>
            <a:r>
              <a:rPr lang="ko-KR" altLang="en-US" sz="1000" b="1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해커톤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66928" y="1764792"/>
            <a:ext cx="101600" cy="164592"/>
          </a:xfrm>
          <a:prstGeom prst="rect">
            <a:avLst/>
          </a:prstGeom>
          <a:solidFill>
            <a:srgbClr val="3C7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1691640"/>
            <a:ext cx="10954512" cy="21031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200" b="1" i="0" dirty="0">
                <a:solidFill>
                  <a:schemeClr val="tx1"/>
                </a:solidFill>
                <a:latin typeface="Pretendard"/>
              </a:rPr>
              <a:t>1. </a:t>
            </a:r>
            <a:r>
              <a:rPr sz="1200" b="1" i="0" dirty="0" err="1">
                <a:solidFill>
                  <a:schemeClr val="tx1"/>
                </a:solidFill>
                <a:latin typeface="Pretendard"/>
              </a:rPr>
              <a:t>정량</a:t>
            </a:r>
            <a:r>
              <a:rPr sz="1200" b="1" i="0" dirty="0">
                <a:solidFill>
                  <a:schemeClr val="tx1"/>
                </a:solidFill>
                <a:latin typeface="Pretendard"/>
              </a:rPr>
              <a:t> </a:t>
            </a:r>
            <a:r>
              <a:rPr sz="1200" b="1" i="0" dirty="0" err="1">
                <a:solidFill>
                  <a:schemeClr val="tx1"/>
                </a:solidFill>
                <a:latin typeface="Pretendard"/>
              </a:rPr>
              <a:t>기대</a:t>
            </a:r>
            <a:r>
              <a:rPr sz="1200" b="1" i="0" dirty="0">
                <a:solidFill>
                  <a:schemeClr val="tx1"/>
                </a:solidFill>
                <a:latin typeface="Pretendard"/>
              </a:rPr>
              <a:t> </a:t>
            </a:r>
            <a:r>
              <a:rPr sz="1200" b="1" i="0" dirty="0" err="1">
                <a:solidFill>
                  <a:schemeClr val="tx1"/>
                </a:solidFill>
                <a:latin typeface="Pretendard"/>
              </a:rPr>
              <a:t>효과</a:t>
            </a:r>
            <a:r>
              <a:rPr sz="1200" b="1" i="0" dirty="0">
                <a:solidFill>
                  <a:schemeClr val="tx1"/>
                </a:solidFill>
                <a:latin typeface="Pretendard"/>
              </a:rPr>
              <a:t> — </a:t>
            </a:r>
            <a:r>
              <a:rPr sz="1200" b="1" i="0" dirty="0" err="1">
                <a:solidFill>
                  <a:schemeClr val="tx1"/>
                </a:solidFill>
                <a:latin typeface="Pretendard"/>
              </a:rPr>
              <a:t>도입</a:t>
            </a:r>
            <a:r>
              <a:rPr sz="1200" b="1" i="0" dirty="0">
                <a:solidFill>
                  <a:schemeClr val="tx1"/>
                </a:solidFill>
                <a:latin typeface="Pretendard"/>
              </a:rPr>
              <a:t> </a:t>
            </a:r>
            <a:r>
              <a:rPr sz="1200" b="1" i="0" dirty="0" err="1">
                <a:solidFill>
                  <a:schemeClr val="tx1"/>
                </a:solidFill>
                <a:latin typeface="Pretendard"/>
              </a:rPr>
              <a:t>첫해</a:t>
            </a:r>
            <a:r>
              <a:rPr sz="1200" b="1" i="0" dirty="0">
                <a:solidFill>
                  <a:schemeClr val="tx1"/>
                </a:solidFill>
                <a:latin typeface="Pretendard"/>
              </a:rPr>
              <a:t> </a:t>
            </a:r>
            <a:r>
              <a:rPr sz="1200" b="1" i="0" dirty="0" err="1">
                <a:solidFill>
                  <a:schemeClr val="tx1"/>
                </a:solidFill>
                <a:latin typeface="Pretendard"/>
              </a:rPr>
              <a:t>기준</a:t>
            </a:r>
            <a:endParaRPr sz="1200" b="1" i="0" dirty="0">
              <a:solidFill>
                <a:schemeClr val="tx1"/>
              </a:solidFill>
              <a:latin typeface="Pretendard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66928" y="2057400"/>
            <a:ext cx="2697480" cy="1005840"/>
          </a:xfrm>
          <a:prstGeom prst="rect">
            <a:avLst/>
          </a:prstGeom>
          <a:solidFill>
            <a:srgbClr val="F5F8FD"/>
          </a:solidFill>
          <a:ln w="635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66928" y="2057400"/>
            <a:ext cx="38100" cy="1005840"/>
          </a:xfrm>
          <a:prstGeom prst="rect">
            <a:avLst/>
          </a:prstGeom>
          <a:solidFill>
            <a:srgbClr val="3C7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6656" y="2110089"/>
            <a:ext cx="2514600" cy="187231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050" b="1" i="0" dirty="0">
                <a:solidFill>
                  <a:schemeClr val="tx1"/>
                </a:solidFill>
                <a:latin typeface="Pretendard"/>
              </a:rPr>
              <a:t>[</a:t>
            </a:r>
            <a:r>
              <a:rPr lang="ko-KR" altLang="en-US" sz="1050" b="1" dirty="0">
                <a:solidFill>
                  <a:schemeClr val="tx1"/>
                </a:solidFill>
                <a:latin typeface="Pretendard"/>
              </a:rPr>
              <a:t>구현 완료</a:t>
            </a:r>
            <a:r>
              <a:rPr sz="1050" b="1" i="0" dirty="0">
                <a:solidFill>
                  <a:schemeClr val="tx1"/>
                </a:solidFill>
                <a:latin typeface="Pretendard"/>
              </a:rPr>
              <a:t>] 4 AI </a:t>
            </a:r>
            <a:r>
              <a:rPr sz="1050" b="1" i="0" dirty="0" err="1">
                <a:solidFill>
                  <a:schemeClr val="tx1"/>
                </a:solidFill>
                <a:latin typeface="Pretendard"/>
              </a:rPr>
              <a:t>합집합</a:t>
            </a:r>
            <a:endParaRPr sz="1050" b="1" i="0" dirty="0">
              <a:solidFill>
                <a:schemeClr val="tx1"/>
              </a:solidFill>
              <a:latin typeface="Pretendard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76656" y="2304288"/>
            <a:ext cx="2514600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800" b="1" i="0">
                <a:solidFill>
                  <a:srgbClr val="3C7CDE"/>
                </a:solidFill>
                <a:latin typeface="Pretendard"/>
              </a:rPr>
              <a:t>Recall 0.795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" y="2838709"/>
            <a:ext cx="2514600" cy="156453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lang="ko-KR" altLang="en-US" sz="850" dirty="0">
                <a:solidFill>
                  <a:srgbClr val="202124"/>
                </a:solidFill>
                <a:latin typeface="Pretendard"/>
              </a:rPr>
              <a:t>실제 불량품의 </a:t>
            </a:r>
            <a:r>
              <a:rPr lang="en-US" altLang="ko-KR" sz="850" dirty="0">
                <a:solidFill>
                  <a:srgbClr val="202124"/>
                </a:solidFill>
                <a:latin typeface="Pretendard"/>
              </a:rPr>
              <a:t>79.5%</a:t>
            </a:r>
            <a:r>
              <a:rPr lang="ko-KR" altLang="en-US" sz="850" dirty="0">
                <a:solidFill>
                  <a:srgbClr val="202124"/>
                </a:solidFill>
                <a:latin typeface="Pretendard"/>
              </a:rPr>
              <a:t> 탐지 가능</a:t>
            </a:r>
            <a:endParaRPr sz="850" b="0" i="0" dirty="0">
              <a:solidFill>
                <a:srgbClr val="202124"/>
              </a:solidFill>
              <a:latin typeface="Pretendard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328416" y="2057400"/>
            <a:ext cx="2697480" cy="1005840"/>
          </a:xfrm>
          <a:prstGeom prst="rect">
            <a:avLst/>
          </a:prstGeom>
          <a:solidFill>
            <a:srgbClr val="F5F8FD"/>
          </a:solidFill>
          <a:ln w="635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328416" y="2057400"/>
            <a:ext cx="38100" cy="1005840"/>
          </a:xfrm>
          <a:prstGeom prst="rect">
            <a:avLst/>
          </a:prstGeom>
          <a:solidFill>
            <a:srgbClr val="3C7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438144" y="2110089"/>
            <a:ext cx="2514600" cy="187231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050" b="1" i="0" dirty="0">
                <a:solidFill>
                  <a:schemeClr val="tx1"/>
                </a:solidFill>
                <a:latin typeface="Pretendard"/>
              </a:rPr>
              <a:t>[</a:t>
            </a:r>
            <a:r>
              <a:rPr sz="1050" b="1" i="0" dirty="0" err="1">
                <a:solidFill>
                  <a:schemeClr val="tx1"/>
                </a:solidFill>
                <a:latin typeface="Pretendard"/>
              </a:rPr>
              <a:t>추정치</a:t>
            </a:r>
            <a:r>
              <a:rPr sz="1050" b="1" i="0" dirty="0">
                <a:solidFill>
                  <a:schemeClr val="tx1"/>
                </a:solidFill>
                <a:latin typeface="Pretendard"/>
              </a:rPr>
              <a:t>] </a:t>
            </a:r>
            <a:r>
              <a:rPr sz="1050" b="1" i="0" dirty="0" err="1">
                <a:solidFill>
                  <a:schemeClr val="tx1"/>
                </a:solidFill>
                <a:latin typeface="Pretendard"/>
              </a:rPr>
              <a:t>비용</a:t>
            </a:r>
            <a:r>
              <a:rPr sz="1050" b="1" i="0" dirty="0">
                <a:solidFill>
                  <a:schemeClr val="tx1"/>
                </a:solidFill>
                <a:latin typeface="Pretendard"/>
              </a:rPr>
              <a:t> </a:t>
            </a:r>
            <a:r>
              <a:rPr sz="1050" b="1" i="0" dirty="0" err="1">
                <a:solidFill>
                  <a:schemeClr val="tx1"/>
                </a:solidFill>
                <a:latin typeface="Pretendard"/>
              </a:rPr>
              <a:t>회피</a:t>
            </a:r>
            <a:endParaRPr sz="1050" b="1" i="0" dirty="0">
              <a:solidFill>
                <a:schemeClr val="tx1"/>
              </a:solidFill>
              <a:latin typeface="Pretendard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438144" y="2408996"/>
            <a:ext cx="2514600" cy="302647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800" b="1" i="0" dirty="0">
                <a:solidFill>
                  <a:srgbClr val="3C7CDE"/>
                </a:solidFill>
                <a:latin typeface="Pretendard"/>
              </a:rPr>
              <a:t>연 1억원 </a:t>
            </a:r>
            <a:r>
              <a:rPr lang="ko-KR" altLang="en-US" sz="1800" b="1" i="0" dirty="0">
                <a:solidFill>
                  <a:srgbClr val="3C7CDE"/>
                </a:solidFill>
                <a:latin typeface="Pretendard"/>
              </a:rPr>
              <a:t>이상 </a:t>
            </a:r>
            <a:r>
              <a:rPr sz="1800" b="1" i="0" dirty="0" err="1">
                <a:solidFill>
                  <a:srgbClr val="3C7CDE"/>
                </a:solidFill>
                <a:latin typeface="Pretendard"/>
              </a:rPr>
              <a:t>절감</a:t>
            </a:r>
            <a:endParaRPr sz="1800" b="1" i="0" dirty="0">
              <a:solidFill>
                <a:srgbClr val="3C7CDE"/>
              </a:solidFill>
              <a:latin typeface="Pretendard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38144" y="2816352"/>
            <a:ext cx="2514600" cy="2011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850" b="0" i="0" dirty="0">
                <a:solidFill>
                  <a:srgbClr val="202124"/>
                </a:solidFill>
                <a:latin typeface="Pretendard"/>
              </a:rPr>
              <a:t>50만원 × 200건/년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89904" y="2057400"/>
            <a:ext cx="2697480" cy="1005840"/>
          </a:xfrm>
          <a:prstGeom prst="rect">
            <a:avLst/>
          </a:prstGeom>
          <a:solidFill>
            <a:srgbClr val="F5F8FD"/>
          </a:solidFill>
          <a:ln w="635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089904" y="2057400"/>
            <a:ext cx="38100" cy="1005840"/>
          </a:xfrm>
          <a:prstGeom prst="rect">
            <a:avLst/>
          </a:prstGeom>
          <a:solidFill>
            <a:srgbClr val="3C7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199632" y="2110089"/>
            <a:ext cx="2514600" cy="187231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050" b="1" i="0">
                <a:solidFill>
                  <a:schemeClr val="tx1"/>
                </a:solidFill>
                <a:latin typeface="Pretendard"/>
              </a:rPr>
              <a:t>[구현 완료]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99632" y="2304288"/>
            <a:ext cx="2514600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800" b="1" i="0">
                <a:solidFill>
                  <a:srgbClr val="3C7CDE"/>
                </a:solidFill>
                <a:latin typeface="Pretendard"/>
              </a:rPr>
              <a:t>응답 수 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99632" y="2838709"/>
            <a:ext cx="2514600" cy="156453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850" b="0" i="0" dirty="0">
                <a:solidFill>
                  <a:srgbClr val="202124"/>
                </a:solidFill>
                <a:latin typeface="Pretendard"/>
              </a:rPr>
              <a:t>수 </a:t>
            </a:r>
            <a:r>
              <a:rPr sz="850" b="0" i="0" dirty="0" err="1">
                <a:solidFill>
                  <a:srgbClr val="202124"/>
                </a:solidFill>
                <a:latin typeface="Pretendard"/>
              </a:rPr>
              <a:t>시간</a:t>
            </a:r>
            <a:r>
              <a:rPr lang="en-US" sz="850" b="0" i="0" dirty="0">
                <a:solidFill>
                  <a:srgbClr val="202124"/>
                </a:solidFill>
                <a:latin typeface="Pretendard"/>
              </a:rPr>
              <a:t> </a:t>
            </a:r>
            <a:r>
              <a:rPr lang="ko-KR" altLang="en-US" sz="850" b="0" i="0" dirty="0">
                <a:solidFill>
                  <a:srgbClr val="202124"/>
                </a:solidFill>
                <a:latin typeface="Pretendard"/>
              </a:rPr>
              <a:t>지연</a:t>
            </a:r>
            <a:r>
              <a:rPr sz="850" b="0" i="0" dirty="0">
                <a:solidFill>
                  <a:srgbClr val="202124"/>
                </a:solidFill>
                <a:latin typeface="Pretendard"/>
              </a:rPr>
              <a:t> → </a:t>
            </a:r>
            <a:r>
              <a:rPr sz="850" b="0" i="0" dirty="0" err="1">
                <a:solidFill>
                  <a:srgbClr val="202124"/>
                </a:solidFill>
                <a:latin typeface="Pretendard"/>
              </a:rPr>
              <a:t>즉시</a:t>
            </a:r>
            <a:endParaRPr sz="850" b="0" i="0" dirty="0">
              <a:solidFill>
                <a:srgbClr val="202124"/>
              </a:solidFill>
              <a:latin typeface="Pretendard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8851392" y="2057400"/>
            <a:ext cx="2697480" cy="1005840"/>
          </a:xfrm>
          <a:prstGeom prst="rect">
            <a:avLst/>
          </a:prstGeom>
          <a:solidFill>
            <a:srgbClr val="F5F8FD"/>
          </a:solidFill>
          <a:ln w="635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851392" y="2057400"/>
            <a:ext cx="38100" cy="1005840"/>
          </a:xfrm>
          <a:prstGeom prst="rect">
            <a:avLst/>
          </a:prstGeom>
          <a:solidFill>
            <a:srgbClr val="3C7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961120" y="2110089"/>
            <a:ext cx="2514600" cy="187231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050" b="1" i="0">
                <a:solidFill>
                  <a:schemeClr val="tx1"/>
                </a:solidFill>
                <a:latin typeface="Pretendard"/>
              </a:rPr>
              <a:t>[추정치] 투자 회수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0" y="2408996"/>
            <a:ext cx="2514600" cy="302647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800" b="1" i="0" dirty="0">
                <a:solidFill>
                  <a:srgbClr val="3C7CDE"/>
                </a:solidFill>
                <a:latin typeface="Pretendard"/>
              </a:rPr>
              <a:t>ROI </a:t>
            </a:r>
            <a:r>
              <a:rPr lang="en-US" sz="1800" b="1" dirty="0">
                <a:solidFill>
                  <a:srgbClr val="3C7CDE"/>
                </a:solidFill>
                <a:latin typeface="Pretendard"/>
              </a:rPr>
              <a:t>5</a:t>
            </a:r>
            <a:r>
              <a:rPr sz="1800" b="1" i="0" dirty="0">
                <a:solidFill>
                  <a:srgbClr val="3C7CDE"/>
                </a:solidFill>
                <a:latin typeface="Pretendard"/>
              </a:rPr>
              <a:t>배</a:t>
            </a:r>
            <a:r>
              <a:rPr lang="en-US" sz="1800" b="1" i="0" dirty="0">
                <a:solidFill>
                  <a:srgbClr val="3C7CDE"/>
                </a:solidFill>
                <a:latin typeface="Pretendard"/>
              </a:rPr>
              <a:t> </a:t>
            </a:r>
            <a:r>
              <a:rPr lang="ko-KR" altLang="en-US" sz="1800" b="1" i="0" dirty="0">
                <a:solidFill>
                  <a:srgbClr val="3C7CDE"/>
                </a:solidFill>
                <a:latin typeface="Pretendard"/>
              </a:rPr>
              <a:t>이상</a:t>
            </a:r>
            <a:endParaRPr sz="1800" b="1" i="0" dirty="0">
              <a:solidFill>
                <a:srgbClr val="3C7CDE"/>
              </a:solidFill>
              <a:latin typeface="Pretendard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961120" y="2816352"/>
            <a:ext cx="2514600" cy="2011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850" b="0" i="0">
                <a:solidFill>
                  <a:srgbClr val="202124"/>
                </a:solidFill>
                <a:latin typeface="Pretendard"/>
              </a:rPr>
              <a:t>연 1억 ÷ 월 200만 SaaS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3392424"/>
            <a:ext cx="101600" cy="164592"/>
          </a:xfrm>
          <a:prstGeom prst="rect">
            <a:avLst/>
          </a:prstGeom>
          <a:solidFill>
            <a:srgbClr val="3C7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31520" y="3319272"/>
            <a:ext cx="5303520" cy="21031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200" b="1" i="0">
                <a:solidFill>
                  <a:schemeClr val="tx1"/>
                </a:solidFill>
                <a:latin typeface="Pretendard"/>
              </a:rPr>
              <a:t>2. 정성적 효과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3703320"/>
            <a:ext cx="5486400" cy="1971564"/>
          </a:xfrm>
          <a:prstGeom prst="rect">
            <a:avLst/>
          </a:prstGeom>
          <a:solidFill>
            <a:srgbClr val="F5F8FD"/>
          </a:solidFill>
          <a:ln w="635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10832" y="3800946"/>
            <a:ext cx="5212080" cy="1721049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16000"/>
              </a:lnSpc>
            </a:pPr>
            <a:r>
              <a:rPr sz="1150" b="1" i="0" dirty="0" err="1">
                <a:solidFill>
                  <a:srgbClr val="3C7CDE"/>
                </a:solidFill>
                <a:latin typeface="Pretendard"/>
              </a:rPr>
              <a:t>노하우</a:t>
            </a:r>
            <a:r>
              <a:rPr sz="1150" b="1" i="0" dirty="0">
                <a:solidFill>
                  <a:srgbClr val="3C7CDE"/>
                </a:solidFill>
                <a:latin typeface="Pretendard"/>
              </a:rPr>
              <a:t> </a:t>
            </a:r>
            <a:r>
              <a:rPr sz="1150" b="1" i="0" dirty="0" err="1">
                <a:solidFill>
                  <a:srgbClr val="3C7CDE"/>
                </a:solidFill>
                <a:latin typeface="Pretendard"/>
              </a:rPr>
              <a:t>디지털화</a:t>
            </a:r>
            <a:endParaRPr sz="1150" b="1" i="0" dirty="0">
              <a:solidFill>
                <a:srgbClr val="3C7CDE"/>
              </a:solidFill>
              <a:latin typeface="Pretendard"/>
            </a:endParaRPr>
          </a:p>
          <a:p>
            <a:pPr>
              <a:lnSpc>
                <a:spcPct val="116000"/>
              </a:lnSpc>
            </a:pPr>
            <a:r>
              <a:rPr sz="1150" b="0" i="0" dirty="0">
                <a:solidFill>
                  <a:srgbClr val="202124"/>
                </a:solidFill>
                <a:latin typeface="Pretendard"/>
              </a:rPr>
              <a:t>• </a:t>
            </a:r>
            <a:r>
              <a:rPr sz="1150" b="0" i="0" dirty="0" err="1">
                <a:solidFill>
                  <a:srgbClr val="202124"/>
                </a:solidFill>
                <a:latin typeface="Pretendard"/>
              </a:rPr>
              <a:t>담당자</a:t>
            </a:r>
            <a:r>
              <a:rPr sz="1150" b="0" i="0" dirty="0">
                <a:solidFill>
                  <a:srgbClr val="202124"/>
                </a:solidFill>
                <a:latin typeface="Pretendard"/>
              </a:rPr>
              <a:t> </a:t>
            </a:r>
            <a:r>
              <a:rPr sz="1150" b="0" i="0" dirty="0" err="1">
                <a:solidFill>
                  <a:srgbClr val="202124"/>
                </a:solidFill>
                <a:latin typeface="Pretendard"/>
              </a:rPr>
              <a:t>경험</a:t>
            </a:r>
            <a:r>
              <a:rPr sz="1150" b="0" i="0" dirty="0">
                <a:solidFill>
                  <a:srgbClr val="202124"/>
                </a:solidFill>
                <a:latin typeface="Pretendard"/>
              </a:rPr>
              <a:t> → SHAP </a:t>
            </a:r>
            <a:r>
              <a:rPr sz="1150" b="0" i="0" dirty="0" err="1">
                <a:solidFill>
                  <a:srgbClr val="202124"/>
                </a:solidFill>
                <a:latin typeface="Pretendard"/>
              </a:rPr>
              <a:t>데이터로</a:t>
            </a:r>
            <a:r>
              <a:rPr lang="ko-KR" altLang="en-US" sz="1150" b="0" i="0" dirty="0">
                <a:solidFill>
                  <a:srgbClr val="202124"/>
                </a:solidFill>
                <a:latin typeface="Pretendard"/>
              </a:rPr>
              <a:t> 누적 및 연속성 보장</a:t>
            </a:r>
            <a:endParaRPr sz="1150" b="0" i="0" dirty="0">
              <a:solidFill>
                <a:srgbClr val="202124"/>
              </a:solidFill>
              <a:latin typeface="Pretendard"/>
            </a:endParaRPr>
          </a:p>
          <a:p>
            <a:pPr>
              <a:lnSpc>
                <a:spcPct val="116000"/>
              </a:lnSpc>
            </a:pPr>
            <a:r>
              <a:rPr sz="1150" b="1" i="0" dirty="0" err="1">
                <a:solidFill>
                  <a:srgbClr val="3C7CDE"/>
                </a:solidFill>
                <a:latin typeface="Pretendard"/>
              </a:rPr>
              <a:t>교대</a:t>
            </a:r>
            <a:r>
              <a:rPr sz="1150" b="1" i="0" dirty="0">
                <a:solidFill>
                  <a:srgbClr val="3C7CDE"/>
                </a:solidFill>
                <a:latin typeface="Pretendard"/>
              </a:rPr>
              <a:t> </a:t>
            </a:r>
            <a:r>
              <a:rPr sz="1150" b="1" i="0" dirty="0" err="1">
                <a:solidFill>
                  <a:srgbClr val="3C7CDE"/>
                </a:solidFill>
                <a:latin typeface="Pretendard"/>
              </a:rPr>
              <a:t>인수인계</a:t>
            </a:r>
            <a:r>
              <a:rPr sz="1150" b="1" i="0" dirty="0">
                <a:solidFill>
                  <a:srgbClr val="3C7CDE"/>
                </a:solidFill>
                <a:latin typeface="Pretendard"/>
              </a:rPr>
              <a:t> </a:t>
            </a:r>
            <a:r>
              <a:rPr sz="1150" b="1" i="0" dirty="0" err="1">
                <a:solidFill>
                  <a:srgbClr val="3C7CDE"/>
                </a:solidFill>
                <a:latin typeface="Pretendard"/>
              </a:rPr>
              <a:t>표준화</a:t>
            </a:r>
            <a:endParaRPr sz="1150" b="1" i="0" dirty="0">
              <a:solidFill>
                <a:srgbClr val="3C7CDE"/>
              </a:solidFill>
              <a:latin typeface="Pretendard"/>
            </a:endParaRPr>
          </a:p>
          <a:p>
            <a:pPr>
              <a:lnSpc>
                <a:spcPct val="116000"/>
              </a:lnSpc>
            </a:pPr>
            <a:r>
              <a:rPr sz="1150" b="0" i="0" dirty="0">
                <a:solidFill>
                  <a:srgbClr val="202124"/>
                </a:solidFill>
                <a:latin typeface="Pretendard"/>
              </a:rPr>
              <a:t>• </a:t>
            </a:r>
            <a:r>
              <a:rPr sz="1150" b="0" i="0" dirty="0" err="1">
                <a:solidFill>
                  <a:srgbClr val="202124"/>
                </a:solidFill>
                <a:latin typeface="Pretendard"/>
              </a:rPr>
              <a:t>수기</a:t>
            </a:r>
            <a:r>
              <a:rPr sz="1150" b="0" i="0" dirty="0">
                <a:solidFill>
                  <a:srgbClr val="202124"/>
                </a:solidFill>
                <a:latin typeface="Pretendard"/>
              </a:rPr>
              <a:t> </a:t>
            </a:r>
            <a:r>
              <a:rPr sz="1150" b="0" i="0" dirty="0" err="1">
                <a:solidFill>
                  <a:srgbClr val="202124"/>
                </a:solidFill>
                <a:latin typeface="Pretendard"/>
              </a:rPr>
              <a:t>일지</a:t>
            </a:r>
            <a:r>
              <a:rPr sz="1150" b="0" i="0" dirty="0">
                <a:solidFill>
                  <a:srgbClr val="202124"/>
                </a:solidFill>
                <a:latin typeface="Pretendard"/>
              </a:rPr>
              <a:t> → CSV / Markdown </a:t>
            </a:r>
            <a:r>
              <a:rPr sz="1150" b="0" i="0" dirty="0" err="1">
                <a:solidFill>
                  <a:srgbClr val="202124"/>
                </a:solidFill>
                <a:latin typeface="Pretendard"/>
              </a:rPr>
              <a:t>자동</a:t>
            </a:r>
            <a:r>
              <a:rPr sz="1150" b="0" i="0" dirty="0">
                <a:solidFill>
                  <a:srgbClr val="202124"/>
                </a:solidFill>
                <a:latin typeface="Pretendard"/>
              </a:rPr>
              <a:t> </a:t>
            </a:r>
            <a:r>
              <a:rPr sz="1150" b="0" i="0" dirty="0" err="1">
                <a:solidFill>
                  <a:srgbClr val="202124"/>
                </a:solidFill>
                <a:latin typeface="Pretendard"/>
              </a:rPr>
              <a:t>생성</a:t>
            </a:r>
            <a:endParaRPr sz="1150" b="0" i="0" dirty="0">
              <a:solidFill>
                <a:srgbClr val="202124"/>
              </a:solidFill>
              <a:latin typeface="Pretendard"/>
            </a:endParaRPr>
          </a:p>
          <a:p>
            <a:pPr>
              <a:lnSpc>
                <a:spcPct val="116000"/>
              </a:lnSpc>
            </a:pPr>
            <a:r>
              <a:rPr sz="1150" b="1" i="0" dirty="0" err="1">
                <a:solidFill>
                  <a:srgbClr val="3C7CDE"/>
                </a:solidFill>
                <a:latin typeface="Pretendard"/>
              </a:rPr>
              <a:t>이력</a:t>
            </a:r>
            <a:r>
              <a:rPr sz="1150" b="1" i="0" dirty="0">
                <a:solidFill>
                  <a:srgbClr val="3C7CDE"/>
                </a:solidFill>
                <a:latin typeface="Pretendard"/>
              </a:rPr>
              <a:t> </a:t>
            </a:r>
            <a:r>
              <a:rPr sz="1150" b="1" i="0" dirty="0" err="1">
                <a:solidFill>
                  <a:srgbClr val="3C7CDE"/>
                </a:solidFill>
                <a:latin typeface="Pretendard"/>
              </a:rPr>
              <a:t>보존</a:t>
            </a:r>
            <a:endParaRPr sz="1150" b="1" i="0" dirty="0">
              <a:solidFill>
                <a:srgbClr val="3C7CDE"/>
              </a:solidFill>
              <a:latin typeface="Pretendard"/>
            </a:endParaRPr>
          </a:p>
          <a:p>
            <a:pPr>
              <a:lnSpc>
                <a:spcPct val="116000"/>
              </a:lnSpc>
            </a:pPr>
            <a:r>
              <a:rPr sz="1150" b="0" i="0" dirty="0">
                <a:solidFill>
                  <a:srgbClr val="202124"/>
                </a:solidFill>
                <a:latin typeface="Pretendard"/>
              </a:rPr>
              <a:t>• JSON </a:t>
            </a:r>
            <a:r>
              <a:rPr sz="1150" b="0" i="0" dirty="0" err="1">
                <a:solidFill>
                  <a:srgbClr val="202124"/>
                </a:solidFill>
                <a:latin typeface="Pretendard"/>
              </a:rPr>
              <a:t>영속</a:t>
            </a:r>
            <a:r>
              <a:rPr sz="1150" b="0" i="0" dirty="0">
                <a:solidFill>
                  <a:srgbClr val="202124"/>
                </a:solidFill>
                <a:latin typeface="Pretendard"/>
              </a:rPr>
              <a:t> + SHA-256 </a:t>
            </a:r>
            <a:r>
              <a:rPr sz="1150" b="0" i="0" dirty="0" err="1">
                <a:solidFill>
                  <a:srgbClr val="202124"/>
                </a:solidFill>
                <a:latin typeface="Pretendard"/>
              </a:rPr>
              <a:t>모델</a:t>
            </a:r>
            <a:r>
              <a:rPr sz="1150" b="0" i="0" dirty="0">
                <a:solidFill>
                  <a:srgbClr val="202124"/>
                </a:solidFill>
                <a:latin typeface="Pretendard"/>
              </a:rPr>
              <a:t> </a:t>
            </a:r>
            <a:r>
              <a:rPr sz="1150" b="0" i="0" dirty="0" err="1">
                <a:solidFill>
                  <a:srgbClr val="202124"/>
                </a:solidFill>
                <a:latin typeface="Pretendard"/>
              </a:rPr>
              <a:t>무결성</a:t>
            </a:r>
            <a:r>
              <a:rPr sz="1150" b="0" i="0" dirty="0">
                <a:solidFill>
                  <a:srgbClr val="202124"/>
                </a:solidFill>
                <a:latin typeface="Pretendard"/>
              </a:rPr>
              <a:t> </a:t>
            </a:r>
            <a:r>
              <a:rPr sz="1150" b="0" i="0" dirty="0" err="1">
                <a:solidFill>
                  <a:srgbClr val="202124"/>
                </a:solidFill>
                <a:latin typeface="Pretendard"/>
              </a:rPr>
              <a:t>검증</a:t>
            </a:r>
            <a:endParaRPr sz="1150" b="0" i="0" dirty="0">
              <a:solidFill>
                <a:srgbClr val="202124"/>
              </a:solidFill>
              <a:latin typeface="Pretendard"/>
            </a:endParaRPr>
          </a:p>
          <a:p>
            <a:pPr>
              <a:lnSpc>
                <a:spcPct val="116000"/>
              </a:lnSpc>
            </a:pPr>
            <a:r>
              <a:rPr sz="1150" b="1" i="0" dirty="0" err="1">
                <a:solidFill>
                  <a:srgbClr val="3C7CDE"/>
                </a:solidFill>
                <a:latin typeface="Pretendard"/>
              </a:rPr>
              <a:t>부서장</a:t>
            </a:r>
            <a:r>
              <a:rPr sz="1150" b="1" i="0" dirty="0">
                <a:solidFill>
                  <a:srgbClr val="3C7CDE"/>
                </a:solidFill>
                <a:latin typeface="Pretendard"/>
              </a:rPr>
              <a:t> </a:t>
            </a:r>
            <a:r>
              <a:rPr sz="1150" b="1" i="0" dirty="0" err="1">
                <a:solidFill>
                  <a:srgbClr val="3C7CDE"/>
                </a:solidFill>
                <a:latin typeface="Pretendard"/>
              </a:rPr>
              <a:t>의사결정</a:t>
            </a:r>
            <a:r>
              <a:rPr sz="1150" b="1" i="0" dirty="0">
                <a:solidFill>
                  <a:srgbClr val="3C7CDE"/>
                </a:solidFill>
                <a:latin typeface="Pretendard"/>
              </a:rPr>
              <a:t> </a:t>
            </a:r>
            <a:r>
              <a:rPr sz="1150" b="1" i="0" dirty="0" err="1">
                <a:solidFill>
                  <a:srgbClr val="3C7CDE"/>
                </a:solidFill>
                <a:latin typeface="Pretendard"/>
              </a:rPr>
              <a:t>지원</a:t>
            </a:r>
            <a:endParaRPr sz="1150" b="1" i="0" dirty="0">
              <a:solidFill>
                <a:srgbClr val="3C7CDE"/>
              </a:solidFill>
              <a:latin typeface="Pretendard"/>
            </a:endParaRPr>
          </a:p>
          <a:p>
            <a:pPr>
              <a:lnSpc>
                <a:spcPct val="116000"/>
              </a:lnSpc>
            </a:pPr>
            <a:r>
              <a:rPr sz="1150" b="0" i="0" dirty="0">
                <a:solidFill>
                  <a:srgbClr val="202124"/>
                </a:solidFill>
                <a:latin typeface="Pretendard"/>
              </a:rPr>
              <a:t>• </a:t>
            </a:r>
            <a:r>
              <a:rPr sz="1150" b="0" i="0" dirty="0" err="1">
                <a:solidFill>
                  <a:srgbClr val="202124"/>
                </a:solidFill>
                <a:latin typeface="Pretendard"/>
              </a:rPr>
              <a:t>일일</a:t>
            </a:r>
            <a:r>
              <a:rPr sz="1150" b="0" i="0" dirty="0">
                <a:solidFill>
                  <a:srgbClr val="202124"/>
                </a:solidFill>
                <a:latin typeface="Pretendard"/>
              </a:rPr>
              <a:t> </a:t>
            </a:r>
            <a:r>
              <a:rPr sz="1150" b="0" i="0" dirty="0" err="1">
                <a:solidFill>
                  <a:srgbClr val="202124"/>
                </a:solidFill>
                <a:latin typeface="Pretendard"/>
              </a:rPr>
              <a:t>자연어</a:t>
            </a:r>
            <a:r>
              <a:rPr sz="1150" b="0" i="0" dirty="0">
                <a:solidFill>
                  <a:srgbClr val="202124"/>
                </a:solidFill>
                <a:latin typeface="Pretendard"/>
              </a:rPr>
              <a:t> </a:t>
            </a:r>
            <a:r>
              <a:rPr sz="1150" b="0" i="0" dirty="0" err="1">
                <a:solidFill>
                  <a:srgbClr val="202124"/>
                </a:solidFill>
                <a:latin typeface="Pretendard"/>
              </a:rPr>
              <a:t>보고서</a:t>
            </a:r>
            <a:r>
              <a:rPr sz="1150" b="0" i="0" dirty="0">
                <a:solidFill>
                  <a:srgbClr val="202124"/>
                </a:solidFill>
                <a:latin typeface="Pretendard"/>
              </a:rPr>
              <a:t> </a:t>
            </a:r>
            <a:r>
              <a:rPr sz="1150" b="0" i="0" dirty="0" err="1">
                <a:solidFill>
                  <a:srgbClr val="202124"/>
                </a:solidFill>
                <a:latin typeface="Pretendard"/>
              </a:rPr>
              <a:t>자동</a:t>
            </a:r>
            <a:r>
              <a:rPr sz="1150" b="0" i="0" dirty="0">
                <a:solidFill>
                  <a:srgbClr val="202124"/>
                </a:solidFill>
                <a:latin typeface="Pretendard"/>
              </a:rPr>
              <a:t> </a:t>
            </a:r>
            <a:r>
              <a:rPr sz="1150" b="0" i="0" dirty="0" err="1">
                <a:solidFill>
                  <a:srgbClr val="202124"/>
                </a:solidFill>
                <a:latin typeface="Pretendard"/>
              </a:rPr>
              <a:t>생성</a:t>
            </a:r>
            <a:r>
              <a:rPr sz="1150" b="0" i="0" dirty="0">
                <a:solidFill>
                  <a:srgbClr val="202124"/>
                </a:solidFill>
                <a:latin typeface="Pretendard"/>
              </a:rPr>
              <a:t> (Markdown)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3392424"/>
            <a:ext cx="101600" cy="164592"/>
          </a:xfrm>
          <a:prstGeom prst="rect">
            <a:avLst/>
          </a:prstGeom>
          <a:solidFill>
            <a:srgbClr val="3C7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382512" y="3319272"/>
            <a:ext cx="5303520" cy="21031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200" b="1" i="0">
                <a:solidFill>
                  <a:schemeClr val="tx1"/>
                </a:solidFill>
                <a:latin typeface="Pretendard"/>
              </a:rPr>
              <a:t>3. 현장 적용 가능성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7920" y="3703320"/>
            <a:ext cx="5486400" cy="1971563"/>
          </a:xfrm>
          <a:prstGeom prst="rect">
            <a:avLst/>
          </a:prstGeom>
          <a:solidFill>
            <a:srgbClr val="F5F8FD"/>
          </a:solidFill>
          <a:ln w="635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382512" y="3828576"/>
            <a:ext cx="5303520" cy="1721049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16000"/>
              </a:lnSpc>
            </a:pPr>
            <a:r>
              <a:rPr sz="1150" b="1" i="0" dirty="0" err="1">
                <a:solidFill>
                  <a:srgbClr val="3C7CDE"/>
                </a:solidFill>
                <a:latin typeface="Pretendard"/>
              </a:rPr>
              <a:t>온프레미스</a:t>
            </a:r>
            <a:r>
              <a:rPr sz="1150" b="1" i="0" dirty="0">
                <a:solidFill>
                  <a:srgbClr val="3C7CDE"/>
                </a:solidFill>
                <a:latin typeface="Pretendard"/>
              </a:rPr>
              <a:t> </a:t>
            </a:r>
            <a:r>
              <a:rPr sz="1150" b="1" i="0" dirty="0" err="1">
                <a:solidFill>
                  <a:srgbClr val="3C7CDE"/>
                </a:solidFill>
                <a:latin typeface="Pretendard"/>
              </a:rPr>
              <a:t>배포</a:t>
            </a:r>
            <a:endParaRPr sz="1150" b="1" i="0" dirty="0">
              <a:solidFill>
                <a:srgbClr val="3C7CDE"/>
              </a:solidFill>
              <a:latin typeface="Pretendard"/>
            </a:endParaRPr>
          </a:p>
          <a:p>
            <a:pPr>
              <a:lnSpc>
                <a:spcPct val="116000"/>
              </a:lnSpc>
            </a:pPr>
            <a:r>
              <a:rPr sz="1150" b="0" i="0" dirty="0">
                <a:solidFill>
                  <a:srgbClr val="202124"/>
                </a:solidFill>
                <a:latin typeface="Pretendard"/>
              </a:rPr>
              <a:t>• </a:t>
            </a:r>
            <a:r>
              <a:rPr sz="1150" b="0" i="0" dirty="0" err="1">
                <a:solidFill>
                  <a:srgbClr val="202124"/>
                </a:solidFill>
                <a:latin typeface="Pretendard"/>
              </a:rPr>
              <a:t>공정</a:t>
            </a:r>
            <a:r>
              <a:rPr sz="1150" b="0" i="0" dirty="0">
                <a:solidFill>
                  <a:srgbClr val="202124"/>
                </a:solidFill>
                <a:latin typeface="Pretendard"/>
              </a:rPr>
              <a:t> </a:t>
            </a:r>
            <a:r>
              <a:rPr sz="1150" b="0" i="0" dirty="0" err="1">
                <a:solidFill>
                  <a:srgbClr val="202124"/>
                </a:solidFill>
                <a:latin typeface="Pretendard"/>
              </a:rPr>
              <a:t>데이터</a:t>
            </a:r>
            <a:r>
              <a:rPr sz="1150" b="0" i="0" dirty="0">
                <a:solidFill>
                  <a:srgbClr val="202124"/>
                </a:solidFill>
                <a:latin typeface="Pretendard"/>
              </a:rPr>
              <a:t> </a:t>
            </a:r>
            <a:r>
              <a:rPr sz="1150" b="0" i="0" dirty="0" err="1">
                <a:solidFill>
                  <a:srgbClr val="202124"/>
                </a:solidFill>
                <a:latin typeface="Pretendard"/>
              </a:rPr>
              <a:t>외부</a:t>
            </a:r>
            <a:r>
              <a:rPr sz="1150" b="0" i="0" dirty="0">
                <a:solidFill>
                  <a:srgbClr val="202124"/>
                </a:solidFill>
                <a:latin typeface="Pretendard"/>
              </a:rPr>
              <a:t> </a:t>
            </a:r>
            <a:r>
              <a:rPr sz="1150" b="0" i="0" dirty="0" err="1">
                <a:solidFill>
                  <a:srgbClr val="202124"/>
                </a:solidFill>
                <a:latin typeface="Pretendard"/>
              </a:rPr>
              <a:t>전송</a:t>
            </a:r>
            <a:r>
              <a:rPr sz="1150" b="0" i="0" dirty="0">
                <a:solidFill>
                  <a:srgbClr val="202124"/>
                </a:solidFill>
                <a:latin typeface="Pretendard"/>
              </a:rPr>
              <a:t> 0 (</a:t>
            </a:r>
            <a:r>
              <a:rPr sz="1150" b="0" i="0" dirty="0" err="1">
                <a:solidFill>
                  <a:srgbClr val="202124"/>
                </a:solidFill>
                <a:latin typeface="Pretendard"/>
              </a:rPr>
              <a:t>보안</a:t>
            </a:r>
            <a:r>
              <a:rPr sz="1150" b="0" i="0" dirty="0">
                <a:solidFill>
                  <a:srgbClr val="202124"/>
                </a:solidFill>
                <a:latin typeface="Pretendard"/>
              </a:rPr>
              <a:t> </a:t>
            </a:r>
            <a:r>
              <a:rPr sz="1150" b="0" i="0" dirty="0" err="1">
                <a:solidFill>
                  <a:srgbClr val="202124"/>
                </a:solidFill>
                <a:latin typeface="Pretendard"/>
              </a:rPr>
              <a:t>우려</a:t>
            </a:r>
            <a:r>
              <a:rPr sz="1150" b="0" i="0" dirty="0">
                <a:solidFill>
                  <a:srgbClr val="202124"/>
                </a:solidFill>
                <a:latin typeface="Pretendard"/>
              </a:rPr>
              <a:t> </a:t>
            </a:r>
            <a:r>
              <a:rPr sz="1150" b="0" i="0" dirty="0" err="1">
                <a:solidFill>
                  <a:srgbClr val="202124"/>
                </a:solidFill>
                <a:latin typeface="Pretendard"/>
              </a:rPr>
              <a:t>해소</a:t>
            </a:r>
            <a:r>
              <a:rPr sz="1150" b="0" i="0" dirty="0">
                <a:solidFill>
                  <a:srgbClr val="202124"/>
                </a:solidFill>
                <a:latin typeface="Pretendard"/>
              </a:rPr>
              <a:t>)</a:t>
            </a:r>
          </a:p>
          <a:p>
            <a:pPr>
              <a:lnSpc>
                <a:spcPct val="116000"/>
              </a:lnSpc>
            </a:pPr>
            <a:r>
              <a:rPr sz="1150" b="1" i="0" dirty="0" err="1">
                <a:solidFill>
                  <a:srgbClr val="3C7CDE"/>
                </a:solidFill>
                <a:latin typeface="Pretendard"/>
              </a:rPr>
              <a:t>최소</a:t>
            </a:r>
            <a:r>
              <a:rPr sz="1150" b="1" i="0" dirty="0">
                <a:solidFill>
                  <a:srgbClr val="3C7CDE"/>
                </a:solidFill>
                <a:latin typeface="Pretendard"/>
              </a:rPr>
              <a:t> </a:t>
            </a:r>
            <a:r>
              <a:rPr sz="1150" b="1" i="0" dirty="0" err="1">
                <a:solidFill>
                  <a:srgbClr val="3C7CDE"/>
                </a:solidFill>
                <a:latin typeface="Pretendard"/>
              </a:rPr>
              <a:t>사양</a:t>
            </a:r>
            <a:endParaRPr sz="1150" b="1" i="0" dirty="0">
              <a:solidFill>
                <a:srgbClr val="3C7CDE"/>
              </a:solidFill>
              <a:latin typeface="Pretendard"/>
            </a:endParaRPr>
          </a:p>
          <a:p>
            <a:pPr>
              <a:lnSpc>
                <a:spcPct val="116000"/>
              </a:lnSpc>
            </a:pPr>
            <a:r>
              <a:rPr sz="1150" b="0" i="0" dirty="0">
                <a:solidFill>
                  <a:srgbClr val="202124"/>
                </a:solidFill>
                <a:latin typeface="Pretendard"/>
              </a:rPr>
              <a:t>• 8GB RAM </a:t>
            </a:r>
            <a:r>
              <a:rPr sz="1150" b="0" i="0" dirty="0" err="1">
                <a:solidFill>
                  <a:srgbClr val="202124"/>
                </a:solidFill>
                <a:latin typeface="Pretendard"/>
              </a:rPr>
              <a:t>보급형</a:t>
            </a:r>
            <a:r>
              <a:rPr sz="1150" b="0" i="0" dirty="0">
                <a:solidFill>
                  <a:srgbClr val="202124"/>
                </a:solidFill>
                <a:latin typeface="Pretendard"/>
              </a:rPr>
              <a:t> PC · CPU </a:t>
            </a:r>
            <a:r>
              <a:rPr sz="1150" b="0" i="0" dirty="0" err="1">
                <a:solidFill>
                  <a:srgbClr val="202124"/>
                </a:solidFill>
                <a:latin typeface="Pretendard"/>
              </a:rPr>
              <a:t>전용</a:t>
            </a:r>
            <a:r>
              <a:rPr sz="1150" b="0" i="0" dirty="0">
                <a:solidFill>
                  <a:srgbClr val="202124"/>
                </a:solidFill>
                <a:latin typeface="Pretendard"/>
              </a:rPr>
              <a:t> </a:t>
            </a:r>
            <a:r>
              <a:rPr sz="1150" b="0" i="0" dirty="0" err="1">
                <a:solidFill>
                  <a:srgbClr val="202124"/>
                </a:solidFill>
                <a:latin typeface="Pretendard"/>
              </a:rPr>
              <a:t>가능</a:t>
            </a:r>
            <a:r>
              <a:rPr sz="1150" b="0" i="0" dirty="0">
                <a:solidFill>
                  <a:srgbClr val="202124"/>
                </a:solidFill>
                <a:latin typeface="Pretendard"/>
              </a:rPr>
              <a:t> (GPU </a:t>
            </a:r>
            <a:r>
              <a:rPr sz="1150" b="0" i="0" dirty="0" err="1">
                <a:solidFill>
                  <a:srgbClr val="202124"/>
                </a:solidFill>
                <a:latin typeface="Pretendard"/>
              </a:rPr>
              <a:t>불필요</a:t>
            </a:r>
            <a:r>
              <a:rPr sz="1150" b="0" i="0" dirty="0">
                <a:solidFill>
                  <a:srgbClr val="202124"/>
                </a:solidFill>
                <a:latin typeface="Pretendard"/>
              </a:rPr>
              <a:t>)</a:t>
            </a:r>
          </a:p>
          <a:p>
            <a:pPr>
              <a:lnSpc>
                <a:spcPct val="116000"/>
              </a:lnSpc>
            </a:pPr>
            <a:r>
              <a:rPr sz="1150" b="1" i="0" dirty="0" err="1">
                <a:solidFill>
                  <a:srgbClr val="3C7CDE"/>
                </a:solidFill>
                <a:latin typeface="Pretendard"/>
              </a:rPr>
              <a:t>원클릭</a:t>
            </a:r>
            <a:r>
              <a:rPr sz="1150" b="1" i="0" dirty="0">
                <a:solidFill>
                  <a:srgbClr val="3C7CDE"/>
                </a:solidFill>
                <a:latin typeface="Pretendard"/>
              </a:rPr>
              <a:t> </a:t>
            </a:r>
            <a:r>
              <a:rPr sz="1150" b="1" i="0" dirty="0" err="1">
                <a:solidFill>
                  <a:srgbClr val="3C7CDE"/>
                </a:solidFill>
                <a:latin typeface="Pretendard"/>
              </a:rPr>
              <a:t>설치</a:t>
            </a:r>
            <a:endParaRPr sz="1150" b="1" i="0" dirty="0">
              <a:solidFill>
                <a:srgbClr val="3C7CDE"/>
              </a:solidFill>
              <a:latin typeface="Pretendard"/>
            </a:endParaRPr>
          </a:p>
          <a:p>
            <a:pPr>
              <a:lnSpc>
                <a:spcPct val="116000"/>
              </a:lnSpc>
            </a:pPr>
            <a:r>
              <a:rPr sz="1150" b="0" i="0" dirty="0">
                <a:solidFill>
                  <a:srgbClr val="202124"/>
                </a:solidFill>
                <a:latin typeface="Pretendard"/>
              </a:rPr>
              <a:t>• install.bat </a:t>
            </a:r>
            <a:r>
              <a:rPr sz="1150" b="0" i="0" dirty="0" err="1">
                <a:solidFill>
                  <a:srgbClr val="202124"/>
                </a:solidFill>
                <a:latin typeface="Pretendard"/>
              </a:rPr>
              <a:t>더블클릭</a:t>
            </a:r>
            <a:r>
              <a:rPr sz="1150" b="0" i="0" dirty="0">
                <a:solidFill>
                  <a:srgbClr val="202124"/>
                </a:solidFill>
                <a:latin typeface="Pretendard"/>
              </a:rPr>
              <a:t> · IT </a:t>
            </a:r>
            <a:r>
              <a:rPr sz="1150" b="0" i="0" dirty="0" err="1">
                <a:solidFill>
                  <a:srgbClr val="202124"/>
                </a:solidFill>
                <a:latin typeface="Pretendard"/>
              </a:rPr>
              <a:t>인력</a:t>
            </a:r>
            <a:r>
              <a:rPr sz="1150" b="0" i="0" dirty="0">
                <a:solidFill>
                  <a:srgbClr val="202124"/>
                </a:solidFill>
                <a:latin typeface="Pretendard"/>
              </a:rPr>
              <a:t> </a:t>
            </a:r>
            <a:r>
              <a:rPr sz="1150" b="0" i="0" dirty="0" err="1">
                <a:solidFill>
                  <a:srgbClr val="202124"/>
                </a:solidFill>
                <a:latin typeface="Pretendard"/>
              </a:rPr>
              <a:t>부담</a:t>
            </a:r>
            <a:r>
              <a:rPr sz="1150" b="0" i="0" dirty="0">
                <a:solidFill>
                  <a:srgbClr val="202124"/>
                </a:solidFill>
                <a:latin typeface="Pretendard"/>
              </a:rPr>
              <a:t> </a:t>
            </a:r>
            <a:r>
              <a:rPr sz="1150" b="0" i="0" dirty="0" err="1">
                <a:solidFill>
                  <a:srgbClr val="202124"/>
                </a:solidFill>
                <a:latin typeface="Pretendard"/>
              </a:rPr>
              <a:t>최소화</a:t>
            </a:r>
            <a:endParaRPr sz="1150" b="0" i="0" dirty="0">
              <a:solidFill>
                <a:srgbClr val="202124"/>
              </a:solidFill>
              <a:latin typeface="Pretendard"/>
            </a:endParaRPr>
          </a:p>
          <a:p>
            <a:pPr>
              <a:lnSpc>
                <a:spcPct val="116000"/>
              </a:lnSpc>
            </a:pPr>
            <a:r>
              <a:rPr sz="1150" b="1" i="0" dirty="0" err="1">
                <a:solidFill>
                  <a:srgbClr val="3C7CDE"/>
                </a:solidFill>
                <a:latin typeface="Pretendard"/>
              </a:rPr>
              <a:t>다설비</a:t>
            </a:r>
            <a:r>
              <a:rPr sz="1150" b="1" i="0" dirty="0">
                <a:solidFill>
                  <a:srgbClr val="3C7CDE"/>
                </a:solidFill>
                <a:latin typeface="Pretendard"/>
              </a:rPr>
              <a:t> </a:t>
            </a:r>
            <a:r>
              <a:rPr sz="1150" b="1" i="0" dirty="0" err="1">
                <a:solidFill>
                  <a:srgbClr val="3C7CDE"/>
                </a:solidFill>
                <a:latin typeface="Pretendard"/>
              </a:rPr>
              <a:t>확장</a:t>
            </a:r>
            <a:r>
              <a:rPr sz="1150" b="1" i="0" dirty="0">
                <a:solidFill>
                  <a:srgbClr val="3C7CDE"/>
                </a:solidFill>
                <a:latin typeface="Pretendard"/>
              </a:rPr>
              <a:t> </a:t>
            </a:r>
            <a:r>
              <a:rPr sz="1150" b="1" i="0" dirty="0" err="1">
                <a:solidFill>
                  <a:srgbClr val="3C7CDE"/>
                </a:solidFill>
                <a:latin typeface="Pretendard"/>
              </a:rPr>
              <a:t>준비</a:t>
            </a:r>
            <a:endParaRPr sz="1150" b="1" i="0" dirty="0">
              <a:solidFill>
                <a:srgbClr val="3C7CDE"/>
              </a:solidFill>
              <a:latin typeface="Pretendard"/>
            </a:endParaRPr>
          </a:p>
          <a:p>
            <a:pPr>
              <a:lnSpc>
                <a:spcPct val="116000"/>
              </a:lnSpc>
            </a:pPr>
            <a:r>
              <a:rPr sz="1150" b="0" i="0" dirty="0">
                <a:solidFill>
                  <a:srgbClr val="202124"/>
                </a:solidFill>
                <a:latin typeface="Pretendard"/>
              </a:rPr>
              <a:t>• </a:t>
            </a:r>
            <a:r>
              <a:rPr sz="1150" b="0" i="0" dirty="0" err="1">
                <a:solidFill>
                  <a:srgbClr val="202124"/>
                </a:solidFill>
                <a:latin typeface="Pretendard"/>
              </a:rPr>
              <a:t>사이드바</a:t>
            </a:r>
            <a:r>
              <a:rPr sz="1150" b="0" i="0" dirty="0">
                <a:solidFill>
                  <a:srgbClr val="202124"/>
                </a:solidFill>
                <a:latin typeface="Pretendard"/>
              </a:rPr>
              <a:t> </a:t>
            </a:r>
            <a:r>
              <a:rPr sz="1150" b="0" i="0" dirty="0" err="1">
                <a:solidFill>
                  <a:srgbClr val="202124"/>
                </a:solidFill>
                <a:latin typeface="Pretendard"/>
              </a:rPr>
              <a:t>설비</a:t>
            </a:r>
            <a:r>
              <a:rPr sz="1150" b="0" i="0" dirty="0">
                <a:solidFill>
                  <a:srgbClr val="202124"/>
                </a:solidFill>
                <a:latin typeface="Pretendard"/>
              </a:rPr>
              <a:t> </a:t>
            </a:r>
            <a:r>
              <a:rPr sz="1150" b="0" i="0" dirty="0" err="1">
                <a:solidFill>
                  <a:srgbClr val="202124"/>
                </a:solidFill>
                <a:latin typeface="Pretendard"/>
              </a:rPr>
              <a:t>선택기</a:t>
            </a:r>
            <a:r>
              <a:rPr sz="1150" b="0" i="0" dirty="0">
                <a:solidFill>
                  <a:srgbClr val="202124"/>
                </a:solidFill>
                <a:latin typeface="Pretendard"/>
              </a:rPr>
              <a:t> UI </a:t>
            </a:r>
            <a:r>
              <a:rPr sz="1150" b="0" i="0" dirty="0" err="1">
                <a:solidFill>
                  <a:srgbClr val="202124"/>
                </a:solidFill>
                <a:latin typeface="Pretendard"/>
              </a:rPr>
              <a:t>이미</a:t>
            </a:r>
            <a:r>
              <a:rPr sz="1150" b="0" i="0" dirty="0">
                <a:solidFill>
                  <a:srgbClr val="202124"/>
                </a:solidFill>
                <a:latin typeface="Pretendard"/>
              </a:rPr>
              <a:t> </a:t>
            </a:r>
            <a:r>
              <a:rPr sz="1150" b="0" i="0" dirty="0" err="1">
                <a:solidFill>
                  <a:srgbClr val="202124"/>
                </a:solidFill>
                <a:latin typeface="Pretendard"/>
              </a:rPr>
              <a:t>구현</a:t>
            </a:r>
            <a:endParaRPr sz="1150" b="0" i="0" dirty="0">
              <a:solidFill>
                <a:srgbClr val="202124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24143062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73B9D12E-1495-9345-B5C1-6CA487351340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2" name="Google Shape;99;p2">
            <a:extLst>
              <a:ext uri="{FF2B5EF4-FFF2-40B4-BE49-F238E27FC236}">
                <a16:creationId xmlns:a16="http://schemas.microsoft.com/office/drawing/2014/main" id="{662CCC3A-67D3-9E2D-ED85-F4ACDA9881F3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10197046-830B-49AC-2A1E-DDD714EA3942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7.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기대 효과 및 향후 확장성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(Expected Impact)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" name="Google Shape;105;p2">
            <a:extLst>
              <a:ext uri="{FF2B5EF4-FFF2-40B4-BE49-F238E27FC236}">
                <a16:creationId xmlns:a16="http://schemas.microsoft.com/office/drawing/2014/main" id="{648C386E-E25E-A7E0-794C-23D5AC7A5576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5670" y="6415547"/>
            <a:ext cx="1007955" cy="353407"/>
          </a:xfrm>
          <a:prstGeom prst="rect">
            <a:avLst/>
          </a:prstGeom>
        </p:spPr>
      </p:pic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BDBA01F2-CD0A-EE54-FD1F-D2390E85F862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C5544C-80B5-F11D-247F-B4A6731ECC76}"/>
              </a:ext>
            </a:extLst>
          </p:cNvPr>
          <p:cNvSpPr txBox="1"/>
          <p:nvPr/>
        </p:nvSpPr>
        <p:spPr>
          <a:xfrm>
            <a:off x="939333" y="1189703"/>
            <a:ext cx="43085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7. </a:t>
            </a:r>
            <a:r>
              <a:rPr lang="ko-KR" altLang="en-US" dirty="0">
                <a:latin typeface="+mj-ea"/>
                <a:ea typeface="+mj-ea"/>
              </a:rPr>
              <a:t>기대 효과 및 향후 확장성 </a:t>
            </a:r>
            <a:r>
              <a:rPr lang="en-US" altLang="ko-KR" dirty="0">
                <a:latin typeface="+mj-ea"/>
                <a:ea typeface="+mj-ea"/>
              </a:rPr>
              <a:t>(Expected Impact)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F9243552-6E4F-42E8-93DC-3EB0B30CBB04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8782" y="6434300"/>
            <a:ext cx="1555879" cy="335564"/>
          </a:xfrm>
          <a:prstGeom prst="rect">
            <a:avLst/>
          </a:prstGeom>
        </p:spPr>
      </p:pic>
      <p:sp>
        <p:nvSpPr>
          <p:cNvPr id="4" name="Google Shape;100;p2">
            <a:extLst>
              <a:ext uri="{FF2B5EF4-FFF2-40B4-BE49-F238E27FC236}">
                <a16:creationId xmlns:a16="http://schemas.microsoft.com/office/drawing/2014/main" id="{FD31846E-1545-CCE0-0B44-9A65BC1534A7}"/>
              </a:ext>
            </a:extLst>
          </p:cNvPr>
          <p:cNvSpPr txBox="1"/>
          <p:nvPr/>
        </p:nvSpPr>
        <p:spPr>
          <a:xfrm>
            <a:off x="8775865" y="229867"/>
            <a:ext cx="3044336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스마트 공장 운영 시스템 </a:t>
            </a: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MVP 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 </a:t>
            </a:r>
            <a:r>
              <a:rPr lang="ko-KR" altLang="en-US" sz="1000" b="1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해커톤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66928" y="1764792"/>
            <a:ext cx="101600" cy="164592"/>
          </a:xfrm>
          <a:prstGeom prst="rect">
            <a:avLst/>
          </a:prstGeom>
          <a:solidFill>
            <a:srgbClr val="3C7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1691640"/>
            <a:ext cx="10954512" cy="21031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200" b="1" i="0" dirty="0">
                <a:solidFill>
                  <a:schemeClr val="tx1"/>
                </a:solidFill>
                <a:latin typeface="Pretendard"/>
              </a:rPr>
              <a:t>1. </a:t>
            </a:r>
            <a:r>
              <a:rPr sz="1200" b="1" i="0" dirty="0" err="1">
                <a:solidFill>
                  <a:schemeClr val="tx1"/>
                </a:solidFill>
                <a:latin typeface="Pretendard"/>
              </a:rPr>
              <a:t>향후</a:t>
            </a:r>
            <a:r>
              <a:rPr sz="1200" b="1" i="0" dirty="0">
                <a:solidFill>
                  <a:schemeClr val="tx1"/>
                </a:solidFill>
                <a:latin typeface="Pretendard"/>
              </a:rPr>
              <a:t> </a:t>
            </a:r>
            <a:r>
              <a:rPr sz="1200" b="1" i="0" dirty="0" err="1">
                <a:solidFill>
                  <a:schemeClr val="tx1"/>
                </a:solidFill>
                <a:latin typeface="Pretendard"/>
              </a:rPr>
              <a:t>고도화</a:t>
            </a:r>
            <a:r>
              <a:rPr sz="1200" b="1" i="0" dirty="0">
                <a:solidFill>
                  <a:schemeClr val="tx1"/>
                </a:solidFill>
                <a:latin typeface="Pretendard"/>
              </a:rPr>
              <a:t> — </a:t>
            </a:r>
            <a:r>
              <a:rPr sz="1200" b="1" i="0" dirty="0" err="1">
                <a:solidFill>
                  <a:schemeClr val="tx1"/>
                </a:solidFill>
                <a:latin typeface="Pretendard"/>
              </a:rPr>
              <a:t>수평·수직</a:t>
            </a:r>
            <a:r>
              <a:rPr sz="1200" b="1" i="0" dirty="0">
                <a:solidFill>
                  <a:schemeClr val="tx1"/>
                </a:solidFill>
                <a:latin typeface="Pretendard"/>
              </a:rPr>
              <a:t> </a:t>
            </a:r>
            <a:r>
              <a:rPr sz="1200" b="1" i="0" dirty="0" err="1">
                <a:solidFill>
                  <a:schemeClr val="tx1"/>
                </a:solidFill>
                <a:latin typeface="Pretendard"/>
              </a:rPr>
              <a:t>확장</a:t>
            </a:r>
            <a:endParaRPr sz="1200" b="1" i="0" dirty="0">
              <a:solidFill>
                <a:schemeClr val="tx1"/>
              </a:solidFill>
              <a:latin typeface="Pretendard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66928" y="2075688"/>
            <a:ext cx="5486400" cy="1417320"/>
          </a:xfrm>
          <a:prstGeom prst="rect">
            <a:avLst/>
          </a:prstGeom>
          <a:solidFill>
            <a:srgbClr val="F5F8FD"/>
          </a:solidFill>
          <a:ln w="635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04088" y="2130552"/>
            <a:ext cx="5212080" cy="256032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300" b="1" i="0">
                <a:solidFill>
                  <a:srgbClr val="3C7CDE"/>
                </a:solidFill>
                <a:latin typeface="Pretendard"/>
              </a:rPr>
              <a:t>수평 확장 — 도메인 / 설비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441448"/>
            <a:ext cx="5212080" cy="724109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28000"/>
              </a:lnSpc>
            </a:pPr>
            <a:r>
              <a:rPr sz="1100" b="0" i="0" dirty="0">
                <a:solidFill>
                  <a:srgbClr val="202124"/>
                </a:solidFill>
                <a:latin typeface="Pretendard"/>
              </a:rPr>
              <a:t>• </a:t>
            </a:r>
            <a:r>
              <a:rPr sz="1100" b="1" i="0" dirty="0" err="1">
                <a:solidFill>
                  <a:srgbClr val="202124"/>
                </a:solidFill>
                <a:latin typeface="Pretendard"/>
              </a:rPr>
              <a:t>사출성형</a:t>
            </a:r>
            <a:r>
              <a:rPr sz="1100" b="1" i="0" dirty="0">
                <a:solidFill>
                  <a:srgbClr val="202124"/>
                </a:solidFill>
                <a:latin typeface="Pretendard"/>
              </a:rPr>
              <a:t> → </a:t>
            </a:r>
            <a:r>
              <a:rPr sz="1100" b="1" i="0" dirty="0" err="1">
                <a:solidFill>
                  <a:srgbClr val="202124"/>
                </a:solidFill>
                <a:latin typeface="Pretendard"/>
              </a:rPr>
              <a:t>다이캐스팅</a:t>
            </a:r>
            <a:r>
              <a:rPr sz="1100" b="1" i="0" dirty="0">
                <a:solidFill>
                  <a:srgbClr val="202124"/>
                </a:solidFill>
                <a:latin typeface="Pretendard"/>
              </a:rPr>
              <a:t> / CNC / </a:t>
            </a:r>
            <a:r>
              <a:rPr sz="1100" b="1" i="0" dirty="0" err="1">
                <a:solidFill>
                  <a:srgbClr val="202124"/>
                </a:solidFill>
                <a:latin typeface="Pretendard"/>
              </a:rPr>
              <a:t>프레스</a:t>
            </a:r>
            <a:r>
              <a:rPr sz="1100" b="1" i="0" dirty="0">
                <a:solidFill>
                  <a:srgbClr val="202124"/>
                </a:solidFill>
                <a:latin typeface="Pretendard"/>
              </a:rPr>
              <a:t> (24센서 </a:t>
            </a:r>
            <a:r>
              <a:rPr sz="1100" b="1" i="0" dirty="0" err="1">
                <a:solidFill>
                  <a:srgbClr val="202124"/>
                </a:solidFill>
                <a:latin typeface="Pretendard"/>
              </a:rPr>
              <a:t>표준</a:t>
            </a:r>
            <a:r>
              <a:rPr sz="1100" b="1" i="0" dirty="0">
                <a:solidFill>
                  <a:srgbClr val="202124"/>
                </a:solidFill>
                <a:latin typeface="Pretendard"/>
              </a:rPr>
              <a:t> </a:t>
            </a:r>
            <a:r>
              <a:rPr sz="1100" b="1" i="0" dirty="0" err="1">
                <a:solidFill>
                  <a:srgbClr val="202124"/>
                </a:solidFill>
                <a:latin typeface="Pretendard"/>
              </a:rPr>
              <a:t>인터페이스</a:t>
            </a:r>
            <a:r>
              <a:rPr sz="1100" b="1" i="0" dirty="0">
                <a:solidFill>
                  <a:srgbClr val="202124"/>
                </a:solidFill>
                <a:latin typeface="Pretendard"/>
              </a:rPr>
              <a:t>)</a:t>
            </a:r>
          </a:p>
          <a:p>
            <a:pPr>
              <a:lnSpc>
                <a:spcPct val="128000"/>
              </a:lnSpc>
            </a:pPr>
            <a:r>
              <a:rPr sz="1100" b="0" i="0" dirty="0">
                <a:solidFill>
                  <a:srgbClr val="202124"/>
                </a:solidFill>
                <a:latin typeface="Pretendard"/>
              </a:rPr>
              <a:t>• </a:t>
            </a:r>
            <a:r>
              <a:rPr sz="1100" b="1" i="0" dirty="0">
                <a:solidFill>
                  <a:srgbClr val="202124"/>
                </a:solidFill>
                <a:latin typeface="Pretendard"/>
              </a:rPr>
              <a:t>KAMP 12종 </a:t>
            </a:r>
            <a:r>
              <a:rPr sz="1100" b="1" i="0" dirty="0" err="1">
                <a:solidFill>
                  <a:srgbClr val="202124"/>
                </a:solidFill>
                <a:latin typeface="Pretendard"/>
              </a:rPr>
              <a:t>공공</a:t>
            </a:r>
            <a:r>
              <a:rPr sz="1100" b="1" i="0" dirty="0">
                <a:solidFill>
                  <a:srgbClr val="202124"/>
                </a:solidFill>
                <a:latin typeface="Pretendard"/>
              </a:rPr>
              <a:t> </a:t>
            </a:r>
            <a:r>
              <a:rPr sz="1100" b="1" i="0" dirty="0" err="1">
                <a:solidFill>
                  <a:srgbClr val="202124"/>
                </a:solidFill>
                <a:latin typeface="Pretendard"/>
              </a:rPr>
              <a:t>데이터셋</a:t>
            </a:r>
            <a:r>
              <a:rPr sz="1100" b="1" i="0" dirty="0">
                <a:solidFill>
                  <a:srgbClr val="202124"/>
                </a:solidFill>
                <a:latin typeface="Pretendard"/>
              </a:rPr>
              <a:t> → </a:t>
            </a:r>
            <a:r>
              <a:rPr sz="1100" b="1" i="0" dirty="0" err="1">
                <a:solidFill>
                  <a:srgbClr val="202124"/>
                </a:solidFill>
                <a:latin typeface="Pretendard"/>
              </a:rPr>
              <a:t>공정별</a:t>
            </a:r>
            <a:r>
              <a:rPr sz="1100" b="1" i="0" dirty="0">
                <a:solidFill>
                  <a:srgbClr val="202124"/>
                </a:solidFill>
                <a:latin typeface="Pretendard"/>
              </a:rPr>
              <a:t> </a:t>
            </a:r>
            <a:r>
              <a:rPr sz="1100" b="1" i="0" dirty="0" err="1">
                <a:solidFill>
                  <a:srgbClr val="202124"/>
                </a:solidFill>
                <a:latin typeface="Pretendard"/>
              </a:rPr>
              <a:t>모델</a:t>
            </a:r>
            <a:r>
              <a:rPr sz="1100" b="1" i="0" dirty="0">
                <a:solidFill>
                  <a:srgbClr val="202124"/>
                </a:solidFill>
                <a:latin typeface="Pretendard"/>
              </a:rPr>
              <a:t> </a:t>
            </a:r>
            <a:r>
              <a:rPr sz="1100" b="1" i="0" dirty="0" err="1">
                <a:solidFill>
                  <a:srgbClr val="202124"/>
                </a:solidFill>
                <a:latin typeface="Pretendard"/>
              </a:rPr>
              <a:t>카탈로그</a:t>
            </a:r>
            <a:r>
              <a:rPr sz="1100" b="1" i="0" dirty="0">
                <a:solidFill>
                  <a:srgbClr val="202124"/>
                </a:solidFill>
                <a:latin typeface="Pretendard"/>
              </a:rPr>
              <a:t> SaaS</a:t>
            </a:r>
          </a:p>
          <a:p>
            <a:pPr>
              <a:lnSpc>
                <a:spcPct val="128000"/>
              </a:lnSpc>
            </a:pPr>
            <a:r>
              <a:rPr sz="1100" b="0" i="0" dirty="0">
                <a:solidFill>
                  <a:srgbClr val="202124"/>
                </a:solidFill>
                <a:latin typeface="Pretendard"/>
              </a:rPr>
              <a:t>• </a:t>
            </a:r>
            <a:r>
              <a:rPr sz="1100" b="0" i="0" dirty="0" err="1">
                <a:solidFill>
                  <a:srgbClr val="202124"/>
                </a:solidFill>
                <a:latin typeface="Pretendard"/>
              </a:rPr>
              <a:t>다지점</a:t>
            </a:r>
            <a:r>
              <a:rPr sz="1100" b="0" i="0" dirty="0">
                <a:solidFill>
                  <a:srgbClr val="202124"/>
                </a:solidFill>
                <a:latin typeface="Pretendard"/>
              </a:rPr>
              <a:t> </a:t>
            </a:r>
            <a:r>
              <a:rPr sz="1100" b="0" i="0" dirty="0" err="1">
                <a:solidFill>
                  <a:srgbClr val="202124"/>
                </a:solidFill>
                <a:latin typeface="Pretendard"/>
              </a:rPr>
              <a:t>공장</a:t>
            </a:r>
            <a:r>
              <a:rPr sz="1100" b="0" i="0" dirty="0">
                <a:solidFill>
                  <a:srgbClr val="202124"/>
                </a:solidFill>
                <a:latin typeface="Pretendard"/>
              </a:rPr>
              <a:t> </a:t>
            </a:r>
            <a:r>
              <a:rPr sz="1100" b="0" i="0" dirty="0" err="1">
                <a:solidFill>
                  <a:srgbClr val="202124"/>
                </a:solidFill>
                <a:latin typeface="Pretendard"/>
              </a:rPr>
              <a:t>통합</a:t>
            </a:r>
            <a:r>
              <a:rPr sz="1100" b="0" i="0" dirty="0">
                <a:solidFill>
                  <a:srgbClr val="202124"/>
                </a:solidFill>
                <a:latin typeface="Pretendard"/>
              </a:rPr>
              <a:t> </a:t>
            </a:r>
            <a:r>
              <a:rPr sz="1100" b="0" i="0" dirty="0" err="1">
                <a:solidFill>
                  <a:srgbClr val="202124"/>
                </a:solidFill>
                <a:latin typeface="Pretendard"/>
              </a:rPr>
              <a:t>모니터링</a:t>
            </a:r>
            <a:r>
              <a:rPr sz="1100" b="0" i="0" dirty="0">
                <a:solidFill>
                  <a:srgbClr val="202124"/>
                </a:solidFill>
                <a:latin typeface="Pretendard"/>
              </a:rPr>
              <a:t> (</a:t>
            </a:r>
            <a:r>
              <a:rPr sz="1100" b="0" i="0" dirty="0" err="1">
                <a:solidFill>
                  <a:srgbClr val="202124"/>
                </a:solidFill>
                <a:latin typeface="Pretendard"/>
              </a:rPr>
              <a:t>사이드바</a:t>
            </a:r>
            <a:r>
              <a:rPr sz="1100" b="0" i="0" dirty="0">
                <a:solidFill>
                  <a:srgbClr val="202124"/>
                </a:solidFill>
                <a:latin typeface="Pretendard"/>
              </a:rPr>
              <a:t> </a:t>
            </a:r>
            <a:r>
              <a:rPr sz="1100" b="0" i="0" dirty="0" err="1">
                <a:solidFill>
                  <a:srgbClr val="202124"/>
                </a:solidFill>
                <a:latin typeface="Pretendard"/>
              </a:rPr>
              <a:t>설비</a:t>
            </a:r>
            <a:r>
              <a:rPr sz="1100" b="0" i="0" dirty="0">
                <a:solidFill>
                  <a:srgbClr val="202124"/>
                </a:solidFill>
                <a:latin typeface="Pretendard"/>
              </a:rPr>
              <a:t> </a:t>
            </a:r>
            <a:r>
              <a:rPr sz="1100" b="0" i="0" dirty="0" err="1">
                <a:solidFill>
                  <a:srgbClr val="202124"/>
                </a:solidFill>
                <a:latin typeface="Pretendard"/>
              </a:rPr>
              <a:t>선택기</a:t>
            </a:r>
            <a:r>
              <a:rPr sz="1100" b="0" i="0" dirty="0">
                <a:solidFill>
                  <a:srgbClr val="202124"/>
                </a:solidFill>
                <a:latin typeface="Pretendard"/>
              </a:rPr>
              <a:t> → </a:t>
            </a:r>
            <a:r>
              <a:rPr sz="1100" b="0" i="0" dirty="0" err="1">
                <a:solidFill>
                  <a:srgbClr val="202124"/>
                </a:solidFill>
                <a:latin typeface="Pretendard"/>
              </a:rPr>
              <a:t>클러스터</a:t>
            </a:r>
            <a:r>
              <a:rPr sz="1100" b="0" i="0" dirty="0">
                <a:solidFill>
                  <a:srgbClr val="202124"/>
                </a:solidFill>
                <a:latin typeface="Pretendard"/>
              </a:rPr>
              <a:t>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075688"/>
            <a:ext cx="5486400" cy="1417320"/>
          </a:xfrm>
          <a:prstGeom prst="rect">
            <a:avLst/>
          </a:prstGeom>
          <a:solidFill>
            <a:srgbClr val="F5F8FD"/>
          </a:solidFill>
          <a:ln w="635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55080" y="2130552"/>
            <a:ext cx="5303520" cy="256032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300" b="1" i="0">
                <a:solidFill>
                  <a:srgbClr val="3C7CDE"/>
                </a:solidFill>
                <a:latin typeface="Pretendard"/>
              </a:rPr>
              <a:t>수직 확장 — AI · 분석 기술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2441448"/>
            <a:ext cx="5303520" cy="724109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28000"/>
              </a:lnSpc>
            </a:pPr>
            <a:r>
              <a:rPr sz="1100" b="0" i="0" dirty="0">
                <a:solidFill>
                  <a:srgbClr val="202124"/>
                </a:solidFill>
                <a:latin typeface="Pretendard"/>
              </a:rPr>
              <a:t>• Autoencoder → </a:t>
            </a:r>
            <a:r>
              <a:rPr sz="1100" b="1" i="0" dirty="0">
                <a:solidFill>
                  <a:srgbClr val="202124"/>
                </a:solidFill>
                <a:latin typeface="Pretendard"/>
              </a:rPr>
              <a:t>Transformer · </a:t>
            </a:r>
            <a:r>
              <a:rPr sz="1100" b="1" i="0" dirty="0" err="1">
                <a:solidFill>
                  <a:srgbClr val="202124"/>
                </a:solidFill>
                <a:latin typeface="Pretendard"/>
              </a:rPr>
              <a:t>TimeSeries</a:t>
            </a:r>
            <a:r>
              <a:rPr sz="1100" b="1" i="0" dirty="0">
                <a:solidFill>
                  <a:srgbClr val="202124"/>
                </a:solidFill>
                <a:latin typeface="Pretendard"/>
              </a:rPr>
              <a:t> Foundation Model</a:t>
            </a:r>
          </a:p>
          <a:p>
            <a:pPr>
              <a:lnSpc>
                <a:spcPct val="128000"/>
              </a:lnSpc>
            </a:pPr>
            <a:r>
              <a:rPr sz="1100" b="0" i="0" dirty="0">
                <a:solidFill>
                  <a:srgbClr val="202124"/>
                </a:solidFill>
                <a:latin typeface="Pretendard"/>
              </a:rPr>
              <a:t>• </a:t>
            </a:r>
            <a:r>
              <a:rPr sz="1100" b="0" i="0" dirty="0" err="1">
                <a:solidFill>
                  <a:srgbClr val="202124"/>
                </a:solidFill>
                <a:latin typeface="Pretendard"/>
              </a:rPr>
              <a:t>예측</a:t>
            </a:r>
            <a:r>
              <a:rPr sz="1100" b="0" i="0" dirty="0">
                <a:solidFill>
                  <a:srgbClr val="202124"/>
                </a:solidFill>
                <a:latin typeface="Pretendard"/>
              </a:rPr>
              <a:t> </a:t>
            </a:r>
            <a:r>
              <a:rPr sz="1100" b="0" i="0" dirty="0" err="1">
                <a:solidFill>
                  <a:srgbClr val="202124"/>
                </a:solidFill>
                <a:latin typeface="Pretendard"/>
              </a:rPr>
              <a:t>정비</a:t>
            </a:r>
            <a:r>
              <a:rPr sz="1100" b="0" i="0" dirty="0">
                <a:solidFill>
                  <a:srgbClr val="202124"/>
                </a:solidFill>
                <a:latin typeface="Pretendard"/>
              </a:rPr>
              <a:t> </a:t>
            </a:r>
            <a:r>
              <a:rPr sz="1100" b="0" i="0" dirty="0" err="1">
                <a:solidFill>
                  <a:srgbClr val="202124"/>
                </a:solidFill>
                <a:latin typeface="Pretendard"/>
              </a:rPr>
              <a:t>모듈</a:t>
            </a:r>
            <a:r>
              <a:rPr sz="1100" b="0" i="0" dirty="0">
                <a:solidFill>
                  <a:srgbClr val="202124"/>
                </a:solidFill>
                <a:latin typeface="Pretendard"/>
              </a:rPr>
              <a:t> (</a:t>
            </a:r>
            <a:r>
              <a:rPr sz="1100" b="0" i="0" dirty="0" err="1">
                <a:solidFill>
                  <a:srgbClr val="202124"/>
                </a:solidFill>
                <a:latin typeface="Pretendard"/>
              </a:rPr>
              <a:t>잔여수명</a:t>
            </a:r>
            <a:r>
              <a:rPr sz="1100" b="0" i="0" dirty="0">
                <a:solidFill>
                  <a:srgbClr val="202124"/>
                </a:solidFill>
                <a:latin typeface="Pretendard"/>
              </a:rPr>
              <a:t> RUL </a:t>
            </a:r>
            <a:r>
              <a:rPr sz="1100" b="0" i="0" dirty="0" err="1">
                <a:solidFill>
                  <a:srgbClr val="202124"/>
                </a:solidFill>
                <a:latin typeface="Pretendard"/>
              </a:rPr>
              <a:t>추정</a:t>
            </a:r>
            <a:r>
              <a:rPr sz="1100" b="0" i="0" dirty="0">
                <a:solidFill>
                  <a:srgbClr val="202124"/>
                </a:solidFill>
                <a:latin typeface="Pretendard"/>
              </a:rPr>
              <a:t> + </a:t>
            </a:r>
            <a:r>
              <a:rPr sz="1100" b="0" i="0" dirty="0" err="1">
                <a:solidFill>
                  <a:srgbClr val="202124"/>
                </a:solidFill>
                <a:latin typeface="Pretendard"/>
              </a:rPr>
              <a:t>정비</a:t>
            </a:r>
            <a:r>
              <a:rPr sz="1100" b="0" i="0" dirty="0">
                <a:solidFill>
                  <a:srgbClr val="202124"/>
                </a:solidFill>
                <a:latin typeface="Pretendard"/>
              </a:rPr>
              <a:t> </a:t>
            </a:r>
            <a:r>
              <a:rPr sz="1100" b="0" i="0" dirty="0" err="1">
                <a:solidFill>
                  <a:srgbClr val="202124"/>
                </a:solidFill>
                <a:latin typeface="Pretendard"/>
              </a:rPr>
              <a:t>권고</a:t>
            </a:r>
            <a:r>
              <a:rPr sz="1100" b="0" i="0" dirty="0">
                <a:solidFill>
                  <a:srgbClr val="202124"/>
                </a:solidFill>
                <a:latin typeface="Pretendard"/>
              </a:rPr>
              <a:t>)</a:t>
            </a:r>
          </a:p>
          <a:p>
            <a:pPr>
              <a:lnSpc>
                <a:spcPct val="128000"/>
              </a:lnSpc>
            </a:pPr>
            <a:r>
              <a:rPr sz="1100" b="0" i="0" dirty="0">
                <a:solidFill>
                  <a:srgbClr val="202124"/>
                </a:solidFill>
                <a:latin typeface="Pretendard"/>
              </a:rPr>
              <a:t>• </a:t>
            </a:r>
            <a:r>
              <a:rPr sz="1100" b="1" i="0" dirty="0" err="1">
                <a:solidFill>
                  <a:srgbClr val="202124"/>
                </a:solidFill>
                <a:latin typeface="Pretendard"/>
              </a:rPr>
              <a:t>강화학습</a:t>
            </a:r>
            <a:r>
              <a:rPr sz="1100" b="1" i="0" dirty="0">
                <a:solidFill>
                  <a:srgbClr val="202124"/>
                </a:solidFill>
                <a:latin typeface="Pretendard"/>
              </a:rPr>
              <a:t> </a:t>
            </a:r>
            <a:r>
              <a:rPr sz="1100" b="1" i="0" dirty="0" err="1">
                <a:solidFill>
                  <a:srgbClr val="202124"/>
                </a:solidFill>
                <a:latin typeface="Pretendard"/>
              </a:rPr>
              <a:t>기반</a:t>
            </a:r>
            <a:r>
              <a:rPr sz="1100" b="1" i="0" dirty="0">
                <a:solidFill>
                  <a:srgbClr val="202124"/>
                </a:solidFill>
                <a:latin typeface="Pretendard"/>
              </a:rPr>
              <a:t> </a:t>
            </a:r>
            <a:r>
              <a:rPr sz="1100" b="1" i="0" dirty="0" err="1">
                <a:solidFill>
                  <a:srgbClr val="202124"/>
                </a:solidFill>
                <a:latin typeface="Pretendard"/>
              </a:rPr>
              <a:t>자동</a:t>
            </a:r>
            <a:r>
              <a:rPr sz="1100" b="1" i="0" dirty="0">
                <a:solidFill>
                  <a:srgbClr val="202124"/>
                </a:solidFill>
                <a:latin typeface="Pretendard"/>
              </a:rPr>
              <a:t> </a:t>
            </a:r>
            <a:r>
              <a:rPr sz="1100" b="1" i="0" dirty="0" err="1">
                <a:solidFill>
                  <a:srgbClr val="202124"/>
                </a:solidFill>
                <a:latin typeface="Pretendard"/>
              </a:rPr>
              <a:t>처방</a:t>
            </a:r>
            <a:r>
              <a:rPr sz="1100" b="1" i="0" dirty="0">
                <a:solidFill>
                  <a:srgbClr val="202124"/>
                </a:solidFill>
                <a:latin typeface="Pretendard"/>
              </a:rPr>
              <a:t> (Closed-Loop Control · </a:t>
            </a:r>
            <a:r>
              <a:rPr sz="1100" b="1" i="0" dirty="0" err="1">
                <a:solidFill>
                  <a:srgbClr val="202124"/>
                </a:solidFill>
                <a:latin typeface="Pretendard"/>
              </a:rPr>
              <a:t>장기</a:t>
            </a:r>
            <a:r>
              <a:rPr sz="1100" b="1" i="0" dirty="0">
                <a:solidFill>
                  <a:srgbClr val="202124"/>
                </a:solidFill>
                <a:latin typeface="Pretendard"/>
              </a:rPr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1C931F-D0CD-2FB1-4301-0469CD95C154}"/>
              </a:ext>
            </a:extLst>
          </p:cNvPr>
          <p:cNvSpPr txBox="1"/>
          <p:nvPr/>
        </p:nvSpPr>
        <p:spPr>
          <a:xfrm>
            <a:off x="6132505" y="5644228"/>
            <a:ext cx="4959200" cy="194925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/>
            <a:r>
              <a:rPr sz="1100" b="0" i="1" dirty="0" err="1">
                <a:solidFill>
                  <a:srgbClr val="5F6668"/>
                </a:solidFill>
                <a:latin typeface="Pretendard"/>
              </a:rPr>
              <a:t>생산</a:t>
            </a:r>
            <a:r>
              <a:rPr sz="1100" b="0" i="1" dirty="0">
                <a:solidFill>
                  <a:srgbClr val="5F6668"/>
                </a:solidFill>
                <a:latin typeface="Pretendard"/>
              </a:rPr>
              <a:t> </a:t>
            </a:r>
            <a:r>
              <a:rPr sz="1100" b="0" i="1" dirty="0" err="1">
                <a:solidFill>
                  <a:srgbClr val="5F6668"/>
                </a:solidFill>
                <a:latin typeface="Pretendard"/>
              </a:rPr>
              <a:t>이력</a:t>
            </a:r>
            <a:r>
              <a:rPr lang="en-US" sz="1100" b="0" i="1" dirty="0">
                <a:solidFill>
                  <a:srgbClr val="5F6668"/>
                </a:solidFill>
                <a:latin typeface="Pretendard"/>
              </a:rPr>
              <a:t> </a:t>
            </a:r>
            <a:r>
              <a:rPr sz="1100" b="0" i="1" dirty="0">
                <a:solidFill>
                  <a:srgbClr val="5F6668"/>
                </a:solidFill>
                <a:latin typeface="Pretendard"/>
              </a:rPr>
              <a:t>탭 — </a:t>
            </a:r>
            <a:r>
              <a:rPr sz="1100" b="0" i="1" dirty="0" err="1">
                <a:solidFill>
                  <a:srgbClr val="5F6668"/>
                </a:solidFill>
                <a:latin typeface="Pretendard"/>
              </a:rPr>
              <a:t>장비</a:t>
            </a:r>
            <a:r>
              <a:rPr sz="1100" b="0" i="1" dirty="0">
                <a:solidFill>
                  <a:srgbClr val="5F6668"/>
                </a:solidFill>
                <a:latin typeface="Pretendard"/>
              </a:rPr>
              <a:t> </a:t>
            </a:r>
            <a:r>
              <a:rPr sz="1100" b="0" i="1" dirty="0" err="1">
                <a:solidFill>
                  <a:srgbClr val="5F6668"/>
                </a:solidFill>
                <a:latin typeface="Pretendard"/>
              </a:rPr>
              <a:t>건강도</a:t>
            </a:r>
            <a:r>
              <a:rPr sz="1100" b="0" i="1" dirty="0">
                <a:solidFill>
                  <a:srgbClr val="5F6668"/>
                </a:solidFill>
                <a:latin typeface="Pretendard"/>
              </a:rPr>
              <a:t> </a:t>
            </a:r>
            <a:r>
              <a:rPr sz="1100" b="0" i="1" dirty="0" err="1">
                <a:solidFill>
                  <a:srgbClr val="5F6668"/>
                </a:solidFill>
                <a:latin typeface="Pretendard"/>
              </a:rPr>
              <a:t>스코어카드</a:t>
            </a:r>
            <a:r>
              <a:rPr sz="1100" b="0" i="1" dirty="0">
                <a:solidFill>
                  <a:srgbClr val="5F6668"/>
                </a:solidFill>
                <a:latin typeface="Pretendard"/>
              </a:rPr>
              <a:t> 7개 + </a:t>
            </a:r>
            <a:r>
              <a:rPr sz="1100" b="0" i="1" dirty="0" err="1">
                <a:solidFill>
                  <a:srgbClr val="5F6668"/>
                </a:solidFill>
                <a:latin typeface="Pretendard"/>
              </a:rPr>
              <a:t>정비</a:t>
            </a:r>
            <a:r>
              <a:rPr sz="1100" b="0" i="1" dirty="0">
                <a:solidFill>
                  <a:srgbClr val="5F6668"/>
                </a:solidFill>
                <a:latin typeface="Pretendard"/>
              </a:rPr>
              <a:t> </a:t>
            </a:r>
            <a:r>
              <a:rPr sz="1100" b="0" i="1" dirty="0" err="1">
                <a:solidFill>
                  <a:srgbClr val="5F6668"/>
                </a:solidFill>
                <a:latin typeface="Pretendard"/>
              </a:rPr>
              <a:t>권고</a:t>
            </a:r>
            <a:r>
              <a:rPr sz="1100" b="0" i="1" dirty="0">
                <a:solidFill>
                  <a:srgbClr val="5F6668"/>
                </a:solidFill>
                <a:latin typeface="Pretendard"/>
              </a:rPr>
              <a:t> + </a:t>
            </a:r>
            <a:r>
              <a:rPr sz="1100" b="0" i="1" dirty="0" err="1">
                <a:solidFill>
                  <a:srgbClr val="5F6668"/>
                </a:solidFill>
                <a:latin typeface="Pretendard"/>
              </a:rPr>
              <a:t>검증셋</a:t>
            </a:r>
            <a:r>
              <a:rPr sz="1100" b="0" i="1" dirty="0">
                <a:solidFill>
                  <a:srgbClr val="5F6668"/>
                </a:solidFill>
                <a:latin typeface="Pretendard"/>
              </a:rPr>
              <a:t> 1,379건 </a:t>
            </a:r>
            <a:r>
              <a:rPr sz="1100" b="0" i="1" dirty="0" err="1">
                <a:solidFill>
                  <a:srgbClr val="5F6668"/>
                </a:solidFill>
                <a:latin typeface="Pretendard"/>
              </a:rPr>
              <a:t>시계열</a:t>
            </a:r>
            <a:endParaRPr sz="1100" b="0" i="1" dirty="0">
              <a:solidFill>
                <a:srgbClr val="5F6668"/>
              </a:solidFill>
              <a:latin typeface="Pretendard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685C03AF-8439-D442-9192-8CA2228E97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690" y="3656322"/>
            <a:ext cx="5492638" cy="22528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565</TotalTime>
  <Words>2592</Words>
  <Application>Microsoft Office PowerPoint</Application>
  <PresentationFormat>와이드스크린</PresentationFormat>
  <Paragraphs>414</Paragraphs>
  <Slides>12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7" baseType="lpstr">
      <vt:lpstr>Pretendard</vt:lpstr>
      <vt:lpstr>Pretendard_KR</vt:lpstr>
      <vt:lpstr>Malgun Gothic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Dacon io</dc:creator>
  <cp:lastModifiedBy>김상원</cp:lastModifiedBy>
  <cp:revision>91</cp:revision>
  <dcterms:created xsi:type="dcterms:W3CDTF">2024-05-21T00:00:56Z</dcterms:created>
  <dcterms:modified xsi:type="dcterms:W3CDTF">2026-05-12T16:10:08Z</dcterms:modified>
</cp:coreProperties>
</file>