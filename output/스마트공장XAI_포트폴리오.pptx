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3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PORTFOLIO  ·  2026 스마트 공장 운영 시스템 MVP 개발 해커톤 본선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48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SmartFactory XAI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933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90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4-AI 합의 </a:t>
            </a:r>
            <a:r>
              <a:rPr sz="19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기반 사출성형 이상탐지 · 진단 · 처방 — </a:t>
            </a:r>
            <a:r>
              <a:rPr sz="19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품질 · 설비 · 안전 · 생산 통합 운영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42032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Live  </a:t>
            </a:r>
            <a:r>
              <a:rPr sz="12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https://smartfactory-xai.vercel.app</a:t>
            </a:r>
            <a:r>
              <a:rPr sz="120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      GitHub  </a:t>
            </a:r>
            <a:r>
              <a:rPr sz="12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https://github.com/tkddnjs-dlqslek/smartfactory-xai</a:t>
            </a:r>
            <a:r>
              <a:rPr sz="120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      Data  </a:t>
            </a:r>
            <a:r>
              <a:rPr sz="12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KAMP 사출성형기 공개 데이터셋</a:t>
            </a:r>
          </a:p>
        </p:txBody>
      </p:sp>
      <p:pic>
        <p:nvPicPr>
          <p:cNvPr id="7" name="Picture 6" descr="01_landin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656" y="3108960"/>
            <a:ext cx="6263640" cy="352329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6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25000"/>
              </a:lnSpc>
              <a:spcAft>
                <a:spcPts val="400"/>
              </a:spcAft>
            </a:pPr>
            <a:r>
              <a:rPr sz="13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불량률 </a:t>
            </a:r>
            <a:r>
              <a:rPr sz="135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1.03%</a:t>
            </a:r>
            <a:r>
              <a:rPr sz="13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의 극심한 클래스 불균형 환경에서, </a:t>
            </a:r>
            <a:r>
              <a:rPr sz="13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정상 데이터만 학습한 준지도 4-AI 앙상블</a:t>
            </a:r>
            <a:r>
              <a:rPr sz="13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이 실시간 이상탐지 → SHAP 원인분석 → 처방까지 수행하고,</a:t>
            </a:r>
          </a:p>
          <a:p>
            <a:pPr algn="l" eaLnBrk="0">
              <a:lnSpc>
                <a:spcPct val="125000"/>
              </a:lnSpc>
              <a:spcAft>
                <a:spcPts val="400"/>
              </a:spcAft>
            </a:pPr>
            <a:r>
              <a:rPr sz="13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같은 엔진의 출력을 </a:t>
            </a:r>
            <a:r>
              <a:rPr sz="13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품질·설비·안전·생산 4축</a:t>
            </a:r>
            <a:r>
              <a:rPr sz="13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의 운영 의사결정으로 변환하는 풀스택 웹 플랫폼입니다.  (개인 개발 · 해커톤 본선 진출작 · 실배포 운영 중)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9748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816352"/>
            <a:ext cx="2368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05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ROC-AUC (실측)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081528"/>
            <a:ext cx="2368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70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0.9254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685032"/>
            <a:ext cx="23682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5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검증 1,379샷 · Bootstrap 95% CI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69748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2816352"/>
            <a:ext cx="2368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05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F1-SCORE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3081528"/>
            <a:ext cx="2368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70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0.7324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3685032"/>
            <a:ext cx="23682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5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Precision 0.8125 · Recall 0.6667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269748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5" y="2816352"/>
            <a:ext cx="2368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05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거짓경보 (4-AI 합의)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5" y="3081528"/>
            <a:ext cx="2368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7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31 → 5건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3685032"/>
            <a:ext cx="23682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5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정밀도 0.50 → 0.84 · ≥3/4 합의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9136" y="269748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3728" y="2816352"/>
            <a:ext cx="2276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05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검증 데이터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3081528"/>
            <a:ext cx="227685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70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1,379샷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3685032"/>
            <a:ext cx="22768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5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24센서 · 정상 1,340 + 불량 39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192256" cy="178308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5262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1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TECH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84632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30000"/>
              </a:lnSpc>
            </a:pPr>
            <a:r>
              <a:rPr sz="115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Frontend   </a:t>
            </a: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Next.js (App Router) · TypeScript · Vercel 배포</a:t>
            </a:r>
          </a:p>
          <a:p>
            <a:pPr algn="l" eaLnBrk="0">
              <a:lnSpc>
                <a:spcPct val="130000"/>
              </a:lnSpc>
            </a:pPr>
            <a:r>
              <a:rPr sz="115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Backend    </a:t>
            </a: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FastAPI · PyTorch Autoencoder (CPU 추론) · Render 배포 · 매 요청 실시간 모델 forward</a:t>
            </a:r>
          </a:p>
          <a:p>
            <a:pPr algn="l" eaLnBrk="0">
              <a:lnSpc>
                <a:spcPct val="130000"/>
              </a:lnSpc>
            </a:pPr>
            <a:r>
              <a:rPr sz="115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ML / XAI   </a:t>
            </a: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Autoencoder + Isolation Forest + One-Class SVM + Local Outlier Factor (4-AI 합의) · GradientSHAP · 비용가중 임계값</a:t>
            </a:r>
          </a:p>
          <a:p>
            <a:pPr algn="l" eaLnBrk="0">
              <a:lnSpc>
                <a:spcPct val="130000"/>
              </a:lnSpc>
            </a:pPr>
            <a:r>
              <a:rPr sz="115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LLM        </a:t>
            </a: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Claude Haiku 자연어 진단 보고서 (작업자/반장/부서장 톤 전환 · 키 부재 시 템플릿 폴백)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6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문제 정의 — 사출성형 현장의 3대 문제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92256" cy="1298448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30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2763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5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불량은 사후에 발견된다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93392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8000"/>
              </a:lnSpc>
            </a:pP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불량률 1.03%의 극심한 불균형 — 라벨이 부족해 일반 지도학습이 불가능하고,
작업자 육안 검사로는 불량을 다량 생산한 뒤에야 적발된다.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11192256" cy="1298448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3000" b="1" lang="ko-KR" altLang="en-US">
                <a:solidFill>
                  <a:srgbClr val="F59E0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089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5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단일 모델은 알람 피로를 부른다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47472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8000"/>
              </a:lnSpc>
            </a:pP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단일 모델의 느슨한 판정은 거짓경보가 많아(합집합 기준 FP 31건 · 정밀도 0.50)
작업자가 경보 자체를 무시하게 된다 — 현장 신뢰의 붕괴.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25696"/>
            <a:ext cx="11192256" cy="1298448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90288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300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59028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5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이상은 알아도 원인을 모른다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956048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8000"/>
              </a:lnSpc>
            </a:pP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"이상입니다"만으로는 조치 불가 — 24개 센서 중 어느 센서가, 얼마나,
왜 문제인지 설명이 없어 대응이 지연된다.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→  해법: </a:t>
            </a:r>
            <a:r>
              <a:rPr sz="130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정상만 학습하는 준지도 학습  +  성격이 다른 4개 AI의 합의  +  SHAP 설명가능성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6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시스템 아키텍처 — 단일 엔진 → 4축 분기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463040"/>
            <a:ext cx="198424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eaLnBrk="0">
              <a:lnSpc>
                <a:spcPct val="112000"/>
              </a:lnSpc>
            </a:pP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24 센서</a:t>
            </a:r>
          </a:p>
          <a:p>
            <a:pPr algn="ctr" eaLnBrk="0">
              <a:lnSpc>
                <a:spcPct val="112000"/>
              </a:lnSpc>
            </a:pPr>
            <a:r>
              <a:rPr sz="8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실시간 수집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828800"/>
            <a:ext cx="338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6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7208" y="146304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3784" y="1463040"/>
            <a:ext cx="198424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eaLnBrk="0">
              <a:lnSpc>
                <a:spcPct val="112000"/>
              </a:lnSpc>
            </a:pP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4-AI 이상탐지</a:t>
            </a:r>
          </a:p>
          <a:p>
            <a:pPr algn="ctr" eaLnBrk="0">
              <a:lnSpc>
                <a:spcPct val="112000"/>
              </a:lnSpc>
            </a:pPr>
            <a:r>
              <a:rPr sz="8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Autoencoder · Isolation Forest</a:t>
            </a:r>
          </a:p>
          <a:p>
            <a:pPr algn="ctr" eaLnBrk="0">
              <a:lnSpc>
                <a:spcPct val="112000"/>
              </a:lnSpc>
            </a:pPr>
            <a:r>
              <a:rPr sz="8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One-Class SVM · Local Outlier Factor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1828800"/>
            <a:ext cx="338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6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146304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8072" y="1463040"/>
            <a:ext cx="198424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eaLnBrk="0">
              <a:lnSpc>
                <a:spcPct val="112000"/>
              </a:lnSpc>
            </a:pP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SHAP</a:t>
            </a:r>
          </a:p>
          <a:p>
            <a:pPr algn="ctr" eaLnBrk="0">
              <a:lnSpc>
                <a:spcPct val="112000"/>
              </a:lnSpc>
            </a:pPr>
            <a:r>
              <a:rPr sz="8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원인분석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828800"/>
            <a:ext cx="338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6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15784" y="146304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463040"/>
            <a:ext cx="198424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eaLnBrk="0">
              <a:lnSpc>
                <a:spcPct val="112000"/>
              </a:lnSpc>
            </a:pP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처방 카드</a:t>
            </a:r>
          </a:p>
          <a:p>
            <a:pPr algn="ctr" eaLnBrk="0">
              <a:lnSpc>
                <a:spcPct val="112000"/>
              </a:lnSpc>
            </a:pPr>
            <a:r>
              <a:rPr sz="8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What‑if 시뮬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6608" y="1828800"/>
            <a:ext cx="338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6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20072" y="146304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56648" y="1463040"/>
            <a:ext cx="198424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eaLnBrk="0">
              <a:lnSpc>
                <a:spcPct val="112000"/>
              </a:lnSpc>
            </a:pP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4축 운영</a:t>
            </a:r>
          </a:p>
          <a:p>
            <a:pPr algn="ctr" eaLnBrk="0">
              <a:lnSpc>
                <a:spcPct val="112000"/>
              </a:lnSpc>
            </a:pPr>
            <a:r>
              <a:rPr sz="8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의사결정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78892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292608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35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품질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24612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4-AI 합의 이상탐지
SHAP 원인 + 자동 처방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2424" y="278892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7016" y="292608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35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설비 Equipment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324612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누적 이상 외삽 → RUL
예지정비 (3단계 임계)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1928" y="278892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92608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350" b="1" lang="ko-KR" altLang="en-US">
                <a:solidFill>
                  <a:srgbClr val="F59E0B"/>
                </a:solidFill>
                <a:latin typeface="맑은 고딕"/>
                <a:ea typeface="맑은 고딕"/>
              </a:rPr>
              <a:t>안전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24612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센서 이상 → 과열·과압·기계
안전위험 자동 변환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71432" y="278892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36024" y="292608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350" b="1" lang="ko-KR" altLang="en-US">
                <a:solidFill>
                  <a:srgbClr val="4ADE80"/>
                </a:solidFill>
                <a:latin typeface="맑은 고딕"/>
                <a:ea typeface="맑은 고딕"/>
              </a:rPr>
              <a:t>생산 Production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6024" y="324612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OEE(가동률×성능×양품률)
불량 Pareto 분석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224528"/>
            <a:ext cx="11192256" cy="192024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3708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1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DEPLOYMENT — 실배포 운영 구조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700016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30000"/>
              </a:lnSpc>
            </a:pPr>
            <a:r>
              <a:rPr sz="12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Vercel (Next.js 프론트)  ──  REST  ──  Render (FastAPI + PyTorch CPU)</a:t>
            </a:r>
          </a:p>
          <a:p>
            <a:pPr algn="l" eaLnBrk="0">
              <a:lnSpc>
                <a:spcPct val="130000"/>
              </a:lnSpc>
            </a:pP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· 시나리오/스트림 입력마다 백엔드가 </a:t>
            </a:r>
            <a:r>
              <a:rPr sz="115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매 요청 실시간 모델 추론</a:t>
            </a: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 — 미리 만든 화면이 아닌 라이브 시스템</a:t>
            </a:r>
          </a:p>
          <a:p>
            <a:pPr algn="l" eaLnBrk="0">
              <a:lnSpc>
                <a:spcPct val="130000"/>
              </a:lnSpc>
            </a:pP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· 모델·스케일러·임계값은 빌드 시 git에서 로드 — 외부 DB 의존성 없음 · /api/health 헬스체크</a:t>
            </a:r>
          </a:p>
          <a:p>
            <a:pPr algn="l" eaLnBrk="0">
              <a:lnSpc>
                <a:spcPct val="130000"/>
              </a:lnSpc>
            </a:pPr>
            <a:r>
              <a:rPr sz="11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· KAMP 실측 스트림 재생 + 데모 시나리오(정상/경고/위험/긴급) + Claude NLG 보고서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3779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TAB 01 ·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37792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21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실시간 진단 — 4-AI 합의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3779215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4-AI 합의 미터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Autoencoder · Isolation Forest · One-Class SVM · Local Outlier Factor 각 모델의 FIRE/HOLD를 공개하고 ≥3/4 합의 시에만 이상 판정 — 거짓경보 31→5건.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강도 등급 + 복원오차 게이지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Autoencoder 복원오차/임계값(τ 0.320) 비율로 정상·경고·위험·긴급 4단계 등급화.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처방 카드 TOP 3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|σ| 상위 센서 기반 즉시/5분 내/관찰 단계별 조치 자동 생성.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Claude 자연어 보고서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원인·대처·리소스를 작업자 눈높이로 설명 (LLM 폴백 내장).</a:t>
            </a:r>
          </a:p>
        </p:txBody>
      </p:sp>
      <p:pic>
        <p:nvPicPr>
          <p:cNvPr id="7" name="Picture 6" descr="03_tab1_danger_n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735" y="960120"/>
            <a:ext cx="7178040" cy="403764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10735" y="5107495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LIVE  </a:t>
            </a: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https://smartfactory-xai.vercel.app 실제 배포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3779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TAB 01 · LIVE STREAM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37792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21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실측 KAMP 스트림 — 라이브 추론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3779215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실측 데이터 재생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KAMP 검증 1,379샷을 실시간 스트리밍 — 매 샷마다 백엔드 모델이 실제 forward 추론.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LIVE 불량률 집계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스트리밍 중 발생 이상을 실시간 누적 집계 (캡처: 13샷 중 불량률 15.4%).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센서 그리드 동기화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24센서 × 5계열(시간·위치·속도·압력·온도) σ 변화를 즉시 반영.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이상 감지 이력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세션 단위 이상 이벤트 타임라인 자동 기록.</a:t>
            </a:r>
          </a:p>
        </p:txBody>
      </p:sp>
      <p:pic>
        <p:nvPicPr>
          <p:cNvPr id="7" name="Picture 6" descr="05_tab1_live_n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735" y="960120"/>
            <a:ext cx="7178040" cy="403764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10735" y="5107495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LIVE  </a:t>
            </a: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https://smartfactory-xai.vercel.app 실제 배포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3779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TAB 02 · XAI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37792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21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불량 원인 분석 — GradientSHAP + 인과 그래프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3779215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SHAP TOP-5 원인 센서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GradientExplainer &lt; 100ms — 어느 센서가 복원오차에 얼마나 기여했는지 정량화.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SHAP Waterfall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기준 0.048 → 예측 0.639까지 센서별 기여 누적 분해.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인과 의존성 그래프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상관 |r|≥0.4 센서를 연결해 상류 공정 원인까지 추적 (충전시간 r=0.95 등).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PCA 클러스터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24센서 → 2축 압축, 정상 1,340 vs 이상 39 분포 시각화.</a:t>
            </a:r>
          </a:p>
        </p:txBody>
      </p:sp>
      <p:pic>
        <p:nvPicPr>
          <p:cNvPr id="7" name="Picture 6" descr="06_tab2_shap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735" y="960120"/>
            <a:ext cx="7178040" cy="403764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10735" y="5107495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LIVE  </a:t>
            </a: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https://smartfactory-xai.vercel.app 실제 배포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3779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TAB 03 · 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37792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21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전체 이력 분석 — 임계값 시뮬레이터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3779215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검증 1,379샷 일괄 분석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TP 26 · FN 13 · FP 6 — 공식 혼동행렬을 화면에서 그대로 재현.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τ 민감도 라이브 시뮬레이션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슬라이더로 임계값을 바꾸면 혼동행렬·Precision·Recall·F1이 실시간 재계산.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미탐 ↔ 거짓경보 트레이드오프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운영자가 비용 관점에서 직접 균형점을 탐색 가능.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이상 샷 랭킹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복원오차 상위 샷(#0455 505.92×τ 등)과 주원인 센서를 표로 제공.</a:t>
            </a:r>
          </a:p>
        </p:txBody>
      </p:sp>
      <p:pic>
        <p:nvPicPr>
          <p:cNvPr id="7" name="Picture 6" descr="07_tab3_batch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735" y="960120"/>
            <a:ext cx="7178040" cy="403764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10735" y="5107495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LIVE  </a:t>
            </a: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https://smartfactory-xai.vercel.app 실제 배포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3779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TAB 04 · EQUIPMENT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37792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21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설비 예지정비 — 정비 우선순위 / 모델 커버리지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3779215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계통별 불량 × 탐지 커버리지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실측 불량 39건을 계통별 분해 — 속도·압력 100%, 시간 80%, 온도 0%.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정비 우선순위 자동 산출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불량 발생량 내림차순으로 계통별 권장 조치 제시 (#01 온도 → 냉각수·가열대 점검).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모델 사각지대 정직 공개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온도 계통 탐지율 0%를 숨기지 않고 전용 룰/SPC 보강을 권장 — AI 개선안 연동.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RUL 예지정비 (외삽 데모 명시)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시계열 가동로그 부재로 선형 외삽 데모임을 화면에 명시 — MES 연동 시 실측 전환.</a:t>
            </a:r>
          </a:p>
        </p:txBody>
      </p:sp>
      <p:pic>
        <p:nvPicPr>
          <p:cNvPr id="7" name="Picture 6" descr="08_tab4_rul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735" y="960120"/>
            <a:ext cx="7178040" cy="403764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10735" y="5107495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LIVE  </a:t>
            </a: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https://smartfactory-xai.vercel.app 실제 배포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3779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TAB 05 ·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37792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21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안전 위험 모니터링 — ISO 12100 위험성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3779215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센서 이상 → 안전 위험 자동 변환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과열(온도계열)·과압(압력계열)·기계(속도계열) 위험으로 σ 기반 변환.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위험성 평가 매트릭스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발생가능성(실측 불량빈도) × 심각도(현재 σ) 2차원 평가 — ISO 12100 준용.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안전 조치 체크리스트 자동 생성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위험 등급에 따라 E-STOP 확인 등 필수 조치를 자동 발급.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안전센서 정상률 모니터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15/16 센서 |σ|&lt;2 → 정상률 94% 실시간 표시.</a:t>
            </a:r>
          </a:p>
        </p:txBody>
      </p:sp>
      <p:pic>
        <p:nvPicPr>
          <p:cNvPr id="7" name="Picture 6" descr="09_tab5_safety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735" y="960120"/>
            <a:ext cx="7178040" cy="403764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10735" y="5107495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LIVE  </a:t>
            </a: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https://smartfactory-xai.vercel.app 실제 배포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3779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TAB 06 ·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37792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21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생산 현황 — OEE 종합 설비효율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3779215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OEE = A × P × Q 분해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가동률 94.2% × 성능 91.5% × 양품률 97.17% = OEE 83.8% — 양품률만 AI 실측.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실측·가정 구분 표기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MES 미연동 항목(가동률·성능)은 '가정' 배지로 정직하게 구분.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생산 품질 분포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검증 1,379샷을 12구간 분해 — 양품 1,340 + 불량 39(실측).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불량 원인 Pareto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금형온도4(11건) → 최대 사출속도(10) → 최대 배압(8) → 충전시간(8) — 상위 4개 누적 95%.</a:t>
            </a:r>
          </a:p>
        </p:txBody>
      </p:sp>
      <p:pic>
        <p:nvPicPr>
          <p:cNvPr id="7" name="Picture 6" descr="10_tab6_oe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735" y="960120"/>
            <a:ext cx="7178040" cy="403764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10735" y="5107495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LIVE  </a:t>
            </a: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https://smartfactory-xai.vercel.app 실제 배포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3779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TAB 07 · MODEL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377921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21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모델 신뢰도 — 학술 검증 · 정직 공개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3779215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실측 5대 지표 + 95% CI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ROC-AUC 0.9254 (CI 0.879~0.966) · PR-AUC 0.7080 · F1 0.7324 — Bootstrap n=1000.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ROC/PR 곡선 + 혼동행렬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TN 1,334 · FP 6 · FN 13 · TP 26 (검증 1,379샷) 전부 화면 공개.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합의 알고리즘 9방식 비교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Stacking(LOOCV F1 0.691)이 Hard Voting(0.761)보다 낮아 채택하지 않은 것까지 공개.</a:t>
            </a:r>
          </a:p>
          <a:p>
            <a:pPr algn="l" eaLnBrk="0">
              <a:lnSpc>
                <a:spcPct val="112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▪  </a:t>
            </a:r>
            <a:r>
              <a:rPr sz="13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비용 민감 임계값</a:t>
            </a:r>
          </a:p>
          <a:p>
            <a:pPr algn="l" eaLnBrk="0" marL="237744">
              <a:lnSpc>
                <a:spcPct val="112000"/>
              </a:lnSpc>
              <a:spcAft>
                <a:spcPts val="600"/>
              </a:spcAft>
            </a:pPr>
            <a:r>
              <a:rPr sz="105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미탐 50만/거짓경보 3만 가중 — 배포 τ 0.3198 vs 비용·F1 최적 τ 0.5171 비교.</a:t>
            </a:r>
          </a:p>
        </p:txBody>
      </p:sp>
      <p:pic>
        <p:nvPicPr>
          <p:cNvPr id="7" name="Picture 6" descr="11_tab7_trust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735" y="960120"/>
            <a:ext cx="7178040" cy="4037648"/>
          </a:xfrm>
          <a:prstGeom prst="rect">
            <a:avLst/>
          </a:prstGeom>
          <a:ln w="15875">
            <a:solidFill>
              <a:srgbClr val="2A2F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10735" y="5107495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1" lang="ko-KR" altLang="en-US">
                <a:solidFill>
                  <a:srgbClr val="EF4444"/>
                </a:solidFill>
                <a:latin typeface="맑은 고딕"/>
                <a:ea typeface="맑은 고딕"/>
              </a:rPr>
              <a:t>LIVE  </a:t>
            </a: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https://smartfactory-xai.vercel.app 실제 배포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6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정직한 공개 — 한계를 숨기지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3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포트폴리오에서 가장 강조하고 싶은 가치 — 모든 수치는 실측이며, 잘 안 되는 부분까지 화면에 명시했습니다.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5458968" cy="192024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57400"/>
            <a:ext cx="45720" cy="16459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4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온도 계통 사각지대 — 탐지율 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22000"/>
              </a:lnSpc>
            </a:pPr>
            <a:r>
              <a:rPr sz="11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온도 계통 불량 11건 중 탐지 0건. 4개 모델 전부 둔감 — 합의 임계를 풀어도 못 잡음.
→ 화면에 경고 배너로 공개하고 전용 룰/SPC 관리도 보강을 권장.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1920240"/>
            <a:ext cx="5458968" cy="192024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7" y="2057400"/>
            <a:ext cx="45720" cy="1645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21031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4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Recall 0.6667 — 미탐 13건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251460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22000"/>
              </a:lnSpc>
            </a:pPr>
            <a:r>
              <a:rPr sz="11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불량 39건 중 26건 탐지. 비용가중 임계값으로 운영 최적화하고,
합집합 기준 Recall 0.79까지 확보 가능함을 트레이드오프와 함께 제시.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5458968" cy="192024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160520"/>
            <a:ext cx="45720" cy="1645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4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가정은 '가정'이라고 표기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22000"/>
              </a:lnSpc>
            </a:pPr>
            <a:r>
              <a:rPr sz="11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OEE 가동률·성능(MES 미연동), RUL 선형 외삽(시계열 로그 부재)은
'가정'·'데모' 배지로 명시 — 실데이터 연동 시 즉시 실측 전환 가능한 구조.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4023360"/>
            <a:ext cx="5458968" cy="192024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7" y="4160520"/>
            <a:ext cx="45720" cy="16459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42062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145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Stacking 미채택 사유 공개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461772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22000"/>
              </a:lnSpc>
            </a:pPr>
            <a:r>
              <a:rPr sz="11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Meta-learner LOOCV F1 0.69 &lt; Hard Voting 0.761 — 화려한 기법보다
검증 성능이 높은 단순한 방법을 선택했고, 비교표를 그대로 공개.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41148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26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정리 — 5가지 차별점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112264" cy="141732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135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4-AI 합의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828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8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거짓경보 31→5건
정밀도 0.50→0.84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8063" y="1417320"/>
            <a:ext cx="2112264" cy="141732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5223" y="157276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135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풀스택 XAI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5223" y="2148840"/>
            <a:ext cx="1828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8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SHAP + What‑if
+ LLM 자연어 보고서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3207" y="1417320"/>
            <a:ext cx="2112264" cy="141732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0368" y="157276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135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단일 엔진 4축 통합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828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8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품질·설비·안전·생산
하나의 AI로 운영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88352" y="1417320"/>
            <a:ext cx="2112264" cy="141732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5512" y="157276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135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실측 · 정직 공개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148840"/>
            <a:ext cx="1828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8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전 수치 실측 + 95% CI
사각지대까지 공개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83496" y="1417320"/>
            <a:ext cx="2112264" cy="141732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0656" y="157276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5000"/>
              </a:lnSpc>
            </a:pPr>
            <a:r>
              <a:rPr sz="135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실배포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0656" y="2148840"/>
            <a:ext cx="1828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18000"/>
              </a:lnSpc>
            </a:pPr>
            <a:r>
              <a:rPr sz="10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Vercel + Render
누구나 접속 가능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154680"/>
            <a:ext cx="11192256" cy="1417320"/>
          </a:xfrm>
          <a:prstGeom prst="roundRect">
            <a:avLst>
              <a:gd name="adj" fmla="val 6000"/>
            </a:avLst>
          </a:prstGeom>
          <a:solidFill>
            <a:srgbClr val="141821"/>
          </a:solidFill>
          <a:ln w="12700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45000"/>
              </a:lnSpc>
            </a:pPr>
            <a:r>
              <a:rPr sz="130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Live Demo   </a:t>
            </a:r>
            <a:r>
              <a:rPr sz="130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https://smartfactory-xai.vercel.app</a:t>
            </a:r>
            <a:r>
              <a:rPr sz="105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      (Render 무료 플랜 — 첫 접속 시 콜드스타트 30~50초)</a:t>
            </a:r>
          </a:p>
          <a:p>
            <a:pPr algn="l" eaLnBrk="0">
              <a:lnSpc>
                <a:spcPct val="145000"/>
              </a:lnSpc>
            </a:pPr>
            <a:r>
              <a:rPr sz="130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GitHub      </a:t>
            </a:r>
            <a:r>
              <a:rPr sz="1300" b="1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https://github.com/tkddnjs-dlqslek/smartfactory-xai</a:t>
            </a:r>
          </a:p>
          <a:p>
            <a:pPr algn="l" eaLnBrk="0">
              <a:lnSpc>
                <a:spcPct val="145000"/>
              </a:lnSpc>
            </a:pPr>
            <a:r>
              <a:rPr sz="1300" b="1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Dataset     </a:t>
            </a:r>
            <a:r>
              <a:rPr sz="1200" b="0" lang="ko-KR" altLang="en-US">
                <a:solidFill>
                  <a:srgbClr val="C9CED6"/>
                </a:solidFill>
                <a:latin typeface="맑은 고딕"/>
                <a:ea typeface="맑은 고딕"/>
              </a:rPr>
              <a:t>KAMP(인공지능 중소벤처 제조 플랫폼) 사출성형기 AI 데이터셋 — kamp-ai.kr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eaLnBrk="0">
              <a:lnSpc>
                <a:spcPct val="140000"/>
              </a:lnSpc>
            </a:pPr>
            <a:r>
              <a:rPr sz="2000" b="1" lang="ko-KR" altLang="en-US">
                <a:solidFill>
                  <a:srgbClr val="F4F6F8"/>
                </a:solidFill>
                <a:latin typeface="맑은 고딕"/>
                <a:ea typeface="맑은 고딕"/>
              </a:rPr>
              <a:t>"하나의 AI 엔진으로 공장 운영 전체를 지능화한다"</a:t>
            </a:r>
          </a:p>
          <a:p>
            <a:pPr algn="ctr" eaLnBrk="0">
              <a:lnSpc>
                <a:spcPct val="140000"/>
              </a:lnSpc>
            </a:pPr>
            <a:r>
              <a:rPr sz="13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— SmartFactory XAI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SmartFactory XAI — 통합 스마트공장 운영 플랫폼   ·   </a:t>
            </a:r>
            <a:r>
              <a:rPr sz="900" b="0" lang="ko-KR" altLang="en-US">
                <a:solidFill>
                  <a:srgbClr val="22D3EE"/>
                </a:solidFill>
                <a:latin typeface="맑은 고딕"/>
                <a:ea typeface="맑은 고딕"/>
              </a:rPr>
              <a:t>smartfactory-xai.vercel.app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eaLnBrk="0">
              <a:lnSpc>
                <a:spcPct val="100000"/>
              </a:lnSpc>
            </a:pPr>
            <a:r>
              <a:rPr sz="900" b="0" lang="ko-KR" altLang="en-US">
                <a:solidFill>
                  <a:srgbClr val="9CA3AF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